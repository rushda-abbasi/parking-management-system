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725" r:id="rId4"/>
  </p:sldMasterIdLst>
  <p:notesMasterIdLst>
    <p:notesMasterId r:id="rId29"/>
  </p:notesMasterIdLst>
  <p:handoutMasterIdLst>
    <p:handoutMasterId r:id="rId30"/>
  </p:handoutMasterIdLst>
  <p:sldIdLst>
    <p:sldId id="256" r:id="rId5"/>
    <p:sldId id="309" r:id="rId6"/>
    <p:sldId id="299" r:id="rId7"/>
    <p:sldId id="302" r:id="rId8"/>
    <p:sldId id="307" r:id="rId9"/>
    <p:sldId id="310" r:id="rId10"/>
    <p:sldId id="308" r:id="rId11"/>
    <p:sldId id="314" r:id="rId12"/>
    <p:sldId id="315" r:id="rId13"/>
    <p:sldId id="316" r:id="rId14"/>
    <p:sldId id="317" r:id="rId15"/>
    <p:sldId id="318" r:id="rId16"/>
    <p:sldId id="319" r:id="rId17"/>
    <p:sldId id="320" r:id="rId18"/>
    <p:sldId id="321" r:id="rId19"/>
    <p:sldId id="297" r:id="rId20"/>
    <p:sldId id="303" r:id="rId21"/>
    <p:sldId id="304" r:id="rId22"/>
    <p:sldId id="305" r:id="rId23"/>
    <p:sldId id="311" r:id="rId24"/>
    <p:sldId id="312" r:id="rId25"/>
    <p:sldId id="306" r:id="rId26"/>
    <p:sldId id="313" r:id="rId27"/>
    <p:sldId id="29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E50564F-E098-4FAB-A1D5-61B885E684A6}">
          <p14:sldIdLst>
            <p14:sldId id="256"/>
            <p14:sldId id="309"/>
            <p14:sldId id="299"/>
            <p14:sldId id="302"/>
            <p14:sldId id="307"/>
            <p14:sldId id="310"/>
            <p14:sldId id="308"/>
            <p14:sldId id="314"/>
            <p14:sldId id="315"/>
            <p14:sldId id="316"/>
            <p14:sldId id="317"/>
            <p14:sldId id="318"/>
            <p14:sldId id="319"/>
            <p14:sldId id="320"/>
            <p14:sldId id="321"/>
            <p14:sldId id="297"/>
            <p14:sldId id="303"/>
            <p14:sldId id="304"/>
            <p14:sldId id="305"/>
            <p14:sldId id="311"/>
            <p14:sldId id="312"/>
            <p14:sldId id="306"/>
            <p14:sldId id="313"/>
            <p14:sldId id="29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76" autoAdjust="0"/>
    <p:restoredTop sz="94249" autoAdjust="0"/>
  </p:normalViewPr>
  <p:slideViewPr>
    <p:cSldViewPr snapToGrid="0" showGuides="1">
      <p:cViewPr varScale="1">
        <p:scale>
          <a:sx n="73" d="100"/>
          <a:sy n="73" d="100"/>
        </p:scale>
        <p:origin x="570" y="78"/>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60" d="100"/>
          <a:sy n="60" d="100"/>
        </p:scale>
        <p:origin x="3187" y="43"/>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69671B-947A-44A3-A764-A91E66D469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B4B23CC-4610-41C4-A0CF-67A30700C4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299BE-0F96-4D8C-8AC3-AFAE1A841C66}" type="datetimeFigureOut">
              <a:rPr lang="en-US" smtClean="0"/>
              <a:t>4/30/2026</a:t>
            </a:fld>
            <a:endParaRPr lang="en-US" dirty="0"/>
          </a:p>
        </p:txBody>
      </p:sp>
      <p:sp>
        <p:nvSpPr>
          <p:cNvPr id="4" name="Footer Placeholder 3">
            <a:extLst>
              <a:ext uri="{FF2B5EF4-FFF2-40B4-BE49-F238E27FC236}">
                <a16:creationId xmlns:a16="http://schemas.microsoft.com/office/drawing/2014/main" id="{1F94FC55-2324-40BC-8420-15EC835D95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63EC604-E5A5-4A58-AC5A-211F83D37C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3B048B-0EBA-466F-928F-37073F3BFB70}" type="slidenum">
              <a:rPr lang="en-US" smtClean="0"/>
              <a:t>‹#›</a:t>
            </a:fld>
            <a:endParaRPr lang="en-US" dirty="0"/>
          </a:p>
        </p:txBody>
      </p:sp>
    </p:spTree>
    <p:extLst>
      <p:ext uri="{BB962C8B-B14F-4D97-AF65-F5344CB8AC3E}">
        <p14:creationId xmlns:p14="http://schemas.microsoft.com/office/powerpoint/2010/main" val="4065507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4692AC-01A2-4EFF-966B-504F28E82D7A}" type="datetimeFigureOut">
              <a:rPr lang="en-US" noProof="0" smtClean="0"/>
              <a:t>4/30/2026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ED498D-6977-40EC-8E5E-7EB644D5E759}" type="slidenum">
              <a:rPr lang="en-US" noProof="0" smtClean="0"/>
              <a:t>‹#›</a:t>
            </a:fld>
            <a:endParaRPr lang="en-US" noProof="0" dirty="0"/>
          </a:p>
        </p:txBody>
      </p:sp>
    </p:spTree>
    <p:extLst>
      <p:ext uri="{BB962C8B-B14F-4D97-AF65-F5344CB8AC3E}">
        <p14:creationId xmlns:p14="http://schemas.microsoft.com/office/powerpoint/2010/main" val="1352264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1</a:t>
            </a:fld>
            <a:endParaRPr lang="en-US" dirty="0"/>
          </a:p>
        </p:txBody>
      </p:sp>
    </p:spTree>
    <p:extLst>
      <p:ext uri="{BB962C8B-B14F-4D97-AF65-F5344CB8AC3E}">
        <p14:creationId xmlns:p14="http://schemas.microsoft.com/office/powerpoint/2010/main" val="3812783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2</a:t>
            </a:fld>
            <a:endParaRPr lang="en-US" dirty="0"/>
          </a:p>
        </p:txBody>
      </p:sp>
    </p:spTree>
    <p:extLst>
      <p:ext uri="{BB962C8B-B14F-4D97-AF65-F5344CB8AC3E}">
        <p14:creationId xmlns:p14="http://schemas.microsoft.com/office/powerpoint/2010/main" val="56439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3</a:t>
            </a:fld>
            <a:endParaRPr lang="en-US" dirty="0"/>
          </a:p>
        </p:txBody>
      </p:sp>
    </p:spTree>
    <p:extLst>
      <p:ext uri="{BB962C8B-B14F-4D97-AF65-F5344CB8AC3E}">
        <p14:creationId xmlns:p14="http://schemas.microsoft.com/office/powerpoint/2010/main" val="2747526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4</a:t>
            </a:fld>
            <a:endParaRPr lang="en-US" dirty="0"/>
          </a:p>
        </p:txBody>
      </p:sp>
    </p:spTree>
    <p:extLst>
      <p:ext uri="{BB962C8B-B14F-4D97-AF65-F5344CB8AC3E}">
        <p14:creationId xmlns:p14="http://schemas.microsoft.com/office/powerpoint/2010/main" val="5324018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5</a:t>
            </a:fld>
            <a:endParaRPr lang="en-US" dirty="0"/>
          </a:p>
        </p:txBody>
      </p:sp>
    </p:spTree>
    <p:extLst>
      <p:ext uri="{BB962C8B-B14F-4D97-AF65-F5344CB8AC3E}">
        <p14:creationId xmlns:p14="http://schemas.microsoft.com/office/powerpoint/2010/main" val="1117847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6</a:t>
            </a:fld>
            <a:endParaRPr lang="en-US" dirty="0"/>
          </a:p>
        </p:txBody>
      </p:sp>
    </p:spTree>
    <p:extLst>
      <p:ext uri="{BB962C8B-B14F-4D97-AF65-F5344CB8AC3E}">
        <p14:creationId xmlns:p14="http://schemas.microsoft.com/office/powerpoint/2010/main" val="3060420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7</a:t>
            </a:fld>
            <a:endParaRPr lang="en-US" dirty="0"/>
          </a:p>
        </p:txBody>
      </p:sp>
    </p:spTree>
    <p:extLst>
      <p:ext uri="{BB962C8B-B14F-4D97-AF65-F5344CB8AC3E}">
        <p14:creationId xmlns:p14="http://schemas.microsoft.com/office/powerpoint/2010/main" val="298733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16</a:t>
            </a:fld>
            <a:endParaRPr lang="en-US" dirty="0"/>
          </a:p>
        </p:txBody>
      </p:sp>
    </p:spTree>
    <p:extLst>
      <p:ext uri="{BB962C8B-B14F-4D97-AF65-F5344CB8AC3E}">
        <p14:creationId xmlns:p14="http://schemas.microsoft.com/office/powerpoint/2010/main" val="1977655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17</a:t>
            </a:fld>
            <a:endParaRPr lang="en-US" dirty="0"/>
          </a:p>
        </p:txBody>
      </p:sp>
    </p:spTree>
    <p:extLst>
      <p:ext uri="{BB962C8B-B14F-4D97-AF65-F5344CB8AC3E}">
        <p14:creationId xmlns:p14="http://schemas.microsoft.com/office/powerpoint/2010/main" val="26702130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18</a:t>
            </a:fld>
            <a:endParaRPr lang="en-US" dirty="0"/>
          </a:p>
        </p:txBody>
      </p:sp>
    </p:spTree>
    <p:extLst>
      <p:ext uri="{BB962C8B-B14F-4D97-AF65-F5344CB8AC3E}">
        <p14:creationId xmlns:p14="http://schemas.microsoft.com/office/powerpoint/2010/main" val="23826112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19</a:t>
            </a:fld>
            <a:endParaRPr lang="en-US" dirty="0"/>
          </a:p>
        </p:txBody>
      </p:sp>
    </p:spTree>
    <p:extLst>
      <p:ext uri="{BB962C8B-B14F-4D97-AF65-F5344CB8AC3E}">
        <p14:creationId xmlns:p14="http://schemas.microsoft.com/office/powerpoint/2010/main" val="2254179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20</a:t>
            </a:fld>
            <a:endParaRPr lang="en-US" dirty="0"/>
          </a:p>
        </p:txBody>
      </p:sp>
    </p:spTree>
    <p:extLst>
      <p:ext uri="{BB962C8B-B14F-4D97-AF65-F5344CB8AC3E}">
        <p14:creationId xmlns:p14="http://schemas.microsoft.com/office/powerpoint/2010/main" val="3234586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21</a:t>
            </a:fld>
            <a:endParaRPr lang="en-US" dirty="0"/>
          </a:p>
        </p:txBody>
      </p:sp>
    </p:spTree>
    <p:extLst>
      <p:ext uri="{BB962C8B-B14F-4D97-AF65-F5344CB8AC3E}">
        <p14:creationId xmlns:p14="http://schemas.microsoft.com/office/powerpoint/2010/main" val="3764589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22</a:t>
            </a:fld>
            <a:endParaRPr lang="en-US" dirty="0"/>
          </a:p>
        </p:txBody>
      </p:sp>
    </p:spTree>
    <p:extLst>
      <p:ext uri="{BB962C8B-B14F-4D97-AF65-F5344CB8AC3E}">
        <p14:creationId xmlns:p14="http://schemas.microsoft.com/office/powerpoint/2010/main" val="1482206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23</a:t>
            </a:fld>
            <a:endParaRPr lang="en-US" dirty="0"/>
          </a:p>
        </p:txBody>
      </p:sp>
    </p:spTree>
    <p:extLst>
      <p:ext uri="{BB962C8B-B14F-4D97-AF65-F5344CB8AC3E}">
        <p14:creationId xmlns:p14="http://schemas.microsoft.com/office/powerpoint/2010/main" val="3625925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24</a:t>
            </a:fld>
            <a:endParaRPr lang="en-US" dirty="0"/>
          </a:p>
        </p:txBody>
      </p:sp>
    </p:spTree>
    <p:extLst>
      <p:ext uri="{BB962C8B-B14F-4D97-AF65-F5344CB8AC3E}">
        <p14:creationId xmlns:p14="http://schemas.microsoft.com/office/powerpoint/2010/main" val="3871332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accent1">
                    <a:lumMod val="40000"/>
                    <a:lumOff val="60000"/>
                  </a:schemeClr>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D96A7EE9-F079-4AED-9858-DCD74447B2DE}" type="datetime1">
              <a:rPr lang="en-US" smtClean="0"/>
              <a:t>4/30/2026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r>
              <a:rPr lang="en-US" dirty="0"/>
              <a:t>TEACH A COURSE</a:t>
            </a:r>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71504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userDrawn="1"/>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660C3818-5B7F-4F38-B42C-7D48EDABA17E}" type="datetime1">
              <a:rPr lang="en-US" smtClean="0"/>
              <a:t>4/30/2026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r>
              <a:rPr lang="en-US" dirty="0"/>
              <a:t>TEACH A COURSE</a:t>
            </a:r>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08313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hree Content">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6055A408-237F-4430-903D-49994B8E1677}" type="datetime1">
              <a:rPr lang="en-US" smtClean="0"/>
              <a:t>4/30/2026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r>
              <a:rPr lang="en-US" dirty="0"/>
              <a:t>TEACH A COURSE</a:t>
            </a:r>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2" name="Picture Placeholder 5">
            <a:extLst>
              <a:ext uri="{FF2B5EF4-FFF2-40B4-BE49-F238E27FC236}">
                <a16:creationId xmlns:a16="http://schemas.microsoft.com/office/drawing/2014/main" id="{7BF857FE-9EDF-40AC-A282-858EC0C2C6A7}"/>
              </a:ext>
            </a:extLst>
          </p:cNvPr>
          <p:cNvSpPr>
            <a:spLocks noGrp="1"/>
          </p:cNvSpPr>
          <p:nvPr>
            <p:ph type="pic" sz="quarter" idx="13"/>
          </p:nvPr>
        </p:nvSpPr>
        <p:spPr>
          <a:xfrm>
            <a:off x="0" y="0"/>
            <a:ext cx="12192000" cy="6408000"/>
          </a:xfrm>
        </p:spPr>
        <p:txBody>
          <a:bodyPr anchor="ctr" anchorCtr="0">
            <a:normAutofit/>
          </a:bodyPr>
          <a:lstStyle>
            <a:lvl1pPr algn="ctr">
              <a:defRPr sz="1600"/>
            </a:lvl1pPr>
          </a:lstStyle>
          <a:p>
            <a:r>
              <a:rPr lang="en-US" smtClean="0"/>
              <a:t>Click icon to add picture</a:t>
            </a:r>
            <a:endParaRPr lang="ru-RU" dirty="0"/>
          </a:p>
        </p:txBody>
      </p:sp>
      <p:sp>
        <p:nvSpPr>
          <p:cNvPr id="13" name="Title 7">
            <a:extLst>
              <a:ext uri="{FF2B5EF4-FFF2-40B4-BE49-F238E27FC236}">
                <a16:creationId xmlns:a16="http://schemas.microsoft.com/office/drawing/2014/main" id="{8BBD3378-DD0B-4070-88AA-07DEEA1B7A80}"/>
              </a:ext>
            </a:extLst>
          </p:cNvPr>
          <p:cNvSpPr>
            <a:spLocks noGrp="1"/>
          </p:cNvSpPr>
          <p:nvPr>
            <p:ph type="title"/>
          </p:nvPr>
        </p:nvSpPr>
        <p:spPr>
          <a:xfrm>
            <a:off x="0" y="0"/>
            <a:ext cx="12192000" cy="1296537"/>
          </a:xfrm>
          <a:solidFill>
            <a:schemeClr val="accent1">
              <a:lumMod val="40000"/>
              <a:lumOff val="60000"/>
              <a:alpha val="50000"/>
            </a:schemeClr>
          </a:solidFill>
        </p:spPr>
        <p:txBody>
          <a:bodyPr lIns="720000" tIns="108000" anchor="ctr" anchorCtr="0">
            <a:normAutofit/>
          </a:bodyPr>
          <a:lstStyle>
            <a:lvl1pPr>
              <a:defRPr sz="3600"/>
            </a:lvl1pPr>
          </a:lstStyle>
          <a:p>
            <a:r>
              <a:rPr lang="en-US" smtClean="0"/>
              <a:t>Click to edit Master title style</a:t>
            </a:r>
            <a:endParaRPr lang="en-US" dirty="0"/>
          </a:p>
        </p:txBody>
      </p:sp>
      <p:sp>
        <p:nvSpPr>
          <p:cNvPr id="14" name="Content Placeholder 2">
            <a:extLst>
              <a:ext uri="{FF2B5EF4-FFF2-40B4-BE49-F238E27FC236}">
                <a16:creationId xmlns:a16="http://schemas.microsoft.com/office/drawing/2014/main" id="{B8349DBD-05C9-497A-BAB7-08CE307FB98A}"/>
              </a:ext>
            </a:extLst>
          </p:cNvPr>
          <p:cNvSpPr>
            <a:spLocks noGrp="1"/>
          </p:cNvSpPr>
          <p:nvPr>
            <p:ph sz="half" idx="1"/>
          </p:nvPr>
        </p:nvSpPr>
        <p:spPr>
          <a:xfrm>
            <a:off x="744355" y="1812759"/>
            <a:ext cx="4954159" cy="374819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3">
            <a:extLst>
              <a:ext uri="{FF2B5EF4-FFF2-40B4-BE49-F238E27FC236}">
                <a16:creationId xmlns:a16="http://schemas.microsoft.com/office/drawing/2014/main" id="{2F227ADD-898B-46CB-92A8-AC4962D20811}"/>
              </a:ext>
            </a:extLst>
          </p:cNvPr>
          <p:cNvSpPr>
            <a:spLocks noGrp="1"/>
          </p:cNvSpPr>
          <p:nvPr>
            <p:ph sz="half" idx="2"/>
          </p:nvPr>
        </p:nvSpPr>
        <p:spPr>
          <a:xfrm>
            <a:off x="6499901" y="1812759"/>
            <a:ext cx="4954159" cy="374819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16" name="Straight Connector 15">
            <a:extLst>
              <a:ext uri="{FF2B5EF4-FFF2-40B4-BE49-F238E27FC236}">
                <a16:creationId xmlns:a16="http://schemas.microsoft.com/office/drawing/2014/main" id="{8B0AF26B-41C3-4BBB-A8E9-8EAB965C6D7A}"/>
              </a:ext>
            </a:extLst>
          </p:cNvPr>
          <p:cNvCxnSpPr/>
          <p:nvPr userDrawn="1"/>
        </p:nvCxnSpPr>
        <p:spPr>
          <a:xfrm>
            <a:off x="-600" y="1283417"/>
            <a:ext cx="121932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789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Picture with Content">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274C8CE4-6594-4434-AA7B-C5DDAFBE02A0}" type="datetime1">
              <a:rPr lang="en-US" smtClean="0"/>
              <a:t>4/30/2026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r>
              <a:rPr lang="en-US" dirty="0"/>
              <a:t>TEACH A COURSE</a:t>
            </a:r>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2" name="Picture Placeholder 5">
            <a:extLst>
              <a:ext uri="{FF2B5EF4-FFF2-40B4-BE49-F238E27FC236}">
                <a16:creationId xmlns:a16="http://schemas.microsoft.com/office/drawing/2014/main" id="{7BF857FE-9EDF-40AC-A282-858EC0C2C6A7}"/>
              </a:ext>
            </a:extLst>
          </p:cNvPr>
          <p:cNvSpPr>
            <a:spLocks noGrp="1"/>
          </p:cNvSpPr>
          <p:nvPr>
            <p:ph type="pic" sz="quarter" idx="13"/>
          </p:nvPr>
        </p:nvSpPr>
        <p:spPr>
          <a:xfrm>
            <a:off x="0" y="0"/>
            <a:ext cx="12192000" cy="6408000"/>
          </a:xfrm>
        </p:spPr>
        <p:txBody>
          <a:bodyPr anchor="ctr" anchorCtr="0">
            <a:normAutofit/>
          </a:bodyPr>
          <a:lstStyle>
            <a:lvl1pPr algn="ctr">
              <a:defRPr sz="1600"/>
            </a:lvl1pPr>
          </a:lstStyle>
          <a:p>
            <a:r>
              <a:rPr lang="en-US" smtClean="0"/>
              <a:t>Click icon to add picture</a:t>
            </a:r>
            <a:endParaRPr lang="ru-RU" dirty="0"/>
          </a:p>
        </p:txBody>
      </p:sp>
      <p:sp>
        <p:nvSpPr>
          <p:cNvPr id="13" name="Title 7">
            <a:extLst>
              <a:ext uri="{FF2B5EF4-FFF2-40B4-BE49-F238E27FC236}">
                <a16:creationId xmlns:a16="http://schemas.microsoft.com/office/drawing/2014/main" id="{8BBD3378-DD0B-4070-88AA-07DEEA1B7A80}"/>
              </a:ext>
            </a:extLst>
          </p:cNvPr>
          <p:cNvSpPr>
            <a:spLocks noGrp="1"/>
          </p:cNvSpPr>
          <p:nvPr>
            <p:ph type="title"/>
          </p:nvPr>
        </p:nvSpPr>
        <p:spPr>
          <a:xfrm>
            <a:off x="0" y="0"/>
            <a:ext cx="12192000" cy="1296537"/>
          </a:xfrm>
          <a:solidFill>
            <a:schemeClr val="accent1">
              <a:lumMod val="40000"/>
              <a:lumOff val="60000"/>
              <a:alpha val="50000"/>
            </a:schemeClr>
          </a:solidFill>
        </p:spPr>
        <p:txBody>
          <a:bodyPr lIns="684000" tIns="108000" anchor="ctr" anchorCtr="0">
            <a:normAutofit/>
          </a:bodyPr>
          <a:lstStyle>
            <a:lvl1pPr>
              <a:defRPr sz="3600"/>
            </a:lvl1pPr>
          </a:lstStyle>
          <a:p>
            <a:r>
              <a:rPr lang="en-US" smtClean="0"/>
              <a:t>Click to edit Master title style</a:t>
            </a:r>
            <a:endParaRPr lang="en-US" dirty="0"/>
          </a:p>
        </p:txBody>
      </p:sp>
      <p:sp>
        <p:nvSpPr>
          <p:cNvPr id="14" name="Content Placeholder 2">
            <a:extLst>
              <a:ext uri="{FF2B5EF4-FFF2-40B4-BE49-F238E27FC236}">
                <a16:creationId xmlns:a16="http://schemas.microsoft.com/office/drawing/2014/main" id="{B8349DBD-05C9-497A-BAB7-08CE307FB98A}"/>
              </a:ext>
            </a:extLst>
          </p:cNvPr>
          <p:cNvSpPr>
            <a:spLocks noGrp="1"/>
          </p:cNvSpPr>
          <p:nvPr>
            <p:ph sz="half" idx="1"/>
          </p:nvPr>
        </p:nvSpPr>
        <p:spPr>
          <a:xfrm>
            <a:off x="747981" y="1812759"/>
            <a:ext cx="10905457" cy="408841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16" name="Straight Connector 15">
            <a:extLst>
              <a:ext uri="{FF2B5EF4-FFF2-40B4-BE49-F238E27FC236}">
                <a16:creationId xmlns:a16="http://schemas.microsoft.com/office/drawing/2014/main" id="{8B0AF26B-41C3-4BBB-A8E9-8EAB965C6D7A}"/>
              </a:ext>
            </a:extLst>
          </p:cNvPr>
          <p:cNvCxnSpPr/>
          <p:nvPr userDrawn="1"/>
        </p:nvCxnSpPr>
        <p:spPr>
          <a:xfrm>
            <a:off x="-600" y="1283417"/>
            <a:ext cx="121932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4329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_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C21F8EC-6CCD-434E-925E-0A9FF574DA19}"/>
              </a:ext>
            </a:extLst>
          </p:cNvPr>
          <p:cNvSpPr>
            <a:spLocks noGrp="1"/>
          </p:cNvSpPr>
          <p:nvPr>
            <p:ph type="pic" sz="quarter" idx="13"/>
          </p:nvPr>
        </p:nvSpPr>
        <p:spPr>
          <a:xfrm>
            <a:off x="0" y="1907362"/>
            <a:ext cx="12192000" cy="4493433"/>
          </a:xfrm>
        </p:spPr>
        <p:txBody>
          <a:bodyPr anchor="ctr" anchorCtr="0"/>
          <a:lstStyle>
            <a:lvl1pPr algn="ctr">
              <a:defRPr/>
            </a:lvl1pPr>
          </a:lstStyle>
          <a:p>
            <a:r>
              <a:rPr lang="en-US" smtClean="0"/>
              <a:t>Click icon to add picture</a:t>
            </a:r>
            <a:endParaRPr lang="en-US" dirty="0"/>
          </a:p>
        </p:txBody>
      </p:sp>
      <p:sp>
        <p:nvSpPr>
          <p:cNvPr id="8" name="Title 7"/>
          <p:cNvSpPr>
            <a:spLocks noGrp="1"/>
          </p:cNvSpPr>
          <p:nvPr>
            <p:ph type="title"/>
          </p:nvPr>
        </p:nvSpPr>
        <p:spPr>
          <a:xfrm>
            <a:off x="1097280" y="230332"/>
            <a:ext cx="10058400" cy="1450757"/>
          </a:xfrm>
        </p:spPr>
        <p:txBody>
          <a:bodyPr/>
          <a:lstStyle/>
          <a:p>
            <a:r>
              <a:rPr lang="en-US" smtClean="0"/>
              <a:t>Click to edit Master title style</a:t>
            </a:r>
            <a:endParaRPr lang="en-US" dirty="0"/>
          </a:p>
        </p:txBody>
      </p:sp>
      <p:sp>
        <p:nvSpPr>
          <p:cNvPr id="4" name="Content Placeholder 3"/>
          <p:cNvSpPr>
            <a:spLocks noGrp="1"/>
          </p:cNvSpPr>
          <p:nvPr>
            <p:ph sz="half" idx="2"/>
          </p:nvPr>
        </p:nvSpPr>
        <p:spPr>
          <a:xfrm>
            <a:off x="1097280" y="2464540"/>
            <a:ext cx="10058400" cy="374819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903176FD-E365-4307-A1BF-FBA56929E02D}" type="datetime1">
              <a:rPr lang="en-US" smtClean="0"/>
              <a:t>4/30/2026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r>
              <a:rPr lang="en-US" dirty="0"/>
              <a:t>TEACH A COURSE</a:t>
            </a:r>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cxnSp>
        <p:nvCxnSpPr>
          <p:cNvPr id="5" name="Straight Connector 4">
            <a:extLst>
              <a:ext uri="{FF2B5EF4-FFF2-40B4-BE49-F238E27FC236}">
                <a16:creationId xmlns:a16="http://schemas.microsoft.com/office/drawing/2014/main" id="{18DEBF4F-95EE-485E-BCD1-56682C51B641}"/>
              </a:ext>
            </a:extLst>
          </p:cNvPr>
          <p:cNvCxnSpPr/>
          <p:nvPr userDrawn="1"/>
        </p:nvCxnSpPr>
        <p:spPr>
          <a:xfrm>
            <a:off x="0" y="1900553"/>
            <a:ext cx="12192000" cy="0"/>
          </a:xfrm>
          <a:prstGeom prst="line">
            <a:avLst/>
          </a:prstGeom>
          <a:ln>
            <a:solidFill>
              <a:srgbClr val="2626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1316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wo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F1064CC3-3A25-40C5-8F52-C7B371775282}" type="datetime1">
              <a:rPr lang="en-US" smtClean="0"/>
              <a:t>4/30/2026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r>
              <a:rPr lang="en-US" dirty="0"/>
              <a:t>TEACH A COURSE</a:t>
            </a:r>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6" name="Picture Placeholder 5">
            <a:extLst>
              <a:ext uri="{FF2B5EF4-FFF2-40B4-BE49-F238E27FC236}">
                <a16:creationId xmlns:a16="http://schemas.microsoft.com/office/drawing/2014/main" id="{C85C68E9-6B5E-46D9-AAB7-BE93B1378B84}"/>
              </a:ext>
            </a:extLst>
          </p:cNvPr>
          <p:cNvSpPr>
            <a:spLocks noGrp="1"/>
          </p:cNvSpPr>
          <p:nvPr>
            <p:ph type="pic" sz="quarter" idx="13"/>
          </p:nvPr>
        </p:nvSpPr>
        <p:spPr>
          <a:xfrm>
            <a:off x="0" y="1907362"/>
            <a:ext cx="12192000" cy="4493433"/>
          </a:xfrm>
        </p:spPr>
        <p:txBody>
          <a:bodyPr anchor="ctr" anchorCtr="0"/>
          <a:lstStyle>
            <a:lvl1pPr algn="ctr">
              <a:defRPr/>
            </a:lvl1pPr>
          </a:lstStyle>
          <a:p>
            <a:r>
              <a:rPr lang="en-US" smtClean="0"/>
              <a:t>Click icon to add picture</a:t>
            </a:r>
            <a:endParaRPr lang="en-US" dirty="0"/>
          </a:p>
        </p:txBody>
      </p:sp>
      <p:sp>
        <p:nvSpPr>
          <p:cNvPr id="7" name="Title 7">
            <a:extLst>
              <a:ext uri="{FF2B5EF4-FFF2-40B4-BE49-F238E27FC236}">
                <a16:creationId xmlns:a16="http://schemas.microsoft.com/office/drawing/2014/main" id="{7DEE74D2-9B60-4DE8-9A31-91D3CBA8DC64}"/>
              </a:ext>
            </a:extLst>
          </p:cNvPr>
          <p:cNvSpPr>
            <a:spLocks noGrp="1"/>
          </p:cNvSpPr>
          <p:nvPr>
            <p:ph type="title"/>
          </p:nvPr>
        </p:nvSpPr>
        <p:spPr>
          <a:xfrm>
            <a:off x="1097280" y="230332"/>
            <a:ext cx="10058400" cy="1450757"/>
          </a:xfrm>
        </p:spPr>
        <p:txBody>
          <a:bodyPr/>
          <a:lstStyle/>
          <a:p>
            <a:r>
              <a:rPr lang="en-US" smtClean="0"/>
              <a:t>Click to edit Master title style</a:t>
            </a:r>
            <a:endParaRPr lang="en-US" dirty="0"/>
          </a:p>
        </p:txBody>
      </p:sp>
      <p:sp>
        <p:nvSpPr>
          <p:cNvPr id="8" name="Content Placeholder 3">
            <a:extLst>
              <a:ext uri="{FF2B5EF4-FFF2-40B4-BE49-F238E27FC236}">
                <a16:creationId xmlns:a16="http://schemas.microsoft.com/office/drawing/2014/main" id="{390A09A4-2667-45F1-9F4E-37A50F1F58BA}"/>
              </a:ext>
            </a:extLst>
          </p:cNvPr>
          <p:cNvSpPr>
            <a:spLocks noGrp="1"/>
          </p:cNvSpPr>
          <p:nvPr>
            <p:ph sz="half" idx="2"/>
          </p:nvPr>
        </p:nvSpPr>
        <p:spPr>
          <a:xfrm>
            <a:off x="1080347" y="2346008"/>
            <a:ext cx="10058400" cy="3748194"/>
          </a:xfrm>
        </p:spPr>
        <p:txBody>
          <a:bodyPr numCol="2" spcCol="540000">
            <a:normAutofit/>
          </a:bodyPr>
          <a:lstStyle>
            <a:lvl1pPr>
              <a:defRPr sz="1600"/>
            </a:lvl1pPr>
            <a:lvl2pPr>
              <a:defRPr sz="1600"/>
            </a:lvl2pPr>
            <a:lvl3pPr>
              <a:defRPr sz="1600"/>
            </a:lvl3pPr>
            <a:lvl4pPr>
              <a:defRPr sz="1600"/>
            </a:lvl4pPr>
            <a:lvl5pPr>
              <a:defRPr sz="16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9" name="Straight Connector 8">
            <a:extLst>
              <a:ext uri="{FF2B5EF4-FFF2-40B4-BE49-F238E27FC236}">
                <a16:creationId xmlns:a16="http://schemas.microsoft.com/office/drawing/2014/main" id="{CA14E254-0C82-4865-9922-29444D17B571}"/>
              </a:ext>
            </a:extLst>
          </p:cNvPr>
          <p:cNvCxnSpPr/>
          <p:nvPr userDrawn="1"/>
        </p:nvCxnSpPr>
        <p:spPr>
          <a:xfrm>
            <a:off x="0" y="1900553"/>
            <a:ext cx="12192000" cy="0"/>
          </a:xfrm>
          <a:prstGeom prst="line">
            <a:avLst/>
          </a:prstGeom>
          <a:ln>
            <a:solidFill>
              <a:srgbClr val="2626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1068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C6553904-8E92-4E81-A5F1-2FE23324A701}" type="datetime1">
              <a:rPr lang="en-US" smtClean="0"/>
              <a:t>4/30/2026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r>
              <a:rPr lang="en-US" dirty="0"/>
              <a:t>TEACH A COURSE</a:t>
            </a:r>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21844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F6F61582-894B-4548-8F6A-77DD222024CA}" type="datetime1">
              <a:rPr lang="en-US" smtClean="0"/>
              <a:t>4/30/2026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r>
              <a:rPr lang="en-US" dirty="0"/>
              <a:t>TEACH A COURSE</a:t>
            </a:r>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0175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1821FD72-49BE-4A27-B81D-6695ECD46A0C}" type="datetime1">
              <a:rPr lang="en-US" smtClean="0"/>
              <a:t>4/30/2026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r>
              <a:rPr lang="en-US" dirty="0"/>
              <a:t>TEACH A COURSE</a:t>
            </a:r>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72940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Content with Caption">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92C4CF0-BD34-45B4-94FF-59AD3A70A72E}"/>
              </a:ext>
            </a:extLst>
          </p:cNvPr>
          <p:cNvSpPr>
            <a:spLocks noGrp="1"/>
          </p:cNvSpPr>
          <p:nvPr>
            <p:ph type="pic" sz="quarter" idx="13"/>
          </p:nvPr>
        </p:nvSpPr>
        <p:spPr>
          <a:xfrm>
            <a:off x="0" y="0"/>
            <a:ext cx="12192000" cy="6400165"/>
          </a:xfrm>
          <a:noFill/>
        </p:spPr>
        <p:txBody>
          <a:bodyPr lIns="0" tIns="792000" anchor="ctr" anchorCtr="0"/>
          <a:lstStyle>
            <a:lvl1pPr algn="ctr">
              <a:defRPr/>
            </a:lvl1pPr>
          </a:lstStyle>
          <a:p>
            <a:r>
              <a:rPr lang="en-US" smtClean="0"/>
              <a:t>Click icon to add picture</a:t>
            </a:r>
            <a:endParaRPr lang="en-US" dirty="0"/>
          </a:p>
        </p:txBody>
      </p:sp>
      <p:sp>
        <p:nvSpPr>
          <p:cNvPr id="8" name="Rectangle 7">
            <a:extLst>
              <a:ext uri="{FF2B5EF4-FFF2-40B4-BE49-F238E27FC236}">
                <a16:creationId xmlns:a16="http://schemas.microsoft.com/office/drawing/2014/main" id="{16D90D66-BCB9-4229-A829-628874352AC0}"/>
              </a:ext>
            </a:extLst>
          </p:cNvPr>
          <p:cNvSpPr/>
          <p:nvPr/>
        </p:nvSpPr>
        <p:spPr>
          <a:xfrm>
            <a:off x="4804496" y="0"/>
            <a:ext cx="7387504" cy="6446520"/>
          </a:xfrm>
          <a:prstGeom prst="rect">
            <a:avLst/>
          </a:prstGeom>
          <a:solidFill>
            <a:schemeClr val="accent1">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D7110AB5-E047-427B-9192-3F2FCCB479A8}"/>
              </a:ext>
            </a:extLst>
          </p:cNvPr>
          <p:cNvSpPr/>
          <p:nvPr userDrawn="1"/>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488254"/>
            <a:ext cx="3517567" cy="1087974"/>
          </a:xfrm>
        </p:spPr>
        <p:txBody>
          <a:bodyPr anchor="b">
            <a:normAutofit/>
          </a:bodyPr>
          <a:lstStyle>
            <a:lvl1pPr>
              <a:lnSpc>
                <a:spcPct val="90000"/>
              </a:lnSpc>
              <a:defRPr sz="3600" b="0">
                <a:solidFill>
                  <a:schemeClr val="accent1">
                    <a:lumMod val="50000"/>
                  </a:schemeClr>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403625" y="2038720"/>
            <a:ext cx="3517567" cy="3311706"/>
          </a:xfrm>
        </p:spPr>
        <p:txBody>
          <a:bodyPr lIns="91440" rIns="91440">
            <a:normAutofit/>
          </a:bodyPr>
          <a:lstStyle>
            <a:lvl1pPr marL="216000" indent="-216000">
              <a:spcAft>
                <a:spcPts val="0"/>
              </a:spcAft>
              <a:buFont typeface="Wingdings" panose="05000000000000000000" pitchFamily="2" charset="2"/>
              <a:buChar char="§"/>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2" name="Date Placeholder 5">
            <a:extLst>
              <a:ext uri="{FF2B5EF4-FFF2-40B4-BE49-F238E27FC236}">
                <a16:creationId xmlns:a16="http://schemas.microsoft.com/office/drawing/2014/main" id="{00A2BA60-500D-4BD0-8C7F-2936FDDD1586}"/>
              </a:ext>
            </a:extLst>
          </p:cNvPr>
          <p:cNvSpPr>
            <a:spLocks noGrp="1"/>
          </p:cNvSpPr>
          <p:nvPr>
            <p:ph type="dt" sz="half" idx="10"/>
          </p:nvPr>
        </p:nvSpPr>
        <p:spPr>
          <a:xfrm>
            <a:off x="8218426" y="6446838"/>
            <a:ext cx="2584850" cy="365125"/>
          </a:xfrm>
        </p:spPr>
        <p:txBody>
          <a:bodyPr/>
          <a:lstStyle/>
          <a:p>
            <a:fld id="{397F0DEF-140C-43BE-9FE2-8C6F0F16B2BD}" type="datetime1">
              <a:rPr lang="en-US" smtClean="0"/>
              <a:t>4/30/2026</a:t>
            </a:fld>
            <a:endParaRPr lang="en-US" dirty="0"/>
          </a:p>
        </p:txBody>
      </p:sp>
      <p:sp>
        <p:nvSpPr>
          <p:cNvPr id="13" name="Footer Placeholder 6">
            <a:extLst>
              <a:ext uri="{FF2B5EF4-FFF2-40B4-BE49-F238E27FC236}">
                <a16:creationId xmlns:a16="http://schemas.microsoft.com/office/drawing/2014/main" id="{371A0A82-5458-43A1-AD4C-A4FF7CD09F10}"/>
              </a:ext>
            </a:extLst>
          </p:cNvPr>
          <p:cNvSpPr>
            <a:spLocks noGrp="1"/>
          </p:cNvSpPr>
          <p:nvPr>
            <p:ph type="ftr" sz="quarter" idx="11"/>
          </p:nvPr>
        </p:nvSpPr>
        <p:spPr>
          <a:xfrm>
            <a:off x="643051" y="6446838"/>
            <a:ext cx="6818262" cy="365125"/>
          </a:xfrm>
        </p:spPr>
        <p:txBody>
          <a:bodyPr/>
          <a:lstStyle/>
          <a:p>
            <a:r>
              <a:rPr lang="en-US" dirty="0"/>
              <a:t>TEACH A COURSE</a:t>
            </a:r>
          </a:p>
        </p:txBody>
      </p:sp>
      <p:sp>
        <p:nvSpPr>
          <p:cNvPr id="14" name="Slide Number Placeholder 7">
            <a:extLst>
              <a:ext uri="{FF2B5EF4-FFF2-40B4-BE49-F238E27FC236}">
                <a16:creationId xmlns:a16="http://schemas.microsoft.com/office/drawing/2014/main" id="{2ABD9582-0263-41AF-B003-2E748948571F}"/>
              </a:ext>
            </a:extLst>
          </p:cNvPr>
          <p:cNvSpPr>
            <a:spLocks noGrp="1"/>
          </p:cNvSpPr>
          <p:nvPr>
            <p:ph type="sldNum" sz="quarter" idx="12"/>
          </p:nvPr>
        </p:nvSpPr>
        <p:spPr>
          <a:xfrm>
            <a:off x="10930596" y="6446838"/>
            <a:ext cx="617912" cy="365125"/>
          </a:xfrm>
        </p:spPr>
        <p:txBody>
          <a:bodyPr/>
          <a:lstStyle/>
          <a:p>
            <a:fld id="{3A98EE3D-8CD1-4C3F-BD1C-C98C9596463C}" type="slidenum">
              <a:rPr lang="en-US" smtClean="0"/>
              <a:t>‹#›</a:t>
            </a:fld>
            <a:endParaRPr lang="en-US" dirty="0"/>
          </a:p>
        </p:txBody>
      </p:sp>
      <p:sp>
        <p:nvSpPr>
          <p:cNvPr id="5" name="Picture Placeholder 4">
            <a:extLst>
              <a:ext uri="{FF2B5EF4-FFF2-40B4-BE49-F238E27FC236}">
                <a16:creationId xmlns:a16="http://schemas.microsoft.com/office/drawing/2014/main" id="{FF66DD5E-2E55-4BFB-8214-2B5C5051F287}"/>
              </a:ext>
            </a:extLst>
          </p:cNvPr>
          <p:cNvSpPr>
            <a:spLocks noGrp="1"/>
          </p:cNvSpPr>
          <p:nvPr>
            <p:ph type="pic" sz="quarter" idx="14"/>
          </p:nvPr>
        </p:nvSpPr>
        <p:spPr>
          <a:xfrm>
            <a:off x="5599113" y="1692275"/>
            <a:ext cx="6592887" cy="3190875"/>
          </a:xfrm>
          <a:solidFill>
            <a:schemeClr val="bg1">
              <a:lumMod val="85000"/>
              <a:alpha val="50000"/>
            </a:schemeClr>
          </a:solidFill>
        </p:spPr>
        <p:txBody>
          <a:bodyPr anchor="ctr" anchorCtr="0"/>
          <a:lstStyle>
            <a:lvl1pPr algn="ctr">
              <a:defRPr/>
            </a:lvl1pPr>
          </a:lstStyle>
          <a:p>
            <a:r>
              <a:rPr lang="en-US" smtClean="0"/>
              <a:t>Click icon to add picture</a:t>
            </a:r>
            <a:endParaRPr lang="ru-RU" dirty="0"/>
          </a:p>
        </p:txBody>
      </p:sp>
      <p:cxnSp>
        <p:nvCxnSpPr>
          <p:cNvPr id="16" name="Straight Connector 15">
            <a:extLst>
              <a:ext uri="{FF2B5EF4-FFF2-40B4-BE49-F238E27FC236}">
                <a16:creationId xmlns:a16="http://schemas.microsoft.com/office/drawing/2014/main" id="{76A38BEF-96DA-4CBE-8464-985906D9F5F1}"/>
              </a:ext>
            </a:extLst>
          </p:cNvPr>
          <p:cNvCxnSpPr>
            <a:cxnSpLocks/>
          </p:cNvCxnSpPr>
          <p:nvPr userDrawn="1"/>
        </p:nvCxnSpPr>
        <p:spPr>
          <a:xfrm>
            <a:off x="723686" y="1767848"/>
            <a:ext cx="3291840" cy="0"/>
          </a:xfrm>
          <a:prstGeom prst="line">
            <a:avLst/>
          </a:prstGeom>
          <a:ln w="15875">
            <a:solidFill>
              <a:srgbClr val="2626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394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Content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F262E62-E8FA-42DE-BC7E-BA73A13FCBFF}"/>
              </a:ext>
            </a:extLst>
          </p:cNvPr>
          <p:cNvSpPr>
            <a:spLocks noGrp="1"/>
          </p:cNvSpPr>
          <p:nvPr>
            <p:ph type="pic" sz="quarter" idx="15"/>
          </p:nvPr>
        </p:nvSpPr>
        <p:spPr>
          <a:xfrm>
            <a:off x="0" y="0"/>
            <a:ext cx="12193200" cy="6400800"/>
          </a:xfrm>
        </p:spPr>
        <p:txBody>
          <a:bodyPr anchor="ctr" anchorCtr="0"/>
          <a:lstStyle>
            <a:lvl1pPr algn="ctr">
              <a:defRPr/>
            </a:lvl1pPr>
          </a:lstStyle>
          <a:p>
            <a:r>
              <a:rPr lang="en-US" smtClean="0"/>
              <a:t>Click icon to add picture</a:t>
            </a:r>
            <a:endParaRPr lang="en-US" dirty="0"/>
          </a:p>
        </p:txBody>
      </p:sp>
      <p:sp>
        <p:nvSpPr>
          <p:cNvPr id="5" name="Text Placeholder 4">
            <a:extLst>
              <a:ext uri="{FF2B5EF4-FFF2-40B4-BE49-F238E27FC236}">
                <a16:creationId xmlns:a16="http://schemas.microsoft.com/office/drawing/2014/main" id="{3B957EED-32E8-4384-BFBB-06742F30AA87}"/>
              </a:ext>
            </a:extLst>
          </p:cNvPr>
          <p:cNvSpPr>
            <a:spLocks noGrp="1"/>
          </p:cNvSpPr>
          <p:nvPr>
            <p:ph type="body" sz="quarter" idx="14" hasCustomPrompt="1"/>
          </p:nvPr>
        </p:nvSpPr>
        <p:spPr>
          <a:xfrm>
            <a:off x="5356422" y="5034909"/>
            <a:ext cx="6835291" cy="817251"/>
          </a:xfrm>
          <a:solidFill>
            <a:srgbClr val="262626"/>
          </a:solidFill>
        </p:spPr>
        <p:txBody>
          <a:bodyPr lIns="396000" tIns="0" anchor="ctr" anchorCtr="0">
            <a:normAutofit/>
          </a:bodyPr>
          <a:lstStyle>
            <a:lvl1pPr>
              <a:defRPr sz="2400">
                <a:solidFill>
                  <a:schemeClr val="accent1">
                    <a:lumMod val="40000"/>
                    <a:lumOff val="60000"/>
                  </a:schemeClr>
                </a:solidFill>
              </a:defRPr>
            </a:lvl1pPr>
            <a:lvl2pPr>
              <a:defRPr>
                <a:solidFill>
                  <a:schemeClr val="bg1"/>
                </a:solidFill>
              </a:defRPr>
            </a:lvl2pPr>
            <a:lvl3pPr>
              <a:defRPr>
                <a:solidFill>
                  <a:schemeClr val="bg1"/>
                </a:solidFill>
              </a:defRPr>
            </a:lvl3pPr>
            <a:lvl4pPr>
              <a:defRPr>
                <a:solidFill>
                  <a:schemeClr val="bg1"/>
                </a:solidFill>
              </a:defRPr>
            </a:lvl4pPr>
          </a:lstStyle>
          <a:p>
            <a:pPr lvl="0"/>
            <a:r>
              <a:rPr lang="en-US" dirty="0"/>
              <a:t>Subtitle</a:t>
            </a:r>
            <a:endParaRPr lang="ru-RU" dirty="0"/>
          </a:p>
        </p:txBody>
      </p:sp>
      <p:sp>
        <p:nvSpPr>
          <p:cNvPr id="15" name="Title 14">
            <a:extLst>
              <a:ext uri="{FF2B5EF4-FFF2-40B4-BE49-F238E27FC236}">
                <a16:creationId xmlns:a16="http://schemas.microsoft.com/office/drawing/2014/main" id="{23EC876B-6AD7-452A-94C9-45B89DA7D7D0}"/>
              </a:ext>
            </a:extLst>
          </p:cNvPr>
          <p:cNvSpPr>
            <a:spLocks noGrp="1"/>
          </p:cNvSpPr>
          <p:nvPr>
            <p:ph type="title" hasCustomPrompt="1"/>
          </p:nvPr>
        </p:nvSpPr>
        <p:spPr>
          <a:xfrm>
            <a:off x="5356143" y="3975295"/>
            <a:ext cx="6835858" cy="1089350"/>
          </a:xfrm>
          <a:custGeom>
            <a:avLst/>
            <a:gdLst>
              <a:gd name="connsiteX0" fmla="*/ 0 w 6906198"/>
              <a:gd name="connsiteY0" fmla="*/ 0 h 1089350"/>
              <a:gd name="connsiteX1" fmla="*/ 6906198 w 6906198"/>
              <a:gd name="connsiteY1" fmla="*/ 0 h 1089350"/>
              <a:gd name="connsiteX2" fmla="*/ 6906198 w 6906198"/>
              <a:gd name="connsiteY2" fmla="*/ 1089350 h 1089350"/>
              <a:gd name="connsiteX3" fmla="*/ 3805731 w 6906198"/>
              <a:gd name="connsiteY3" fmla="*/ 1089350 h 1089350"/>
              <a:gd name="connsiteX4" fmla="*/ 218470 w 6906198"/>
              <a:gd name="connsiteY4" fmla="*/ 1089350 h 1089350"/>
              <a:gd name="connsiteX5" fmla="*/ 0 w 6906198"/>
              <a:gd name="connsiteY5" fmla="*/ 1089350 h 1089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06198" h="1089350">
                <a:moveTo>
                  <a:pt x="0" y="0"/>
                </a:moveTo>
                <a:lnTo>
                  <a:pt x="6906198" y="0"/>
                </a:lnTo>
                <a:lnTo>
                  <a:pt x="6906198" y="1089350"/>
                </a:lnTo>
                <a:lnTo>
                  <a:pt x="3805731" y="1089350"/>
                </a:lnTo>
                <a:lnTo>
                  <a:pt x="218470" y="1089350"/>
                </a:lnTo>
                <a:lnTo>
                  <a:pt x="0" y="1089350"/>
                </a:lnTo>
                <a:close/>
              </a:path>
            </a:pathLst>
          </a:custGeom>
          <a:solidFill>
            <a:srgbClr val="262626"/>
          </a:solidFill>
        </p:spPr>
        <p:txBody>
          <a:bodyPr wrap="square" lIns="396000" tIns="252000" anchor="t" anchorCtr="0">
            <a:noAutofit/>
          </a:bodyPr>
          <a:lstStyle>
            <a:lvl1pPr>
              <a:lnSpc>
                <a:spcPct val="90000"/>
              </a:lnSpc>
              <a:defRPr sz="3600" b="0">
                <a:solidFill>
                  <a:schemeClr val="bg1"/>
                </a:solidFill>
              </a:defRPr>
            </a:lvl1pPr>
          </a:lstStyle>
          <a:p>
            <a:r>
              <a:rPr lang="en-US" dirty="0"/>
              <a:t>First Lesson Summary</a:t>
            </a:r>
          </a:p>
        </p:txBody>
      </p:sp>
      <p:sp>
        <p:nvSpPr>
          <p:cNvPr id="11" name="Rectangle 10">
            <a:extLst>
              <a:ext uri="{FF2B5EF4-FFF2-40B4-BE49-F238E27FC236}">
                <a16:creationId xmlns:a16="http://schemas.microsoft.com/office/drawing/2014/main" id="{D7110AB5-E047-427B-9192-3F2FCCB479A8}"/>
              </a:ext>
            </a:extLst>
          </p:cNvPr>
          <p:cNvSpPr/>
          <p:nvPr userDrawn="1"/>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Text Placeholder 3"/>
          <p:cNvSpPr>
            <a:spLocks noGrp="1"/>
          </p:cNvSpPr>
          <p:nvPr>
            <p:ph type="body" sz="half" idx="2"/>
          </p:nvPr>
        </p:nvSpPr>
        <p:spPr>
          <a:xfrm>
            <a:off x="678635" y="0"/>
            <a:ext cx="3998873" cy="5852160"/>
          </a:xfrm>
          <a:solidFill>
            <a:srgbClr val="262626"/>
          </a:solidFill>
        </p:spPr>
        <p:txBody>
          <a:bodyPr lIns="360000" tIns="46800" rIns="360000" anchor="ctr" anchorCtr="0">
            <a:normAutofit/>
          </a:bodyPr>
          <a:lstStyle>
            <a:lvl1pPr marL="0" indent="0">
              <a:buNone/>
              <a:defRPr lang="en-US" dirty="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2" name="Date Placeholder 5">
            <a:extLst>
              <a:ext uri="{FF2B5EF4-FFF2-40B4-BE49-F238E27FC236}">
                <a16:creationId xmlns:a16="http://schemas.microsoft.com/office/drawing/2014/main" id="{00A2BA60-500D-4BD0-8C7F-2936FDDD1586}"/>
              </a:ext>
            </a:extLst>
          </p:cNvPr>
          <p:cNvSpPr>
            <a:spLocks noGrp="1"/>
          </p:cNvSpPr>
          <p:nvPr>
            <p:ph type="dt" sz="half" idx="10"/>
          </p:nvPr>
        </p:nvSpPr>
        <p:spPr>
          <a:xfrm>
            <a:off x="8218426" y="6446838"/>
            <a:ext cx="2584850" cy="365125"/>
          </a:xfrm>
        </p:spPr>
        <p:txBody>
          <a:bodyPr/>
          <a:lstStyle/>
          <a:p>
            <a:fld id="{9071F196-4D99-4CA1-AF3D-D9270AA86530}" type="datetime1">
              <a:rPr lang="en-US" smtClean="0"/>
              <a:t>4/30/2026</a:t>
            </a:fld>
            <a:endParaRPr lang="en-US" dirty="0"/>
          </a:p>
        </p:txBody>
      </p:sp>
      <p:sp>
        <p:nvSpPr>
          <p:cNvPr id="13" name="Footer Placeholder 6">
            <a:extLst>
              <a:ext uri="{FF2B5EF4-FFF2-40B4-BE49-F238E27FC236}">
                <a16:creationId xmlns:a16="http://schemas.microsoft.com/office/drawing/2014/main" id="{371A0A82-5458-43A1-AD4C-A4FF7CD09F10}"/>
              </a:ext>
            </a:extLst>
          </p:cNvPr>
          <p:cNvSpPr>
            <a:spLocks noGrp="1"/>
          </p:cNvSpPr>
          <p:nvPr>
            <p:ph type="ftr" sz="quarter" idx="11"/>
          </p:nvPr>
        </p:nvSpPr>
        <p:spPr>
          <a:xfrm>
            <a:off x="643051" y="6446838"/>
            <a:ext cx="6818262" cy="365125"/>
          </a:xfrm>
        </p:spPr>
        <p:txBody>
          <a:bodyPr/>
          <a:lstStyle/>
          <a:p>
            <a:r>
              <a:rPr lang="en-US" dirty="0"/>
              <a:t>TEACH A COURSE</a:t>
            </a:r>
          </a:p>
        </p:txBody>
      </p:sp>
      <p:sp>
        <p:nvSpPr>
          <p:cNvPr id="14" name="Slide Number Placeholder 7">
            <a:extLst>
              <a:ext uri="{FF2B5EF4-FFF2-40B4-BE49-F238E27FC236}">
                <a16:creationId xmlns:a16="http://schemas.microsoft.com/office/drawing/2014/main" id="{2ABD9582-0263-41AF-B003-2E748948571F}"/>
              </a:ext>
            </a:extLst>
          </p:cNvPr>
          <p:cNvSpPr>
            <a:spLocks noGrp="1"/>
          </p:cNvSpPr>
          <p:nvPr>
            <p:ph type="sldNum" sz="quarter" idx="12"/>
          </p:nvPr>
        </p:nvSpPr>
        <p:spPr>
          <a:xfrm>
            <a:off x="10930596" y="6446838"/>
            <a:ext cx="617912"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94120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chemeClr val="accent1">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lvl1pPr>
          </a:lstStyle>
          <a:p>
            <a:fld id="{CB475C95-6709-4448-8164-8B465DDBFDB6}" type="datetime1">
              <a:rPr lang="en-US" smtClean="0"/>
              <a:t>4/30/2026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r>
              <a:rPr lang="en-US" dirty="0"/>
              <a:t>TEACH A COURSE</a:t>
            </a:r>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92319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BCE8B62D-7B77-49C5-A369-DA7962108BC9}" type="datetime1">
              <a:rPr lang="en-US" smtClean="0"/>
              <a:t>4/30/2026</a:t>
            </a:fld>
            <a:endParaRPr lang="en-US" dirty="0"/>
          </a:p>
        </p:txBody>
      </p:sp>
      <p:sp>
        <p:nvSpPr>
          <p:cNvPr id="5" name="Footer Placeholder 4"/>
          <p:cNvSpPr>
            <a:spLocks noGrp="1"/>
          </p:cNvSpPr>
          <p:nvPr>
            <p:ph type="ftr" sz="quarter" idx="3"/>
          </p:nvPr>
        </p:nvSpPr>
        <p:spPr>
          <a:xfrm>
            <a:off x="643051" y="6446838"/>
            <a:ext cx="6818262" cy="365125"/>
          </a:xfrm>
          <a:prstGeom prst="rect">
            <a:avLst/>
          </a:prstGeom>
        </p:spPr>
        <p:txBody>
          <a:bodyPr vert="horz" lIns="91440" tIns="45720" rIns="91440" bIns="45720" rtlCol="0" anchor="ctr"/>
          <a:lstStyle>
            <a:lvl1pPr algn="l">
              <a:defRPr sz="900" cap="all" baseline="0">
                <a:solidFill>
                  <a:schemeClr val="accent1">
                    <a:lumMod val="40000"/>
                    <a:lumOff val="60000"/>
                  </a:schemeClr>
                </a:solidFill>
              </a:defRPr>
            </a:lvl1pPr>
          </a:lstStyle>
          <a:p>
            <a:r>
              <a:rPr lang="en-US" dirty="0"/>
              <a:t>TEACH A COURSE</a:t>
            </a:r>
          </a:p>
        </p:txBody>
      </p:sp>
      <p:sp>
        <p:nvSpPr>
          <p:cNvPr id="6" name="Slide Number Placeholder 5"/>
          <p:cNvSpPr>
            <a:spLocks noGrp="1"/>
          </p:cNvSpPr>
          <p:nvPr>
            <p:ph type="sldNum" sz="quarter" idx="4"/>
          </p:nvPr>
        </p:nvSpPr>
        <p:spPr>
          <a:xfrm>
            <a:off x="10930596" y="6446838"/>
            <a:ext cx="617912" cy="365125"/>
          </a:xfrm>
          <a:prstGeom prst="rect">
            <a:avLst/>
          </a:prstGeom>
        </p:spPr>
        <p:txBody>
          <a:bodyPr vert="horz" lIns="91440" tIns="45720" rIns="91440" bIns="45720" rtlCol="0" anchor="ctr"/>
          <a:lstStyle>
            <a:lvl1pPr algn="r">
              <a:defRPr sz="1050">
                <a:solidFill>
                  <a:srgbClr val="FFFFFF"/>
                </a:solidFill>
              </a:defRPr>
            </a:lvl1pPr>
          </a:lstStyle>
          <a:p>
            <a:fld id="{3A98EE3D-8CD1-4C3F-BD1C-C98C9596463C}" type="slidenum">
              <a:rPr lang="en-US" smtClean="0"/>
              <a:pPr/>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232827"/>
      </p:ext>
    </p:extLst>
  </p:cSld>
  <p:clrMap bg1="lt1" tx1="dk1" bg2="lt2" tx2="dk2" accent1="accent1" accent2="accent2" accent3="accent3" accent4="accent4" accent5="accent5" accent6="accent6" hlink="hlink" folHlink="folHlink"/>
  <p:sldLayoutIdLst>
    <p:sldLayoutId id="2147483714" r:id="rId1"/>
    <p:sldLayoutId id="2147483734" r:id="rId2"/>
    <p:sldLayoutId id="2147483740" r:id="rId3"/>
    <p:sldLayoutId id="2147483741" r:id="rId4"/>
    <p:sldLayoutId id="2147483735" r:id="rId5"/>
    <p:sldLayoutId id="2147483738" r:id="rId6"/>
    <p:sldLayoutId id="2147483730" r:id="rId7"/>
    <p:sldLayoutId id="2147483731" r:id="rId8"/>
    <p:sldLayoutId id="2147483732" r:id="rId9"/>
    <p:sldLayoutId id="2147483736" r:id="rId10"/>
    <p:sldLayoutId id="2147483737" r:id="rId11"/>
    <p:sldLayoutId id="2147483733" r:id="rId12"/>
  </p:sldLayoutIdLst>
  <p:hf hdr="0" dt="0"/>
  <p:txStyles>
    <p:titleStyle>
      <a:lvl1pPr algn="l" defTabSz="914400" rtl="0" eaLnBrk="1" latinLnBrk="0" hangingPunct="1">
        <a:lnSpc>
          <a:spcPct val="90000"/>
        </a:lnSpc>
        <a:spcBef>
          <a:spcPct val="0"/>
        </a:spcBef>
        <a:buNone/>
        <a:defRPr sz="3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17">
            <a:extLst>
              <a:ext uri="{FF2B5EF4-FFF2-40B4-BE49-F238E27FC236}">
                <a16:creationId xmlns:a16="http://schemas.microsoft.com/office/drawing/2014/main" id="{0B4FB531-34DA-4777-9BD5-5B885DC381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15076"/>
            <a:ext cx="12188952" cy="1942924"/>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B512D56-3115-4658-A559-1918ADBF37B8}"/>
              </a:ext>
            </a:extLst>
          </p:cNvPr>
          <p:cNvSpPr>
            <a:spLocks noGrp="1"/>
          </p:cNvSpPr>
          <p:nvPr>
            <p:ph type="ctrTitle"/>
          </p:nvPr>
        </p:nvSpPr>
        <p:spPr>
          <a:xfrm>
            <a:off x="828675" y="5120639"/>
            <a:ext cx="7137263" cy="1280161"/>
          </a:xfrm>
        </p:spPr>
        <p:txBody>
          <a:bodyPr anchor="ctr">
            <a:normAutofit fontScale="90000"/>
          </a:bodyPr>
          <a:lstStyle/>
          <a:p>
            <a:pPr algn="ctr"/>
            <a:r>
              <a:rPr lang="en-US" sz="4800" dirty="0" smtClean="0">
                <a:solidFill>
                  <a:srgbClr val="FFFFFF"/>
                </a:solidFill>
              </a:rPr>
              <a:t>PARKING MANAGEMENT SYSTEM</a:t>
            </a:r>
            <a:endParaRPr lang="en-US" sz="4800" dirty="0">
              <a:solidFill>
                <a:srgbClr val="FFFFFF"/>
              </a:solidFill>
            </a:endParaRPr>
          </a:p>
        </p:txBody>
      </p:sp>
      <p:sp>
        <p:nvSpPr>
          <p:cNvPr id="3" name="Subtitle 2">
            <a:extLst>
              <a:ext uri="{FF2B5EF4-FFF2-40B4-BE49-F238E27FC236}">
                <a16:creationId xmlns:a16="http://schemas.microsoft.com/office/drawing/2014/main" id="{9548BE92-E817-4C9A-B197-64FAE3ED7D63}"/>
              </a:ext>
            </a:extLst>
          </p:cNvPr>
          <p:cNvSpPr>
            <a:spLocks noGrp="1"/>
          </p:cNvSpPr>
          <p:nvPr>
            <p:ph type="subTitle" idx="1"/>
          </p:nvPr>
        </p:nvSpPr>
        <p:spPr>
          <a:xfrm>
            <a:off x="8289580" y="5166359"/>
            <a:ext cx="3073745" cy="1188721"/>
          </a:xfrm>
        </p:spPr>
        <p:txBody>
          <a:bodyPr anchor="ctr">
            <a:normAutofit/>
          </a:bodyPr>
          <a:lstStyle/>
          <a:p>
            <a:r>
              <a:rPr lang="en-US" sz="1500" dirty="0" smtClean="0"/>
              <a:t>Presented by</a:t>
            </a:r>
          </a:p>
          <a:p>
            <a:r>
              <a:rPr lang="en-US" sz="1500" dirty="0" smtClean="0"/>
              <a:t>Ramla Kamran ct-25051</a:t>
            </a:r>
          </a:p>
          <a:p>
            <a:r>
              <a:rPr lang="en-US" sz="1500" dirty="0" smtClean="0"/>
              <a:t>Rushda abbasi ct25074</a:t>
            </a:r>
            <a:endParaRPr lang="en-US" sz="1500" dirty="0"/>
          </a:p>
        </p:txBody>
      </p:sp>
      <p:cxnSp>
        <p:nvCxnSpPr>
          <p:cNvPr id="25" name="Straight Connector 19">
            <a:extLst>
              <a:ext uri="{FF2B5EF4-FFF2-40B4-BE49-F238E27FC236}">
                <a16:creationId xmlns:a16="http://schemas.microsoft.com/office/drawing/2014/main" id="{D5B557D3-D7B4-404B-84A1-9BD182BE5B06}"/>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7532813" y="5760720"/>
            <a:ext cx="118872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0459" cy="4915075"/>
          </a:xfrm>
          <a:prstGeom prst="rect">
            <a:avLst/>
          </a:prstGeom>
        </p:spPr>
      </p:pic>
    </p:spTree>
    <p:extLst>
      <p:ext uri="{BB962C8B-B14F-4D97-AF65-F5344CB8AC3E}">
        <p14:creationId xmlns:p14="http://schemas.microsoft.com/office/powerpoint/2010/main" val="334068584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Man is writing something">
            <a:extLst>
              <a:ext uri="{FF2B5EF4-FFF2-40B4-BE49-F238E27FC236}">
                <a16:creationId xmlns:a16="http://schemas.microsoft.com/office/drawing/2014/main" id="{0A33CFDA-BCA7-49BA-9355-8A965303C939}"/>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a:stretch/>
        </p:blipFill>
        <p:spPr>
          <a:xfrm>
            <a:off x="9658" y="0"/>
            <a:ext cx="12173884" cy="6400800"/>
          </a:xfrm>
        </p:spPr>
      </p:pic>
      <p:sp>
        <p:nvSpPr>
          <p:cNvPr id="36" name="Text Placeholder 35">
            <a:extLst>
              <a:ext uri="{FF2B5EF4-FFF2-40B4-BE49-F238E27FC236}">
                <a16:creationId xmlns:a16="http://schemas.microsoft.com/office/drawing/2014/main" id="{D8BB1268-1039-4D54-B4AA-86EDC245C814}"/>
              </a:ext>
            </a:extLst>
          </p:cNvPr>
          <p:cNvSpPr>
            <a:spLocks noGrp="1"/>
          </p:cNvSpPr>
          <p:nvPr>
            <p:ph type="body" sz="quarter" idx="14"/>
          </p:nvPr>
        </p:nvSpPr>
        <p:spPr/>
        <p:txBody>
          <a:bodyPr/>
          <a:lstStyle/>
          <a:p>
            <a:pPr marL="0" indent="0">
              <a:buNone/>
            </a:pPr>
            <a:r>
              <a:rPr lang="en-US" b="1" dirty="0" smtClean="0"/>
              <a:t>INTRODUNCTION</a:t>
            </a:r>
            <a:endParaRPr lang="en-US" b="1" dirty="0"/>
          </a:p>
        </p:txBody>
      </p:sp>
      <p:sp>
        <p:nvSpPr>
          <p:cNvPr id="3" name="Title 2">
            <a:extLst>
              <a:ext uri="{FF2B5EF4-FFF2-40B4-BE49-F238E27FC236}">
                <a16:creationId xmlns:a16="http://schemas.microsoft.com/office/drawing/2014/main" id="{5D346076-8F22-4F03-8E34-958F0BBF9C63}"/>
              </a:ext>
            </a:extLst>
          </p:cNvPr>
          <p:cNvSpPr>
            <a:spLocks noGrp="1"/>
          </p:cNvSpPr>
          <p:nvPr>
            <p:ph type="title"/>
          </p:nvPr>
        </p:nvSpPr>
        <p:spPr>
          <a:xfrm>
            <a:off x="5356143" y="3975295"/>
            <a:ext cx="6835858" cy="1089350"/>
          </a:xfrm>
        </p:spPr>
        <p:txBody>
          <a:bodyPr/>
          <a:lstStyle/>
          <a:p>
            <a:r>
              <a:rPr lang="en-US" dirty="0" smtClean="0"/>
              <a:t>TASK 1 :</a:t>
            </a:r>
            <a:endParaRPr lang="en-US" dirty="0"/>
          </a:p>
        </p:txBody>
      </p:sp>
      <p:cxnSp>
        <p:nvCxnSpPr>
          <p:cNvPr id="24" name="Straight Connector 23" descr="Line">
            <a:extLst>
              <a:ext uri="{FF2B5EF4-FFF2-40B4-BE49-F238E27FC236}">
                <a16:creationId xmlns:a16="http://schemas.microsoft.com/office/drawing/2014/main" id="{D1EE87BC-47EA-4487-9066-EB3C39096F51}"/>
              </a:ext>
            </a:extLst>
          </p:cNvPr>
          <p:cNvCxnSpPr>
            <a:cxnSpLocks/>
          </p:cNvCxnSpPr>
          <p:nvPr/>
        </p:nvCxnSpPr>
        <p:spPr>
          <a:xfrm>
            <a:off x="5770474" y="4973957"/>
            <a:ext cx="3291840"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6CB6A36E-F0DA-4D85-BCF8-6898A25A79C2}"/>
              </a:ext>
            </a:extLst>
          </p:cNvPr>
          <p:cNvSpPr>
            <a:spLocks noGrp="1"/>
          </p:cNvSpPr>
          <p:nvPr>
            <p:ph type="sldNum" sz="quarter" idx="12"/>
          </p:nvPr>
        </p:nvSpPr>
        <p:spPr/>
        <p:txBody>
          <a:bodyPr/>
          <a:lstStyle/>
          <a:p>
            <a:fld id="{3A98EE3D-8CD1-4C3F-BD1C-C98C9596463C}" type="slidenum">
              <a:rPr lang="en-US" smtClean="0"/>
              <a:t>2</a:t>
            </a:fld>
            <a:endParaRPr lang="en-US" dirty="0"/>
          </a:p>
        </p:txBody>
      </p:sp>
    </p:spTree>
    <p:extLst>
      <p:ext uri="{BB962C8B-B14F-4D97-AF65-F5344CB8AC3E}">
        <p14:creationId xmlns:p14="http://schemas.microsoft.com/office/powerpoint/2010/main" val="22917201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descr="Man shows something on laptop">
            <a:extLst>
              <a:ext uri="{FF2B5EF4-FFF2-40B4-BE49-F238E27FC236}">
                <a16:creationId xmlns:a16="http://schemas.microsoft.com/office/drawing/2014/main" id="{22FB2237-B866-4C19-BF30-A9BFA8E15C02}"/>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211" y="0"/>
            <a:ext cx="12187578" cy="6408000"/>
          </a:xfrm>
        </p:spPr>
      </p:pic>
      <p:sp>
        <p:nvSpPr>
          <p:cNvPr id="17" name="Slide Number Placeholder 16">
            <a:extLst>
              <a:ext uri="{FF2B5EF4-FFF2-40B4-BE49-F238E27FC236}">
                <a16:creationId xmlns:a16="http://schemas.microsoft.com/office/drawing/2014/main" id="{19D203D7-52C0-41AB-9238-F69D51235EC0}"/>
              </a:ext>
            </a:extLst>
          </p:cNvPr>
          <p:cNvSpPr>
            <a:spLocks noGrp="1"/>
          </p:cNvSpPr>
          <p:nvPr>
            <p:ph type="sldNum" sz="quarter" idx="12"/>
          </p:nvPr>
        </p:nvSpPr>
        <p:spPr/>
        <p:txBody>
          <a:bodyPr/>
          <a:lstStyle/>
          <a:p>
            <a:fld id="{3A98EE3D-8CD1-4C3F-BD1C-C98C9596463C}" type="slidenum">
              <a:rPr lang="en-US" smtClean="0"/>
              <a:pPr/>
              <a:t>3</a:t>
            </a:fld>
            <a:endParaRPr lang="en-US" dirty="0"/>
          </a:p>
        </p:txBody>
      </p:sp>
      <p:sp>
        <p:nvSpPr>
          <p:cNvPr id="5" name="Title 4">
            <a:extLst>
              <a:ext uri="{FF2B5EF4-FFF2-40B4-BE49-F238E27FC236}">
                <a16:creationId xmlns:a16="http://schemas.microsoft.com/office/drawing/2014/main" id="{8AD2E63C-40F7-4CF4-BE57-F002221AABF4}"/>
              </a:ext>
            </a:extLst>
          </p:cNvPr>
          <p:cNvSpPr>
            <a:spLocks noGrp="1"/>
          </p:cNvSpPr>
          <p:nvPr>
            <p:ph type="title"/>
          </p:nvPr>
        </p:nvSpPr>
        <p:spPr/>
        <p:txBody>
          <a:bodyPr/>
          <a:lstStyle/>
          <a:p>
            <a:r>
              <a:rPr lang="en-US" dirty="0" smtClean="0"/>
              <a:t>INTRODUCTION</a:t>
            </a:r>
            <a:endParaRPr lang="ru-RU" dirty="0"/>
          </a:p>
        </p:txBody>
      </p:sp>
      <p:sp>
        <p:nvSpPr>
          <p:cNvPr id="2" name="TextBox 1"/>
          <p:cNvSpPr txBox="1"/>
          <p:nvPr/>
        </p:nvSpPr>
        <p:spPr>
          <a:xfrm>
            <a:off x="1249680" y="2272436"/>
            <a:ext cx="9692640" cy="2769989"/>
          </a:xfrm>
          <a:prstGeom prst="rect">
            <a:avLst/>
          </a:prstGeom>
          <a:noFill/>
        </p:spPr>
        <p:txBody>
          <a:bodyPr wrap="square" rtlCol="0">
            <a:spAutoFit/>
          </a:bodyPr>
          <a:lstStyle/>
          <a:p>
            <a:pPr algn="ctr"/>
            <a:r>
              <a:rPr lang="en-US" sz="2400" b="1" dirty="0"/>
              <a:t>A Parking Management System in C++ is </a:t>
            </a:r>
            <a:r>
              <a:rPr lang="en-US" sz="2400" b="1" dirty="0"/>
              <a:t>a console-based application designed to automate the manual processes of a parking </a:t>
            </a:r>
            <a:r>
              <a:rPr lang="en-US" sz="2400" b="1" dirty="0" smtClean="0"/>
              <a:t>lot.</a:t>
            </a:r>
          </a:p>
          <a:p>
            <a:endParaRPr lang="en-US" dirty="0"/>
          </a:p>
          <a:p>
            <a:r>
              <a:rPr lang="en-US" b="1" dirty="0"/>
              <a:t>Automation:</a:t>
            </a:r>
            <a:r>
              <a:rPr lang="en-US" dirty="0"/>
              <a:t> Replace manual paper-based record-keeping with a digital system to reduce human error.</a:t>
            </a:r>
          </a:p>
          <a:p>
            <a:r>
              <a:rPr lang="en-US" b="1" dirty="0"/>
              <a:t>Space Optimization:</a:t>
            </a:r>
            <a:r>
              <a:rPr lang="en-US" dirty="0"/>
              <a:t> Track real-time availability of slots to prevent over-parking.</a:t>
            </a:r>
          </a:p>
          <a:p>
            <a:r>
              <a:rPr lang="en-US" b="1" dirty="0"/>
              <a:t>Revenue Tracking:</a:t>
            </a:r>
            <a:r>
              <a:rPr lang="en-US" dirty="0"/>
              <a:t> Automatically calculate and store parking charges based on vehicle type and duration</a:t>
            </a:r>
          </a:p>
          <a:p>
            <a:endParaRPr lang="en-US" dirty="0"/>
          </a:p>
        </p:txBody>
      </p:sp>
    </p:spTree>
    <p:extLst>
      <p:ext uri="{BB962C8B-B14F-4D97-AF65-F5344CB8AC3E}">
        <p14:creationId xmlns:p14="http://schemas.microsoft.com/office/powerpoint/2010/main" val="30075685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Man and woman discuss some document">
            <a:extLst>
              <a:ext uri="{FF2B5EF4-FFF2-40B4-BE49-F238E27FC236}">
                <a16:creationId xmlns:a16="http://schemas.microsoft.com/office/drawing/2014/main" id="{34A80249-1835-46E9-87C9-48F4BEE1EC64}"/>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0" y="21463"/>
            <a:ext cx="12187578" cy="6408000"/>
          </a:xfrm>
        </p:spPr>
      </p:pic>
      <p:sp>
        <p:nvSpPr>
          <p:cNvPr id="14" name="Slide Number Placeholder 13">
            <a:extLst>
              <a:ext uri="{FF2B5EF4-FFF2-40B4-BE49-F238E27FC236}">
                <a16:creationId xmlns:a16="http://schemas.microsoft.com/office/drawing/2014/main" id="{D59E194F-ECD6-4685-8562-5B7AB400EC93}"/>
              </a:ext>
            </a:extLst>
          </p:cNvPr>
          <p:cNvSpPr>
            <a:spLocks noGrp="1"/>
          </p:cNvSpPr>
          <p:nvPr>
            <p:ph type="sldNum" sz="quarter" idx="12"/>
          </p:nvPr>
        </p:nvSpPr>
        <p:spPr/>
        <p:txBody>
          <a:bodyPr/>
          <a:lstStyle/>
          <a:p>
            <a:fld id="{3A98EE3D-8CD1-4C3F-BD1C-C98C9596463C}" type="slidenum">
              <a:rPr lang="en-US" smtClean="0"/>
              <a:pPr/>
              <a:t>4</a:t>
            </a:fld>
            <a:endParaRPr lang="en-US" dirty="0"/>
          </a:p>
        </p:txBody>
      </p:sp>
      <p:sp>
        <p:nvSpPr>
          <p:cNvPr id="2" name="Title 1">
            <a:extLst>
              <a:ext uri="{FF2B5EF4-FFF2-40B4-BE49-F238E27FC236}">
                <a16:creationId xmlns:a16="http://schemas.microsoft.com/office/drawing/2014/main" id="{EC6C92D3-8AE6-4260-8F63-97ED33A064D5}"/>
              </a:ext>
            </a:extLst>
          </p:cNvPr>
          <p:cNvSpPr>
            <a:spLocks noGrp="1"/>
          </p:cNvSpPr>
          <p:nvPr>
            <p:ph type="title"/>
          </p:nvPr>
        </p:nvSpPr>
        <p:spPr/>
        <p:txBody>
          <a:bodyPr/>
          <a:lstStyle/>
          <a:p>
            <a:r>
              <a:rPr lang="en-US" b="1" dirty="0" smtClean="0"/>
              <a:t>INTRODUNCTION OF DESIGN PATTERNS:</a:t>
            </a:r>
            <a:endParaRPr lang="en-US" b="1" dirty="0"/>
          </a:p>
        </p:txBody>
      </p:sp>
      <p:sp>
        <p:nvSpPr>
          <p:cNvPr id="8" name="Rectangle 4"/>
          <p:cNvSpPr>
            <a:spLocks noChangeArrowheads="1"/>
          </p:cNvSpPr>
          <p:nvPr/>
        </p:nvSpPr>
        <p:spPr bwMode="auto">
          <a:xfrm>
            <a:off x="0" y="-54124"/>
            <a:ext cx="65" cy="565449"/>
          </a:xfrm>
          <a:prstGeom prst="rect">
            <a:avLst/>
          </a:prstGeom>
          <a:solidFill>
            <a:srgbClr val="F0F2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9"/>
          <p:cNvSpPr>
            <a:spLocks noChangeArrowheads="1"/>
          </p:cNvSpPr>
          <p:nvPr/>
        </p:nvSpPr>
        <p:spPr bwMode="auto">
          <a:xfrm>
            <a:off x="0" y="-541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TextBox 5"/>
          <p:cNvSpPr txBox="1"/>
          <p:nvPr/>
        </p:nvSpPr>
        <p:spPr>
          <a:xfrm>
            <a:off x="104503" y="1436914"/>
            <a:ext cx="11834948" cy="369332"/>
          </a:xfrm>
          <a:prstGeom prst="rect">
            <a:avLst/>
          </a:prstGeom>
          <a:noFill/>
        </p:spPr>
        <p:txBody>
          <a:bodyPr wrap="square" rtlCol="0">
            <a:spAutoFit/>
          </a:bodyPr>
          <a:lstStyle/>
          <a:p>
            <a:endParaRPr lang="en-US" dirty="0"/>
          </a:p>
        </p:txBody>
      </p:sp>
      <p:sp>
        <p:nvSpPr>
          <p:cNvPr id="3" name="TextBox 2"/>
          <p:cNvSpPr txBox="1"/>
          <p:nvPr/>
        </p:nvSpPr>
        <p:spPr>
          <a:xfrm>
            <a:off x="509451" y="1736669"/>
            <a:ext cx="3191181" cy="2308324"/>
          </a:xfrm>
          <a:prstGeom prst="rect">
            <a:avLst/>
          </a:prstGeom>
          <a:solidFill>
            <a:schemeClr val="accent1">
              <a:lumMod val="20000"/>
              <a:lumOff val="80000"/>
            </a:schemeClr>
          </a:solidFill>
          <a:ln>
            <a:solidFill>
              <a:schemeClr val="tx1"/>
            </a:solidFill>
          </a:ln>
        </p:spPr>
        <p:txBody>
          <a:bodyPr wrap="square" rtlCol="0">
            <a:spAutoFit/>
          </a:bodyPr>
          <a:lstStyle/>
          <a:p>
            <a:r>
              <a:rPr lang="en-US" b="1" dirty="0"/>
              <a:t>Factory Pattern: </a:t>
            </a:r>
            <a:r>
              <a:rPr lang="en-US" dirty="0"/>
              <a:t>Acts as a centralized creator that generates different vehicle objects (like Car, Bike, or Bus) based on user input, ensuring the system can easily add new vehicle types without changing the main logic.</a:t>
            </a:r>
          </a:p>
        </p:txBody>
      </p:sp>
      <p:sp>
        <p:nvSpPr>
          <p:cNvPr id="11" name="TextBox 10"/>
          <p:cNvSpPr txBox="1"/>
          <p:nvPr/>
        </p:nvSpPr>
        <p:spPr>
          <a:xfrm>
            <a:off x="3802924" y="1628641"/>
            <a:ext cx="3383280" cy="2585323"/>
          </a:xfrm>
          <a:prstGeom prst="rect">
            <a:avLst/>
          </a:prstGeom>
          <a:solidFill>
            <a:schemeClr val="accent1">
              <a:lumMod val="20000"/>
              <a:lumOff val="80000"/>
            </a:schemeClr>
          </a:solidFill>
          <a:ln>
            <a:solidFill>
              <a:schemeClr val="tx1"/>
            </a:solidFill>
          </a:ln>
        </p:spPr>
        <p:txBody>
          <a:bodyPr wrap="square" rtlCol="0">
            <a:spAutoFit/>
          </a:bodyPr>
          <a:lstStyle/>
          <a:p>
            <a:r>
              <a:rPr lang="en-US" b="1" dirty="0"/>
              <a:t>State Pattern: </a:t>
            </a:r>
            <a:r>
              <a:rPr lang="en-US" dirty="0"/>
              <a:t>Manages the status of individual parking slots (such as Empty, Occupied, or Under Maintenance), allowing a slot’s behavior to change automatically—for instance, preventing a car from parking in a spot already marked as "Occupied."</a:t>
            </a:r>
          </a:p>
        </p:txBody>
      </p:sp>
      <p:sp>
        <p:nvSpPr>
          <p:cNvPr id="16" name="TextBox 15"/>
          <p:cNvSpPr txBox="1"/>
          <p:nvPr/>
        </p:nvSpPr>
        <p:spPr>
          <a:xfrm>
            <a:off x="7288496" y="1745332"/>
            <a:ext cx="3435531" cy="2373868"/>
          </a:xfrm>
          <a:prstGeom prst="rect">
            <a:avLst/>
          </a:prstGeom>
          <a:solidFill>
            <a:schemeClr val="accent1">
              <a:lumMod val="20000"/>
              <a:lumOff val="80000"/>
            </a:schemeClr>
          </a:solidFill>
          <a:ln>
            <a:solidFill>
              <a:schemeClr val="tx1"/>
            </a:solidFill>
          </a:ln>
        </p:spPr>
        <p:txBody>
          <a:bodyPr wrap="square" rtlCol="0">
            <a:spAutoFit/>
          </a:bodyPr>
          <a:lstStyle/>
          <a:p>
            <a:r>
              <a:rPr lang="en-US" b="1" dirty="0"/>
              <a:t>Singleton Pattern: </a:t>
            </a:r>
            <a:endParaRPr lang="en-US" b="1" dirty="0" smtClean="0"/>
          </a:p>
          <a:p>
            <a:r>
              <a:rPr lang="en-US" dirty="0" smtClean="0"/>
              <a:t>Ensures </a:t>
            </a:r>
            <a:r>
              <a:rPr lang="en-US" dirty="0"/>
              <a:t>that there is only one instance of the ParkingManager or Database throughout the entire program's execution, preventing data conflicts and ensuring every part of the system looks at the same "master list" of vehicles.</a:t>
            </a:r>
          </a:p>
        </p:txBody>
      </p:sp>
      <p:sp>
        <p:nvSpPr>
          <p:cNvPr id="17" name="TextBox 16"/>
          <p:cNvSpPr txBox="1"/>
          <p:nvPr/>
        </p:nvSpPr>
        <p:spPr>
          <a:xfrm>
            <a:off x="2105041" y="4425282"/>
            <a:ext cx="7282541" cy="1200329"/>
          </a:xfrm>
          <a:prstGeom prst="rect">
            <a:avLst/>
          </a:prstGeom>
          <a:solidFill>
            <a:schemeClr val="accent1">
              <a:lumMod val="20000"/>
              <a:lumOff val="80000"/>
            </a:schemeClr>
          </a:solidFill>
          <a:ln>
            <a:solidFill>
              <a:schemeClr val="tx1"/>
            </a:solidFill>
          </a:ln>
        </p:spPr>
        <p:txBody>
          <a:bodyPr wrap="square" rtlCol="0">
            <a:spAutoFit/>
          </a:bodyPr>
          <a:lstStyle/>
          <a:p>
            <a:r>
              <a:rPr lang="en-US" b="1" dirty="0"/>
              <a:t>Command Pattern:</a:t>
            </a:r>
            <a:r>
              <a:rPr lang="en-US" dirty="0"/>
              <a:t> Turns actions—like "Park Vehicle," "</a:t>
            </a:r>
            <a:r>
              <a:rPr lang="en-US" dirty="0" err="1"/>
              <a:t>Unpark</a:t>
            </a:r>
            <a:r>
              <a:rPr lang="en-US" dirty="0"/>
              <a:t> Vehicle," or "Generate Bill"—into standalone objects. This makes it easy to keep a history of actions, implement an "Undo" feature, or queue up tasks for the system to process.</a:t>
            </a:r>
          </a:p>
        </p:txBody>
      </p:sp>
    </p:spTree>
    <p:extLst>
      <p:ext uri="{BB962C8B-B14F-4D97-AF65-F5344CB8AC3E}">
        <p14:creationId xmlns:p14="http://schemas.microsoft.com/office/powerpoint/2010/main" val="20758275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Man is writing something">
            <a:extLst>
              <a:ext uri="{FF2B5EF4-FFF2-40B4-BE49-F238E27FC236}">
                <a16:creationId xmlns:a16="http://schemas.microsoft.com/office/drawing/2014/main" id="{0A33CFDA-BCA7-49BA-9355-8A965303C939}"/>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a:stretch/>
        </p:blipFill>
        <p:spPr>
          <a:xfrm>
            <a:off x="9658" y="0"/>
            <a:ext cx="12173884" cy="6400800"/>
          </a:xfrm>
        </p:spPr>
      </p:pic>
      <p:sp>
        <p:nvSpPr>
          <p:cNvPr id="36" name="Text Placeholder 35">
            <a:extLst>
              <a:ext uri="{FF2B5EF4-FFF2-40B4-BE49-F238E27FC236}">
                <a16:creationId xmlns:a16="http://schemas.microsoft.com/office/drawing/2014/main" id="{D8BB1268-1039-4D54-B4AA-86EDC245C814}"/>
              </a:ext>
            </a:extLst>
          </p:cNvPr>
          <p:cNvSpPr>
            <a:spLocks noGrp="1"/>
          </p:cNvSpPr>
          <p:nvPr>
            <p:ph type="body" sz="quarter" idx="14"/>
          </p:nvPr>
        </p:nvSpPr>
        <p:spPr/>
        <p:txBody>
          <a:bodyPr/>
          <a:lstStyle/>
          <a:p>
            <a:pPr marL="0" indent="0">
              <a:buNone/>
            </a:pPr>
            <a:r>
              <a:rPr lang="en-US" dirty="0" smtClean="0"/>
              <a:t>UML DIAGRAM</a:t>
            </a:r>
            <a:endParaRPr lang="en-US" dirty="0"/>
          </a:p>
        </p:txBody>
      </p:sp>
      <p:sp>
        <p:nvSpPr>
          <p:cNvPr id="3" name="Title 2">
            <a:extLst>
              <a:ext uri="{FF2B5EF4-FFF2-40B4-BE49-F238E27FC236}">
                <a16:creationId xmlns:a16="http://schemas.microsoft.com/office/drawing/2014/main" id="{5D346076-8F22-4F03-8E34-958F0BBF9C63}"/>
              </a:ext>
            </a:extLst>
          </p:cNvPr>
          <p:cNvSpPr>
            <a:spLocks noGrp="1"/>
          </p:cNvSpPr>
          <p:nvPr>
            <p:ph type="title"/>
          </p:nvPr>
        </p:nvSpPr>
        <p:spPr>
          <a:xfrm>
            <a:off x="5356143" y="3975295"/>
            <a:ext cx="6835858" cy="1089350"/>
          </a:xfrm>
        </p:spPr>
        <p:txBody>
          <a:bodyPr/>
          <a:lstStyle/>
          <a:p>
            <a:r>
              <a:rPr lang="en-US" dirty="0" smtClean="0"/>
              <a:t>TASK </a:t>
            </a:r>
            <a:r>
              <a:rPr lang="en-US" dirty="0" smtClean="0"/>
              <a:t>2 </a:t>
            </a:r>
            <a:r>
              <a:rPr lang="en-US" dirty="0" smtClean="0"/>
              <a:t>:</a:t>
            </a:r>
            <a:endParaRPr lang="en-US" dirty="0"/>
          </a:p>
        </p:txBody>
      </p:sp>
      <p:cxnSp>
        <p:nvCxnSpPr>
          <p:cNvPr id="24" name="Straight Connector 23" descr="Line">
            <a:extLst>
              <a:ext uri="{FF2B5EF4-FFF2-40B4-BE49-F238E27FC236}">
                <a16:creationId xmlns:a16="http://schemas.microsoft.com/office/drawing/2014/main" id="{D1EE87BC-47EA-4487-9066-EB3C39096F51}"/>
              </a:ext>
            </a:extLst>
          </p:cNvPr>
          <p:cNvCxnSpPr>
            <a:cxnSpLocks/>
          </p:cNvCxnSpPr>
          <p:nvPr/>
        </p:nvCxnSpPr>
        <p:spPr>
          <a:xfrm>
            <a:off x="5770474" y="4973957"/>
            <a:ext cx="3291840"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6CB6A36E-F0DA-4D85-BCF8-6898A25A79C2}"/>
              </a:ext>
            </a:extLst>
          </p:cNvPr>
          <p:cNvSpPr>
            <a:spLocks noGrp="1"/>
          </p:cNvSpPr>
          <p:nvPr>
            <p:ph type="sldNum" sz="quarter" idx="12"/>
          </p:nvPr>
        </p:nvSpPr>
        <p:spPr/>
        <p:txBody>
          <a:bodyPr/>
          <a:lstStyle/>
          <a:p>
            <a:fld id="{3A98EE3D-8CD1-4C3F-BD1C-C98C9596463C}" type="slidenum">
              <a:rPr lang="en-US" smtClean="0"/>
              <a:t>5</a:t>
            </a:fld>
            <a:endParaRPr lang="en-US" dirty="0"/>
          </a:p>
        </p:txBody>
      </p:sp>
    </p:spTree>
    <p:extLst>
      <p:ext uri="{BB962C8B-B14F-4D97-AF65-F5344CB8AC3E}">
        <p14:creationId xmlns:p14="http://schemas.microsoft.com/office/powerpoint/2010/main" val="23525209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Man and woman discuss some document">
            <a:extLst>
              <a:ext uri="{FF2B5EF4-FFF2-40B4-BE49-F238E27FC236}">
                <a16:creationId xmlns:a16="http://schemas.microsoft.com/office/drawing/2014/main" id="{34A80249-1835-46E9-87C9-48F4BEE1EC64}"/>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211" y="0"/>
            <a:ext cx="12187578" cy="6408000"/>
          </a:xfrm>
        </p:spPr>
      </p:pic>
      <p:sp>
        <p:nvSpPr>
          <p:cNvPr id="14" name="Slide Number Placeholder 13">
            <a:extLst>
              <a:ext uri="{FF2B5EF4-FFF2-40B4-BE49-F238E27FC236}">
                <a16:creationId xmlns:a16="http://schemas.microsoft.com/office/drawing/2014/main" id="{D59E194F-ECD6-4685-8562-5B7AB400EC93}"/>
              </a:ext>
            </a:extLst>
          </p:cNvPr>
          <p:cNvSpPr>
            <a:spLocks noGrp="1"/>
          </p:cNvSpPr>
          <p:nvPr>
            <p:ph type="sldNum" sz="quarter" idx="12"/>
          </p:nvPr>
        </p:nvSpPr>
        <p:spPr/>
        <p:txBody>
          <a:bodyPr/>
          <a:lstStyle/>
          <a:p>
            <a:fld id="{3A98EE3D-8CD1-4C3F-BD1C-C98C9596463C}" type="slidenum">
              <a:rPr lang="en-US" smtClean="0"/>
              <a:pPr/>
              <a:t>6</a:t>
            </a:fld>
            <a:endParaRPr lang="en-US" dirty="0"/>
          </a:p>
        </p:txBody>
      </p:sp>
      <p:sp>
        <p:nvSpPr>
          <p:cNvPr id="2" name="Title 1">
            <a:extLst>
              <a:ext uri="{FF2B5EF4-FFF2-40B4-BE49-F238E27FC236}">
                <a16:creationId xmlns:a16="http://schemas.microsoft.com/office/drawing/2014/main" id="{EC6C92D3-8AE6-4260-8F63-97ED33A064D5}"/>
              </a:ext>
            </a:extLst>
          </p:cNvPr>
          <p:cNvSpPr>
            <a:spLocks noGrp="1"/>
          </p:cNvSpPr>
          <p:nvPr>
            <p:ph type="title"/>
          </p:nvPr>
        </p:nvSpPr>
        <p:spPr/>
        <p:txBody>
          <a:bodyPr/>
          <a:lstStyle/>
          <a:p>
            <a:r>
              <a:rPr lang="en-US" dirty="0" smtClean="0"/>
              <a:t>UML DIAGRAM:</a:t>
            </a:r>
            <a:endParaRPr lang="en-US" dirty="0"/>
          </a:p>
        </p:txBody>
      </p:sp>
      <p:sp>
        <p:nvSpPr>
          <p:cNvPr id="8" name="Rectangle 4"/>
          <p:cNvSpPr>
            <a:spLocks noChangeArrowheads="1"/>
          </p:cNvSpPr>
          <p:nvPr/>
        </p:nvSpPr>
        <p:spPr bwMode="auto">
          <a:xfrm>
            <a:off x="0" y="-54124"/>
            <a:ext cx="65" cy="565449"/>
          </a:xfrm>
          <a:prstGeom prst="rect">
            <a:avLst/>
          </a:prstGeom>
          <a:solidFill>
            <a:srgbClr val="F0F2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9"/>
          <p:cNvSpPr>
            <a:spLocks noChangeArrowheads="1"/>
          </p:cNvSpPr>
          <p:nvPr/>
        </p:nvSpPr>
        <p:spPr bwMode="auto">
          <a:xfrm>
            <a:off x="0" y="-541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5" name="Content Placeholder 4"/>
          <p:cNvPicPr>
            <a:picLocks noGrp="1" noChangeAspect="1"/>
          </p:cNvPicPr>
          <p:nvPr>
            <p:ph sz="half" idx="1"/>
          </p:nvPr>
        </p:nvPicPr>
        <p:blipFill>
          <a:blip r:embed="rId4">
            <a:extLst>
              <a:ext uri="{28A0092B-C50C-407E-A947-70E740481C1C}">
                <a14:useLocalDpi xmlns:a14="http://schemas.microsoft.com/office/drawing/2010/main" val="0"/>
              </a:ext>
            </a:extLst>
          </a:blip>
          <a:stretch>
            <a:fillRect/>
          </a:stretch>
        </p:blipFill>
        <p:spPr>
          <a:xfrm>
            <a:off x="2181497" y="1418639"/>
            <a:ext cx="6557554" cy="486725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868077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Man is writing something">
            <a:extLst>
              <a:ext uri="{FF2B5EF4-FFF2-40B4-BE49-F238E27FC236}">
                <a16:creationId xmlns:a16="http://schemas.microsoft.com/office/drawing/2014/main" id="{0A33CFDA-BCA7-49BA-9355-8A965303C939}"/>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a:stretch/>
        </p:blipFill>
        <p:spPr>
          <a:xfrm>
            <a:off x="9658" y="0"/>
            <a:ext cx="12173884" cy="6400800"/>
          </a:xfrm>
        </p:spPr>
      </p:pic>
      <p:sp>
        <p:nvSpPr>
          <p:cNvPr id="36" name="Text Placeholder 35">
            <a:extLst>
              <a:ext uri="{FF2B5EF4-FFF2-40B4-BE49-F238E27FC236}">
                <a16:creationId xmlns:a16="http://schemas.microsoft.com/office/drawing/2014/main" id="{D8BB1268-1039-4D54-B4AA-86EDC245C814}"/>
              </a:ext>
            </a:extLst>
          </p:cNvPr>
          <p:cNvSpPr>
            <a:spLocks noGrp="1"/>
          </p:cNvSpPr>
          <p:nvPr>
            <p:ph type="body" sz="quarter" idx="14"/>
          </p:nvPr>
        </p:nvSpPr>
        <p:spPr/>
        <p:txBody>
          <a:bodyPr/>
          <a:lstStyle/>
          <a:p>
            <a:pPr marL="0" indent="0">
              <a:buNone/>
            </a:pPr>
            <a:r>
              <a:rPr lang="en-US" dirty="0" smtClean="0"/>
              <a:t>Design Pattern Identification</a:t>
            </a:r>
            <a:endParaRPr lang="en-US" dirty="0"/>
          </a:p>
        </p:txBody>
      </p:sp>
      <p:sp>
        <p:nvSpPr>
          <p:cNvPr id="3" name="Title 2">
            <a:extLst>
              <a:ext uri="{FF2B5EF4-FFF2-40B4-BE49-F238E27FC236}">
                <a16:creationId xmlns:a16="http://schemas.microsoft.com/office/drawing/2014/main" id="{5D346076-8F22-4F03-8E34-958F0BBF9C63}"/>
              </a:ext>
            </a:extLst>
          </p:cNvPr>
          <p:cNvSpPr>
            <a:spLocks noGrp="1"/>
          </p:cNvSpPr>
          <p:nvPr>
            <p:ph type="title"/>
          </p:nvPr>
        </p:nvSpPr>
        <p:spPr>
          <a:xfrm>
            <a:off x="5356143" y="3975295"/>
            <a:ext cx="6835858" cy="1089350"/>
          </a:xfrm>
        </p:spPr>
        <p:txBody>
          <a:bodyPr/>
          <a:lstStyle/>
          <a:p>
            <a:r>
              <a:rPr lang="en-US" dirty="0" smtClean="0"/>
              <a:t>TASK 2 :</a:t>
            </a:r>
            <a:endParaRPr lang="en-US" dirty="0"/>
          </a:p>
        </p:txBody>
      </p:sp>
      <p:cxnSp>
        <p:nvCxnSpPr>
          <p:cNvPr id="24" name="Straight Connector 23" descr="Line">
            <a:extLst>
              <a:ext uri="{FF2B5EF4-FFF2-40B4-BE49-F238E27FC236}">
                <a16:creationId xmlns:a16="http://schemas.microsoft.com/office/drawing/2014/main" id="{D1EE87BC-47EA-4487-9066-EB3C39096F51}"/>
              </a:ext>
            </a:extLst>
          </p:cNvPr>
          <p:cNvCxnSpPr>
            <a:cxnSpLocks/>
          </p:cNvCxnSpPr>
          <p:nvPr/>
        </p:nvCxnSpPr>
        <p:spPr>
          <a:xfrm>
            <a:off x="5770474" y="4973957"/>
            <a:ext cx="3291840"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6CB6A36E-F0DA-4D85-BCF8-6898A25A79C2}"/>
              </a:ext>
            </a:extLst>
          </p:cNvPr>
          <p:cNvSpPr>
            <a:spLocks noGrp="1"/>
          </p:cNvSpPr>
          <p:nvPr>
            <p:ph type="sldNum" sz="quarter" idx="12"/>
          </p:nvPr>
        </p:nvSpPr>
        <p:spPr/>
        <p:txBody>
          <a:bodyPr/>
          <a:lstStyle/>
          <a:p>
            <a:fld id="{3A98EE3D-8CD1-4C3F-BD1C-C98C9596463C}" type="slidenum">
              <a:rPr lang="en-US" smtClean="0"/>
              <a:t>7</a:t>
            </a:fld>
            <a:endParaRPr lang="en-US" dirty="0"/>
          </a:p>
        </p:txBody>
      </p:sp>
    </p:spTree>
    <p:extLst>
      <p:ext uri="{BB962C8B-B14F-4D97-AF65-F5344CB8AC3E}">
        <p14:creationId xmlns:p14="http://schemas.microsoft.com/office/powerpoint/2010/main" val="6167502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mn-lt"/>
              </a:rPr>
              <a:t>FACTORY DESIGN PATTERN:</a:t>
            </a:r>
            <a:endParaRPr lang="en-US" b="1" dirty="0">
              <a:latin typeface="+mn-lt"/>
            </a:endParaRPr>
          </a:p>
        </p:txBody>
      </p:sp>
      <p:sp>
        <p:nvSpPr>
          <p:cNvPr id="4" name="Slide Number Placeholder 3"/>
          <p:cNvSpPr>
            <a:spLocks noGrp="1"/>
          </p:cNvSpPr>
          <p:nvPr>
            <p:ph type="sldNum" sz="quarter" idx="12"/>
          </p:nvPr>
        </p:nvSpPr>
        <p:spPr/>
        <p:txBody>
          <a:bodyPr/>
          <a:lstStyle/>
          <a:p>
            <a:fld id="{3A98EE3D-8CD1-4C3F-BD1C-C98C9596463C}" type="slidenum">
              <a:rPr lang="en-US" smtClean="0"/>
              <a:t>8</a:t>
            </a:fld>
            <a:endParaRPr lang="en-US" dirty="0"/>
          </a:p>
        </p:txBody>
      </p:sp>
      <p:sp>
        <p:nvSpPr>
          <p:cNvPr id="7" name="TextBox 6"/>
          <p:cNvSpPr txBox="1"/>
          <p:nvPr/>
        </p:nvSpPr>
        <p:spPr>
          <a:xfrm>
            <a:off x="883250" y="2106940"/>
            <a:ext cx="10486459" cy="3970318"/>
          </a:xfrm>
          <a:prstGeom prst="rect">
            <a:avLst/>
          </a:prstGeom>
          <a:noFill/>
        </p:spPr>
        <p:txBody>
          <a:bodyPr wrap="square" rtlCol="0">
            <a:spAutoFit/>
          </a:bodyPr>
          <a:lstStyle/>
          <a:p>
            <a:r>
              <a:rPr lang="en-US" b="1" dirty="0"/>
              <a:t>Pattern Name &amp; Category: </a:t>
            </a:r>
            <a:r>
              <a:rPr lang="en-US" dirty="0"/>
              <a:t>Factory Method (Creational Category).</a:t>
            </a:r>
          </a:p>
          <a:p>
            <a:r>
              <a:rPr lang="en-US" dirty="0"/>
              <a:t>Application in Project:</a:t>
            </a:r>
          </a:p>
          <a:p>
            <a:r>
              <a:rPr lang="en-US" b="1" dirty="0"/>
              <a:t>Module: </a:t>
            </a:r>
            <a:r>
              <a:rPr lang="en-US" dirty="0"/>
              <a:t>Vehicle Entry/Registration Module.</a:t>
            </a:r>
          </a:p>
          <a:p>
            <a:r>
              <a:rPr lang="en-US" b="1" dirty="0"/>
              <a:t>Classes Involved: </a:t>
            </a:r>
            <a:r>
              <a:rPr lang="en-US" dirty="0" err="1"/>
              <a:t>VehicleFactory</a:t>
            </a:r>
            <a:r>
              <a:rPr lang="en-US" dirty="0"/>
              <a:t> (The Creator), Vehicle (Abstract Base Class), and Car and Bike (Concrete Product Classes).</a:t>
            </a:r>
          </a:p>
          <a:p>
            <a:r>
              <a:rPr lang="en-US" b="1" dirty="0"/>
              <a:t>Specific Implementation: </a:t>
            </a:r>
            <a:r>
              <a:rPr lang="en-US" dirty="0"/>
              <a:t>When a vehicle arrives at the gate, the system doesn't need to know the specific details of a car vs. a bike. The ParkingManager simply calls </a:t>
            </a:r>
            <a:r>
              <a:rPr lang="en-US" dirty="0" err="1"/>
              <a:t>VehicleFactory</a:t>
            </a:r>
            <a:r>
              <a:rPr lang="en-US" dirty="0"/>
              <a:t>::</a:t>
            </a:r>
            <a:r>
              <a:rPr lang="en-US" dirty="0" err="1"/>
              <a:t>createVehicle</a:t>
            </a:r>
            <a:r>
              <a:rPr lang="en-US" dirty="0"/>
              <a:t>("car"), and the factory returns a pointer to a new Car object stored as a generic Vehicle*.</a:t>
            </a:r>
          </a:p>
          <a:p>
            <a:r>
              <a:rPr lang="en-US" b="1" dirty="0"/>
              <a:t>Why it is Appropriate: </a:t>
            </a:r>
            <a:r>
              <a:rPr lang="en-US" dirty="0"/>
              <a:t>It solves the problem of tight coupling. Instead of the main application logic being hardcoded to create specific classes (e.g., new Car()), the creation logic is hidden. This makes the system "Open-Closed"—if you want to add a Bus or Truck type later, you only update the Factory class rather than rewriting your entire entry logic.</a:t>
            </a:r>
          </a:p>
          <a:p>
            <a:r>
              <a:rPr lang="en-US" b="1" dirty="0"/>
              <a:t>OOP Principle Reinforced: </a:t>
            </a:r>
            <a:r>
              <a:rPr lang="en-US" dirty="0"/>
              <a:t>Polymorphism. It allows the system to treat all incoming objects as a generic Vehicle type while executing type-specific behaviors (like calculating different rates) at runtime.</a:t>
            </a:r>
          </a:p>
        </p:txBody>
      </p:sp>
    </p:spTree>
    <p:extLst>
      <p:ext uri="{BB962C8B-B14F-4D97-AF65-F5344CB8AC3E}">
        <p14:creationId xmlns:p14="http://schemas.microsoft.com/office/powerpoint/2010/main" val="10844469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 IMPLEMENTATION:</a:t>
            </a:r>
            <a:endParaRPr lang="en-US" b="1" dirty="0"/>
          </a:p>
        </p:txBody>
      </p:sp>
      <p:sp>
        <p:nvSpPr>
          <p:cNvPr id="4" name="Slide Number Placeholder 3"/>
          <p:cNvSpPr>
            <a:spLocks noGrp="1"/>
          </p:cNvSpPr>
          <p:nvPr>
            <p:ph type="sldNum" sz="quarter" idx="12"/>
          </p:nvPr>
        </p:nvSpPr>
        <p:spPr/>
        <p:txBody>
          <a:bodyPr/>
          <a:lstStyle/>
          <a:p>
            <a:fld id="{3A98EE3D-8CD1-4C3F-BD1C-C98C9596463C}" type="slidenum">
              <a:rPr lang="en-US" smtClean="0"/>
              <a:t>9</a:t>
            </a:fld>
            <a:endParaRPr lang="en-US" dirty="0"/>
          </a:p>
        </p:txBody>
      </p:sp>
      <p:sp>
        <p:nvSpPr>
          <p:cNvPr id="8" name="TextBox 7"/>
          <p:cNvSpPr txBox="1"/>
          <p:nvPr/>
        </p:nvSpPr>
        <p:spPr>
          <a:xfrm>
            <a:off x="3868719" y="2198380"/>
            <a:ext cx="4515522" cy="3970318"/>
          </a:xfrm>
          <a:prstGeom prst="rect">
            <a:avLst/>
          </a:prstGeom>
          <a:solidFill>
            <a:schemeClr val="accent1">
              <a:lumMod val="20000"/>
              <a:lumOff val="80000"/>
            </a:schemeClr>
          </a:solidFill>
          <a:ln>
            <a:solidFill>
              <a:schemeClr val="tx1"/>
            </a:solidFill>
          </a:ln>
          <a:effectLst>
            <a:outerShdw blurRad="50800" dist="38100" dir="8100000" algn="tr" rotWithShape="0">
              <a:prstClr val="black">
                <a:alpha val="40000"/>
              </a:prstClr>
            </a:outerShdw>
          </a:effectLst>
          <a:scene3d>
            <a:camera prst="orthographicFront"/>
            <a:lightRig rig="threePt" dir="t"/>
          </a:scene3d>
          <a:sp3d>
            <a:bevelT/>
          </a:sp3d>
        </p:spPr>
        <p:txBody>
          <a:bodyPr wrap="square" rtlCol="0">
            <a:spAutoFit/>
          </a:bodyPr>
          <a:lstStyle/>
          <a:p>
            <a:endParaRPr lang="en-US" dirty="0"/>
          </a:p>
          <a:p>
            <a:r>
              <a:rPr lang="en-US" b="1" dirty="0"/>
              <a:t>FACTORY:</a:t>
            </a:r>
          </a:p>
          <a:p>
            <a:r>
              <a:rPr lang="en-US" dirty="0"/>
              <a:t>class </a:t>
            </a:r>
            <a:r>
              <a:rPr lang="en-US" dirty="0" err="1"/>
              <a:t>VehicleFactory</a:t>
            </a:r>
            <a:r>
              <a:rPr lang="en-US" dirty="0"/>
              <a:t> {</a:t>
            </a:r>
          </a:p>
          <a:p>
            <a:r>
              <a:rPr lang="en-US" dirty="0"/>
              <a:t>public:</a:t>
            </a:r>
          </a:p>
          <a:p>
            <a:r>
              <a:rPr lang="en-US" dirty="0"/>
              <a:t>    static Vehicle* </a:t>
            </a:r>
            <a:r>
              <a:rPr lang="en-US" dirty="0" err="1"/>
              <a:t>createVehicle</a:t>
            </a:r>
            <a:r>
              <a:rPr lang="en-US" dirty="0"/>
              <a:t>(string type) {</a:t>
            </a:r>
          </a:p>
          <a:p>
            <a:r>
              <a:rPr lang="en-US" dirty="0"/>
              <a:t>        if (type == "car" || type == "Car" || type == "CAR")</a:t>
            </a:r>
          </a:p>
          <a:p>
            <a:r>
              <a:rPr lang="en-US" dirty="0"/>
              <a:t>            return new Car();</a:t>
            </a:r>
          </a:p>
          <a:p>
            <a:r>
              <a:rPr lang="en-US" dirty="0"/>
              <a:t>        else if (type == "bike" || type == "Bike" || type == "BIKE")</a:t>
            </a:r>
          </a:p>
          <a:p>
            <a:r>
              <a:rPr lang="en-US" dirty="0"/>
              <a:t>            return new Bike();</a:t>
            </a:r>
          </a:p>
          <a:p>
            <a:r>
              <a:rPr lang="en-US" dirty="0"/>
              <a:t>        return </a:t>
            </a:r>
            <a:r>
              <a:rPr lang="en-US" dirty="0" err="1"/>
              <a:t>nullptr</a:t>
            </a:r>
            <a:r>
              <a:rPr lang="en-US" dirty="0"/>
              <a:t>;</a:t>
            </a:r>
          </a:p>
          <a:p>
            <a:r>
              <a:rPr lang="en-US" dirty="0"/>
              <a:t>    }</a:t>
            </a:r>
          </a:p>
          <a:p>
            <a:r>
              <a:rPr lang="en-US" dirty="0"/>
              <a:t>}; </a:t>
            </a:r>
          </a:p>
        </p:txBody>
      </p:sp>
    </p:spTree>
    <p:extLst>
      <p:ext uri="{BB962C8B-B14F-4D97-AF65-F5344CB8AC3E}">
        <p14:creationId xmlns:p14="http://schemas.microsoft.com/office/powerpoint/2010/main" val="12881222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mn-lt"/>
              </a:rPr>
              <a:t>STATE DESIGN PATTERN:</a:t>
            </a:r>
            <a:endParaRPr lang="en-US" b="1" dirty="0">
              <a:latin typeface="+mn-lt"/>
            </a:endParaRPr>
          </a:p>
        </p:txBody>
      </p:sp>
      <p:sp>
        <p:nvSpPr>
          <p:cNvPr id="4" name="Slide Number Placeholder 3"/>
          <p:cNvSpPr>
            <a:spLocks noGrp="1"/>
          </p:cNvSpPr>
          <p:nvPr>
            <p:ph type="sldNum" sz="quarter" idx="12"/>
          </p:nvPr>
        </p:nvSpPr>
        <p:spPr/>
        <p:txBody>
          <a:bodyPr/>
          <a:lstStyle/>
          <a:p>
            <a:fld id="{3A98EE3D-8CD1-4C3F-BD1C-C98C9596463C}" type="slidenum">
              <a:rPr lang="en-US" smtClean="0"/>
              <a:t>10</a:t>
            </a:fld>
            <a:endParaRPr lang="en-US" dirty="0"/>
          </a:p>
        </p:txBody>
      </p:sp>
      <p:sp>
        <p:nvSpPr>
          <p:cNvPr id="6" name="TextBox 5"/>
          <p:cNvSpPr txBox="1"/>
          <p:nvPr/>
        </p:nvSpPr>
        <p:spPr>
          <a:xfrm>
            <a:off x="778747" y="1968440"/>
            <a:ext cx="10695465" cy="4478149"/>
          </a:xfrm>
          <a:prstGeom prst="rect">
            <a:avLst/>
          </a:prstGeom>
          <a:noFill/>
        </p:spPr>
        <p:txBody>
          <a:bodyPr wrap="square" rtlCol="0">
            <a:spAutoFit/>
          </a:bodyPr>
          <a:lstStyle/>
          <a:p>
            <a:r>
              <a:rPr lang="en-US" sz="1900" b="1" dirty="0"/>
              <a:t>Pattern Name &amp; Category: </a:t>
            </a:r>
            <a:r>
              <a:rPr lang="en-US" sz="1900" dirty="0"/>
              <a:t>State Pattern (Behavioral Category).</a:t>
            </a:r>
          </a:p>
          <a:p>
            <a:r>
              <a:rPr lang="en-US" sz="1900" dirty="0"/>
              <a:t>Application in Project:</a:t>
            </a:r>
          </a:p>
          <a:p>
            <a:r>
              <a:rPr lang="en-US" sz="1900" b="1" dirty="0"/>
              <a:t>Module: </a:t>
            </a:r>
            <a:r>
              <a:rPr lang="en-US" sz="1900" dirty="0"/>
              <a:t>Parking Space Management / Slot Tracking Module.</a:t>
            </a:r>
          </a:p>
          <a:p>
            <a:r>
              <a:rPr lang="en-US" sz="1900" b="1" dirty="0"/>
              <a:t>Classes Involved: </a:t>
            </a:r>
            <a:r>
              <a:rPr lang="en-US" sz="1900" dirty="0"/>
              <a:t>SlotState (Abstract State), </a:t>
            </a:r>
            <a:r>
              <a:rPr lang="en-US" sz="1900" dirty="0" err="1"/>
              <a:t>AvailableState</a:t>
            </a:r>
            <a:r>
              <a:rPr lang="en-US" sz="1900" dirty="0"/>
              <a:t> and </a:t>
            </a:r>
            <a:r>
              <a:rPr lang="en-US" sz="1900" dirty="0" err="1"/>
              <a:t>OccupiedState</a:t>
            </a:r>
            <a:r>
              <a:rPr lang="en-US" sz="1900" dirty="0"/>
              <a:t> (Concrete States), and </a:t>
            </a:r>
            <a:r>
              <a:rPr lang="en-US" sz="1900" dirty="0" err="1" smtClean="0"/>
              <a:t>ParkingSlot</a:t>
            </a:r>
            <a:r>
              <a:rPr lang="en-US" sz="1900" dirty="0" smtClean="0"/>
              <a:t>.</a:t>
            </a:r>
            <a:endParaRPr lang="en-US" sz="1900" dirty="0"/>
          </a:p>
          <a:p>
            <a:r>
              <a:rPr lang="en-US" sz="1900" b="1" dirty="0"/>
              <a:t>Specific Implementation: </a:t>
            </a:r>
            <a:r>
              <a:rPr lang="en-US" sz="1900" dirty="0"/>
              <a:t>Each </a:t>
            </a:r>
            <a:r>
              <a:rPr lang="en-US" sz="1900" dirty="0" err="1"/>
              <a:t>ParkingSlot</a:t>
            </a:r>
            <a:r>
              <a:rPr lang="en-US" sz="1900" dirty="0"/>
              <a:t> object holds a pointer to a SlotState. When a vehicle is parked or removed, the </a:t>
            </a:r>
            <a:r>
              <a:rPr lang="en-US" sz="1900" dirty="0" err="1"/>
              <a:t>ParkingSlot</a:t>
            </a:r>
            <a:r>
              <a:rPr lang="en-US" sz="1900" dirty="0"/>
              <a:t> doesn't just flip a </a:t>
            </a:r>
            <a:r>
              <a:rPr lang="en-US" sz="1900" dirty="0" err="1"/>
              <a:t>boolean</a:t>
            </a:r>
            <a:r>
              <a:rPr lang="en-US" sz="1900" dirty="0"/>
              <a:t>; it swaps its state object. For example, calling </a:t>
            </a:r>
            <a:r>
              <a:rPr lang="en-US" sz="1900" dirty="0" err="1"/>
              <a:t>parkVehicle</a:t>
            </a:r>
            <a:r>
              <a:rPr lang="en-US" sz="1900" dirty="0"/>
              <a:t>() transitions the slot from an </a:t>
            </a:r>
            <a:r>
              <a:rPr lang="en-US" sz="1900" dirty="0" err="1"/>
              <a:t>AvailableState</a:t>
            </a:r>
            <a:r>
              <a:rPr lang="en-US" sz="1900" dirty="0"/>
              <a:t> instance to an </a:t>
            </a:r>
            <a:r>
              <a:rPr lang="en-US" sz="1900" dirty="0" err="1"/>
              <a:t>OccupiedState</a:t>
            </a:r>
            <a:r>
              <a:rPr lang="en-US" sz="1900" dirty="0"/>
              <a:t> instance.</a:t>
            </a:r>
          </a:p>
          <a:p>
            <a:r>
              <a:rPr lang="en-US" sz="1900" b="1" dirty="0"/>
              <a:t>Why it is Appropriate: </a:t>
            </a:r>
            <a:r>
              <a:rPr lang="en-US" sz="1900" dirty="0"/>
              <a:t>It solves the problem of complex conditional logic (if-else/switch fatigue). Instead of having the </a:t>
            </a:r>
            <a:r>
              <a:rPr lang="en-US" sz="1900" dirty="0" err="1"/>
              <a:t>ParkingSlot</a:t>
            </a:r>
            <a:r>
              <a:rPr lang="en-US" sz="1900" dirty="0"/>
              <a:t> check if (</a:t>
            </a:r>
            <a:r>
              <a:rPr lang="en-US" sz="1900" dirty="0" err="1"/>
              <a:t>isOccupied</a:t>
            </a:r>
            <a:r>
              <a:rPr lang="en-US" sz="1900" dirty="0"/>
              <a:t>) before every action, the behavior is delegated to the state object itself. This makes it incredibly easy to add new states, such as </a:t>
            </a:r>
            <a:r>
              <a:rPr lang="en-US" sz="1900" dirty="0" err="1"/>
              <a:t>ReservedState</a:t>
            </a:r>
            <a:r>
              <a:rPr lang="en-US" sz="1900" dirty="0"/>
              <a:t> or </a:t>
            </a:r>
            <a:r>
              <a:rPr lang="en-US" sz="1900" dirty="0" err="1"/>
              <a:t>UnderMaintenanceState</a:t>
            </a:r>
            <a:r>
              <a:rPr lang="en-US" sz="1900" dirty="0"/>
              <a:t>, without modifying the existing </a:t>
            </a:r>
            <a:r>
              <a:rPr lang="en-US" sz="1900" dirty="0" err="1"/>
              <a:t>ParkingSlot</a:t>
            </a:r>
            <a:r>
              <a:rPr lang="en-US" sz="1900" dirty="0"/>
              <a:t> code.</a:t>
            </a:r>
          </a:p>
          <a:p>
            <a:r>
              <a:rPr lang="en-US" sz="1900" b="1" dirty="0"/>
              <a:t>OOP Principle Reinforced: </a:t>
            </a:r>
            <a:r>
              <a:rPr lang="en-US" sz="1900" dirty="0"/>
              <a:t>Encapsulation. It encapsulates state-specific behavior into separate classes. It also follows the Single Responsibility Principle, as the </a:t>
            </a:r>
            <a:r>
              <a:rPr lang="en-US" sz="1900" dirty="0" err="1"/>
              <a:t>ParkingSlot</a:t>
            </a:r>
            <a:r>
              <a:rPr lang="en-US" sz="1900" dirty="0"/>
              <a:t> manages the slot data while the SlotState classes manage the rules governing those states. </a:t>
            </a:r>
          </a:p>
        </p:txBody>
      </p:sp>
    </p:spTree>
    <p:extLst>
      <p:ext uri="{BB962C8B-B14F-4D97-AF65-F5344CB8AC3E}">
        <p14:creationId xmlns:p14="http://schemas.microsoft.com/office/powerpoint/2010/main" val="3582318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IMPLEMENTATION:</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11</a:t>
            </a:fld>
            <a:endParaRPr lang="en-US" dirty="0"/>
          </a:p>
        </p:txBody>
      </p:sp>
      <p:sp>
        <p:nvSpPr>
          <p:cNvPr id="8" name="TextBox 7"/>
          <p:cNvSpPr txBox="1"/>
          <p:nvPr/>
        </p:nvSpPr>
        <p:spPr>
          <a:xfrm>
            <a:off x="1097280" y="2106940"/>
            <a:ext cx="4718765" cy="4493538"/>
          </a:xfrm>
          <a:prstGeom prst="rect">
            <a:avLst/>
          </a:prstGeom>
          <a:solidFill>
            <a:schemeClr val="accent1">
              <a:lumMod val="20000"/>
              <a:lumOff val="80000"/>
            </a:schemeClr>
          </a:solidFill>
          <a:ln>
            <a:solidFill>
              <a:schemeClr val="tx1"/>
            </a:solidFill>
          </a:ln>
          <a:effectLst>
            <a:outerShdw blurRad="50800" dist="38100" dir="8100000" algn="tr" rotWithShape="0">
              <a:prstClr val="black">
                <a:alpha val="40000"/>
              </a:prstClr>
            </a:outerShdw>
          </a:effectLst>
          <a:scene3d>
            <a:camera prst="obliqueTopLeft"/>
            <a:lightRig rig="threePt" dir="t"/>
          </a:scene3d>
          <a:sp3d>
            <a:bevelT/>
          </a:sp3d>
        </p:spPr>
        <p:txBody>
          <a:bodyPr wrap="square" rtlCol="0">
            <a:spAutoFit/>
          </a:bodyPr>
          <a:lstStyle/>
          <a:p>
            <a:r>
              <a:rPr lang="en-US" sz="1400" dirty="0" smtClean="0"/>
              <a:t>class </a:t>
            </a:r>
            <a:r>
              <a:rPr lang="en-US" sz="1400" dirty="0"/>
              <a:t>SlotState {</a:t>
            </a:r>
          </a:p>
          <a:p>
            <a:r>
              <a:rPr lang="en-US" sz="1400" dirty="0"/>
              <a:t>public:</a:t>
            </a:r>
          </a:p>
          <a:p>
            <a:r>
              <a:rPr lang="en-US" sz="1400" dirty="0"/>
              <a:t>    virtual string </a:t>
            </a:r>
            <a:r>
              <a:rPr lang="en-US" sz="1400" dirty="0" err="1"/>
              <a:t>getState</a:t>
            </a:r>
            <a:r>
              <a:rPr lang="en-US" sz="1400" dirty="0"/>
              <a:t>() = 0;</a:t>
            </a:r>
          </a:p>
          <a:p>
            <a:r>
              <a:rPr lang="en-US" sz="1400" dirty="0"/>
              <a:t>};</a:t>
            </a:r>
          </a:p>
          <a:p>
            <a:endParaRPr lang="en-US" sz="1400" dirty="0"/>
          </a:p>
          <a:p>
            <a:r>
              <a:rPr lang="en-US" sz="1400" dirty="0"/>
              <a:t>class </a:t>
            </a:r>
            <a:r>
              <a:rPr lang="en-US" sz="1400" dirty="0" err="1"/>
              <a:t>AvailableState</a:t>
            </a:r>
            <a:r>
              <a:rPr lang="en-US" sz="1400" dirty="0"/>
              <a:t> : public SlotState {</a:t>
            </a:r>
          </a:p>
          <a:p>
            <a:r>
              <a:rPr lang="en-US" sz="1400" dirty="0"/>
              <a:t>public:</a:t>
            </a:r>
          </a:p>
          <a:p>
            <a:r>
              <a:rPr lang="en-US" sz="1400" dirty="0"/>
              <a:t>    string </a:t>
            </a:r>
            <a:r>
              <a:rPr lang="en-US" sz="1400" dirty="0" err="1"/>
              <a:t>getState</a:t>
            </a:r>
            <a:r>
              <a:rPr lang="en-US" sz="1400" dirty="0"/>
              <a:t>() { return "Available"; }</a:t>
            </a:r>
          </a:p>
          <a:p>
            <a:r>
              <a:rPr lang="en-US" sz="1400" dirty="0"/>
              <a:t>};</a:t>
            </a:r>
          </a:p>
          <a:p>
            <a:endParaRPr lang="en-US" sz="1400" dirty="0"/>
          </a:p>
          <a:p>
            <a:r>
              <a:rPr lang="en-US" sz="1400" dirty="0"/>
              <a:t>class </a:t>
            </a:r>
            <a:r>
              <a:rPr lang="en-US" sz="1400" dirty="0" err="1"/>
              <a:t>OccupiedState</a:t>
            </a:r>
            <a:r>
              <a:rPr lang="en-US" sz="1400" dirty="0"/>
              <a:t> : public SlotState {</a:t>
            </a:r>
          </a:p>
          <a:p>
            <a:r>
              <a:rPr lang="en-US" sz="1400" dirty="0"/>
              <a:t>public:</a:t>
            </a:r>
          </a:p>
          <a:p>
            <a:r>
              <a:rPr lang="en-US" sz="1400" dirty="0"/>
              <a:t>    string </a:t>
            </a:r>
            <a:r>
              <a:rPr lang="en-US" sz="1400" dirty="0" err="1"/>
              <a:t>getState</a:t>
            </a:r>
            <a:r>
              <a:rPr lang="en-US" sz="1400" dirty="0"/>
              <a:t>() { return "Occupied"; }</a:t>
            </a:r>
          </a:p>
          <a:p>
            <a:r>
              <a:rPr lang="en-US" sz="1400" dirty="0" smtClean="0"/>
              <a:t>};</a:t>
            </a:r>
            <a:endParaRPr lang="en-US" sz="1400" dirty="0"/>
          </a:p>
          <a:p>
            <a:r>
              <a:rPr lang="en-US" sz="1400" dirty="0"/>
              <a:t>class </a:t>
            </a:r>
            <a:r>
              <a:rPr lang="en-US" sz="1400" dirty="0" err="1"/>
              <a:t>ParkingSlot</a:t>
            </a:r>
            <a:r>
              <a:rPr lang="en-US" sz="1400" dirty="0"/>
              <a:t> {</a:t>
            </a:r>
          </a:p>
          <a:p>
            <a:r>
              <a:rPr lang="en-US" sz="1400" dirty="0"/>
              <a:t>public:</a:t>
            </a:r>
          </a:p>
          <a:p>
            <a:r>
              <a:rPr lang="en-US" sz="1400" dirty="0"/>
              <a:t>    </a:t>
            </a:r>
            <a:r>
              <a:rPr lang="en-US" sz="1400" dirty="0" err="1"/>
              <a:t>int</a:t>
            </a:r>
            <a:r>
              <a:rPr lang="en-US" sz="1400" dirty="0"/>
              <a:t> </a:t>
            </a:r>
            <a:r>
              <a:rPr lang="en-US" sz="1400" dirty="0" err="1"/>
              <a:t>slotID</a:t>
            </a:r>
            <a:r>
              <a:rPr lang="en-US" sz="1400" dirty="0"/>
              <a:t>;</a:t>
            </a:r>
          </a:p>
          <a:p>
            <a:r>
              <a:rPr lang="en-US" sz="1400" dirty="0"/>
              <a:t>    Vehicle* vehicle;</a:t>
            </a:r>
          </a:p>
          <a:p>
            <a:r>
              <a:rPr lang="en-US" sz="1400" dirty="0"/>
              <a:t>    SlotState* state</a:t>
            </a:r>
            <a:r>
              <a:rPr lang="en-US" sz="1000" dirty="0"/>
              <a:t>;</a:t>
            </a:r>
          </a:p>
          <a:p>
            <a:endParaRPr lang="en-US" sz="1000" dirty="0"/>
          </a:p>
          <a:p>
            <a:r>
              <a:rPr lang="en-US" sz="1000" dirty="0"/>
              <a:t>    </a:t>
            </a:r>
          </a:p>
        </p:txBody>
      </p:sp>
      <p:sp>
        <p:nvSpPr>
          <p:cNvPr id="6" name="TextBox 5"/>
          <p:cNvSpPr txBox="1"/>
          <p:nvPr/>
        </p:nvSpPr>
        <p:spPr>
          <a:xfrm>
            <a:off x="6211831" y="2106940"/>
            <a:ext cx="4718765" cy="4555093"/>
          </a:xfrm>
          <a:prstGeom prst="rect">
            <a:avLst/>
          </a:prstGeom>
          <a:solidFill>
            <a:schemeClr val="accent1">
              <a:lumMod val="20000"/>
              <a:lumOff val="80000"/>
            </a:schemeClr>
          </a:solidFill>
          <a:ln>
            <a:solidFill>
              <a:schemeClr val="tx1"/>
            </a:solidFill>
          </a:ln>
          <a:effectLst>
            <a:outerShdw blurRad="50800" dist="38100" dir="10800000" algn="r" rotWithShape="0">
              <a:prstClr val="black">
                <a:alpha val="40000"/>
              </a:prstClr>
            </a:outerShdw>
          </a:effectLst>
          <a:scene3d>
            <a:camera prst="orthographicFront"/>
            <a:lightRig rig="threePt" dir="t"/>
          </a:scene3d>
          <a:sp3d>
            <a:bevelT/>
          </a:sp3d>
        </p:spPr>
        <p:txBody>
          <a:bodyPr wrap="square" rtlCol="0">
            <a:spAutoFit/>
          </a:bodyPr>
          <a:lstStyle/>
          <a:p>
            <a:r>
              <a:rPr lang="en-US" sz="1400" dirty="0" err="1"/>
              <a:t>ParkingSlot</a:t>
            </a:r>
            <a:r>
              <a:rPr lang="en-US" sz="1400" dirty="0"/>
              <a:t>(</a:t>
            </a:r>
            <a:r>
              <a:rPr lang="en-US" sz="1400" dirty="0" err="1"/>
              <a:t>int</a:t>
            </a:r>
            <a:r>
              <a:rPr lang="en-US" sz="1400" dirty="0"/>
              <a:t> id) {</a:t>
            </a:r>
          </a:p>
          <a:p>
            <a:r>
              <a:rPr lang="en-US" sz="1400" dirty="0"/>
              <a:t>        </a:t>
            </a:r>
            <a:r>
              <a:rPr lang="en-US" sz="1400" dirty="0" err="1"/>
              <a:t>slotID</a:t>
            </a:r>
            <a:r>
              <a:rPr lang="en-US" sz="1400" dirty="0"/>
              <a:t> = id;</a:t>
            </a:r>
          </a:p>
          <a:p>
            <a:r>
              <a:rPr lang="en-US" sz="1400" dirty="0"/>
              <a:t>        vehicle = </a:t>
            </a:r>
            <a:r>
              <a:rPr lang="en-US" sz="1400" dirty="0" err="1"/>
              <a:t>nullptr</a:t>
            </a:r>
            <a:r>
              <a:rPr lang="en-US" sz="1400" dirty="0"/>
              <a:t>;</a:t>
            </a:r>
          </a:p>
          <a:p>
            <a:r>
              <a:rPr lang="en-US" sz="1400" dirty="0"/>
              <a:t>        state = new </a:t>
            </a:r>
            <a:r>
              <a:rPr lang="en-US" sz="1400" dirty="0" err="1"/>
              <a:t>AvailableState</a:t>
            </a:r>
            <a:r>
              <a:rPr lang="en-US" sz="1400" dirty="0"/>
              <a:t>();</a:t>
            </a:r>
          </a:p>
          <a:p>
            <a:r>
              <a:rPr lang="en-US" sz="1400" dirty="0"/>
              <a:t>    }</a:t>
            </a:r>
          </a:p>
          <a:p>
            <a:endParaRPr lang="en-US" sz="1400" dirty="0"/>
          </a:p>
          <a:p>
            <a:r>
              <a:rPr lang="en-US" sz="1400" dirty="0"/>
              <a:t>    bool </a:t>
            </a:r>
            <a:r>
              <a:rPr lang="en-US" sz="1400" dirty="0" err="1"/>
              <a:t>isAvailable</a:t>
            </a:r>
            <a:r>
              <a:rPr lang="en-US" sz="1400" dirty="0"/>
              <a:t>() {</a:t>
            </a:r>
          </a:p>
          <a:p>
            <a:r>
              <a:rPr lang="en-US" sz="1400" dirty="0"/>
              <a:t>        return state-&gt;</a:t>
            </a:r>
            <a:r>
              <a:rPr lang="en-US" sz="1400" dirty="0" err="1"/>
              <a:t>getState</a:t>
            </a:r>
            <a:r>
              <a:rPr lang="en-US" sz="1400" dirty="0"/>
              <a:t>() == "Available";</a:t>
            </a:r>
          </a:p>
          <a:p>
            <a:r>
              <a:rPr lang="en-US" sz="1400" dirty="0"/>
              <a:t>    }</a:t>
            </a:r>
          </a:p>
          <a:p>
            <a:endParaRPr lang="en-US" sz="1400" dirty="0"/>
          </a:p>
          <a:p>
            <a:r>
              <a:rPr lang="en-US" sz="1400" dirty="0"/>
              <a:t>    void </a:t>
            </a:r>
            <a:r>
              <a:rPr lang="en-US" sz="1400" dirty="0" err="1"/>
              <a:t>parkVehicle</a:t>
            </a:r>
            <a:r>
              <a:rPr lang="en-US" sz="1400" dirty="0"/>
              <a:t>(Vehicle* v) {</a:t>
            </a:r>
          </a:p>
          <a:p>
            <a:r>
              <a:rPr lang="en-US" sz="1400" dirty="0"/>
              <a:t>        vehicle = v;</a:t>
            </a:r>
          </a:p>
          <a:p>
            <a:r>
              <a:rPr lang="en-US" sz="1400" dirty="0"/>
              <a:t>        state = new </a:t>
            </a:r>
            <a:r>
              <a:rPr lang="en-US" sz="1400" dirty="0" err="1"/>
              <a:t>OccupiedState</a:t>
            </a:r>
            <a:r>
              <a:rPr lang="en-US" sz="1400" dirty="0"/>
              <a:t>();</a:t>
            </a:r>
          </a:p>
          <a:p>
            <a:r>
              <a:rPr lang="en-US" sz="1400" dirty="0"/>
              <a:t>    </a:t>
            </a:r>
            <a:r>
              <a:rPr lang="en-US" sz="1400" dirty="0" smtClean="0"/>
              <a:t>}</a:t>
            </a:r>
          </a:p>
          <a:p>
            <a:endParaRPr lang="en-US" sz="1400" dirty="0"/>
          </a:p>
          <a:p>
            <a:r>
              <a:rPr lang="en-US" sz="1400" dirty="0"/>
              <a:t>    void </a:t>
            </a:r>
            <a:r>
              <a:rPr lang="en-US" sz="1400" dirty="0" err="1"/>
              <a:t>removeVehicle</a:t>
            </a:r>
            <a:r>
              <a:rPr lang="en-US" sz="1400" dirty="0"/>
              <a:t>() {</a:t>
            </a:r>
          </a:p>
          <a:p>
            <a:r>
              <a:rPr lang="en-US" sz="1400" dirty="0"/>
              <a:t>        vehicle = </a:t>
            </a:r>
            <a:r>
              <a:rPr lang="en-US" sz="1400" dirty="0" err="1"/>
              <a:t>nullptr</a:t>
            </a:r>
            <a:r>
              <a:rPr lang="en-US" sz="1400" dirty="0"/>
              <a:t>;</a:t>
            </a:r>
          </a:p>
          <a:p>
            <a:r>
              <a:rPr lang="en-US" sz="1400" dirty="0"/>
              <a:t>        state = new </a:t>
            </a:r>
            <a:r>
              <a:rPr lang="en-US" sz="1400" dirty="0" err="1"/>
              <a:t>AvailableState</a:t>
            </a:r>
            <a:r>
              <a:rPr lang="en-US" sz="1400" dirty="0"/>
              <a:t>();</a:t>
            </a:r>
          </a:p>
          <a:p>
            <a:r>
              <a:rPr lang="en-US" sz="1400" dirty="0"/>
              <a:t>    }</a:t>
            </a:r>
          </a:p>
          <a:p>
            <a:r>
              <a:rPr lang="en-US" sz="1400" dirty="0"/>
              <a:t>};</a:t>
            </a:r>
          </a:p>
          <a:p>
            <a:r>
              <a:rPr lang="en-US" sz="1000" dirty="0" smtClean="0"/>
              <a:t>    </a:t>
            </a:r>
            <a:endParaRPr lang="en-US" sz="1000" dirty="0"/>
          </a:p>
        </p:txBody>
      </p:sp>
    </p:spTree>
    <p:extLst>
      <p:ext uri="{BB962C8B-B14F-4D97-AF65-F5344CB8AC3E}">
        <p14:creationId xmlns:p14="http://schemas.microsoft.com/office/powerpoint/2010/main" val="41350083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mn-lt"/>
              </a:rPr>
              <a:t>SINGLETON DESIGN PATTERN:</a:t>
            </a:r>
            <a:endParaRPr lang="en-US" b="1" dirty="0">
              <a:latin typeface="+mn-lt"/>
            </a:endParaRPr>
          </a:p>
        </p:txBody>
      </p:sp>
      <p:sp>
        <p:nvSpPr>
          <p:cNvPr id="4" name="Slide Number Placeholder 3"/>
          <p:cNvSpPr>
            <a:spLocks noGrp="1"/>
          </p:cNvSpPr>
          <p:nvPr>
            <p:ph type="sldNum" sz="quarter" idx="12"/>
          </p:nvPr>
        </p:nvSpPr>
        <p:spPr/>
        <p:txBody>
          <a:bodyPr/>
          <a:lstStyle/>
          <a:p>
            <a:fld id="{3A98EE3D-8CD1-4C3F-BD1C-C98C9596463C}" type="slidenum">
              <a:rPr lang="en-US" smtClean="0"/>
              <a:t>12</a:t>
            </a:fld>
            <a:endParaRPr lang="en-US" dirty="0"/>
          </a:p>
        </p:txBody>
      </p:sp>
      <p:sp>
        <p:nvSpPr>
          <p:cNvPr id="5" name="TextBox 4"/>
          <p:cNvSpPr txBox="1"/>
          <p:nvPr/>
        </p:nvSpPr>
        <p:spPr>
          <a:xfrm>
            <a:off x="401683" y="2145412"/>
            <a:ext cx="11449594" cy="3893374"/>
          </a:xfrm>
          <a:prstGeom prst="rect">
            <a:avLst/>
          </a:prstGeom>
          <a:noFill/>
        </p:spPr>
        <p:txBody>
          <a:bodyPr wrap="square" rtlCol="0">
            <a:spAutoFit/>
          </a:bodyPr>
          <a:lstStyle/>
          <a:p>
            <a:r>
              <a:rPr lang="en-US" sz="1900" b="1" dirty="0"/>
              <a:t>Pattern Name &amp; Category: </a:t>
            </a:r>
            <a:r>
              <a:rPr lang="en-US" sz="1900" dirty="0"/>
              <a:t>Singleton Pattern (Creational Category).</a:t>
            </a:r>
          </a:p>
          <a:p>
            <a:r>
              <a:rPr lang="en-US" sz="1900" b="1" dirty="0"/>
              <a:t>Application in Project:</a:t>
            </a:r>
          </a:p>
          <a:p>
            <a:r>
              <a:rPr lang="en-US" sz="1900" b="1" dirty="0"/>
              <a:t>Module</a:t>
            </a:r>
            <a:r>
              <a:rPr lang="en-US" sz="1900" dirty="0"/>
              <a:t>: Central Controller / System Core.</a:t>
            </a:r>
          </a:p>
          <a:p>
            <a:r>
              <a:rPr lang="en-US" sz="1900" b="1" dirty="0"/>
              <a:t>Classes Involved: </a:t>
            </a:r>
            <a:r>
              <a:rPr lang="en-US" sz="1900" dirty="0"/>
              <a:t>ParkingManager.</a:t>
            </a:r>
          </a:p>
          <a:p>
            <a:r>
              <a:rPr lang="en-US" sz="1900" dirty="0"/>
              <a:t>Specific Implementation: The ParkingManager class has a private constructor and a static pointer object. The only way to access the manager is through the </a:t>
            </a:r>
            <a:r>
              <a:rPr lang="en-US" sz="1900" dirty="0" err="1"/>
              <a:t>getInstance</a:t>
            </a:r>
            <a:r>
              <a:rPr lang="en-US" sz="1900" dirty="0"/>
              <a:t>() method. This ensures that every part of the application—whether it's the entry gate or the exit billing—is interacting with the exact same </a:t>
            </a:r>
            <a:r>
              <a:rPr lang="en-US" sz="1900" dirty="0" err="1"/>
              <a:t>bikeSlots</a:t>
            </a:r>
            <a:r>
              <a:rPr lang="en-US" sz="1900" dirty="0"/>
              <a:t> and </a:t>
            </a:r>
            <a:r>
              <a:rPr lang="en-US" sz="1900" dirty="0" err="1"/>
              <a:t>carSlots</a:t>
            </a:r>
            <a:r>
              <a:rPr lang="en-US" sz="1900" dirty="0"/>
              <a:t> vectors.</a:t>
            </a:r>
          </a:p>
          <a:p>
            <a:r>
              <a:rPr lang="en-US" sz="1900" b="1" dirty="0"/>
              <a:t>Why it is Appropriate: </a:t>
            </a:r>
            <a:r>
              <a:rPr lang="en-US" sz="1900" dirty="0"/>
              <a:t>It solves the problem of resource conflict and data inconsistency. In a parking system, you cannot have two different "managers" tracking the same physical spots; otherwise, two different cars might be assigned to the same slot. This pattern provides a global point of access to the shared parking data while preventing multiple instances from being created.</a:t>
            </a:r>
          </a:p>
          <a:p>
            <a:r>
              <a:rPr lang="en-US" sz="1900" b="1" dirty="0"/>
              <a:t>OOP Principle Reinforced: </a:t>
            </a:r>
            <a:r>
              <a:rPr lang="en-US" sz="1900" dirty="0"/>
              <a:t>Encapsulation. It restricts the instantiation of the class and hides the complexity of managing global state within a single, controlled object. It also promotes Controlled Access to shared resources.</a:t>
            </a:r>
          </a:p>
        </p:txBody>
      </p:sp>
    </p:spTree>
    <p:extLst>
      <p:ext uri="{BB962C8B-B14F-4D97-AF65-F5344CB8AC3E}">
        <p14:creationId xmlns:p14="http://schemas.microsoft.com/office/powerpoint/2010/main" val="40298861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IMPLEMENTATION:</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13</a:t>
            </a:fld>
            <a:endParaRPr lang="en-US" dirty="0"/>
          </a:p>
        </p:txBody>
      </p:sp>
      <p:sp>
        <p:nvSpPr>
          <p:cNvPr id="9" name="TextBox 8"/>
          <p:cNvSpPr txBox="1"/>
          <p:nvPr/>
        </p:nvSpPr>
        <p:spPr>
          <a:xfrm>
            <a:off x="806824" y="2106940"/>
            <a:ext cx="3373291" cy="4124206"/>
          </a:xfrm>
          <a:prstGeom prst="rect">
            <a:avLst/>
          </a:prstGeom>
          <a:solidFill>
            <a:schemeClr val="accent1">
              <a:lumMod val="20000"/>
              <a:lumOff val="80000"/>
            </a:schemeClr>
          </a:solidFill>
          <a:ln>
            <a:solidFill>
              <a:schemeClr val="tx1"/>
            </a:solidFill>
          </a:ln>
          <a:effectLst>
            <a:outerShdw blurRad="50800" dist="38100" dir="10800000" algn="r" rotWithShape="0">
              <a:prstClr val="black">
                <a:alpha val="40000"/>
              </a:prstClr>
            </a:outerShdw>
          </a:effectLst>
          <a:scene3d>
            <a:camera prst="orthographicFront"/>
            <a:lightRig rig="threePt" dir="t"/>
          </a:scene3d>
          <a:sp3d>
            <a:bevelT/>
          </a:sp3d>
        </p:spPr>
        <p:txBody>
          <a:bodyPr wrap="square" rtlCol="0">
            <a:spAutoFit/>
          </a:bodyPr>
          <a:lstStyle/>
          <a:p>
            <a:r>
              <a:rPr lang="en-US" sz="1200" dirty="0" smtClean="0"/>
              <a:t>class ParkingManager {</a:t>
            </a:r>
          </a:p>
          <a:p>
            <a:r>
              <a:rPr lang="en-US" sz="1200" dirty="0" smtClean="0"/>
              <a:t>private:</a:t>
            </a:r>
          </a:p>
          <a:p>
            <a:r>
              <a:rPr lang="en-US" sz="1200" dirty="0" smtClean="0"/>
              <a:t>    static ParkingManager* object;</a:t>
            </a:r>
          </a:p>
          <a:p>
            <a:r>
              <a:rPr lang="en-US" sz="1200" dirty="0" smtClean="0"/>
              <a:t>    vector&lt;</a:t>
            </a:r>
            <a:r>
              <a:rPr lang="en-US" sz="1200" dirty="0" err="1" smtClean="0"/>
              <a:t>ParkingSlot</a:t>
            </a:r>
            <a:r>
              <a:rPr lang="en-US" sz="1200" dirty="0" smtClean="0"/>
              <a:t>&gt; </a:t>
            </a:r>
            <a:r>
              <a:rPr lang="en-US" sz="1200" dirty="0" err="1" smtClean="0"/>
              <a:t>bikeSlots</a:t>
            </a:r>
            <a:r>
              <a:rPr lang="en-US" sz="1200" dirty="0" smtClean="0"/>
              <a:t>;</a:t>
            </a:r>
          </a:p>
          <a:p>
            <a:r>
              <a:rPr lang="en-US" sz="1200" dirty="0" smtClean="0"/>
              <a:t>    vector&lt;</a:t>
            </a:r>
            <a:r>
              <a:rPr lang="en-US" sz="1200" dirty="0" err="1" smtClean="0"/>
              <a:t>ParkingSlot</a:t>
            </a:r>
            <a:r>
              <a:rPr lang="en-US" sz="1200" dirty="0" smtClean="0"/>
              <a:t>&gt; </a:t>
            </a:r>
            <a:r>
              <a:rPr lang="en-US" sz="1200" dirty="0" err="1" smtClean="0"/>
              <a:t>carSlots</a:t>
            </a:r>
            <a:r>
              <a:rPr lang="en-US" sz="1200" dirty="0" smtClean="0"/>
              <a:t>;</a:t>
            </a:r>
          </a:p>
          <a:p>
            <a:r>
              <a:rPr lang="en-US" sz="1200" dirty="0" smtClean="0"/>
              <a:t>    vector&lt;</a:t>
            </a:r>
            <a:r>
              <a:rPr lang="en-US" sz="1200" dirty="0" err="1" smtClean="0"/>
              <a:t>ParkingTicket</a:t>
            </a:r>
            <a:r>
              <a:rPr lang="en-US" sz="1200" dirty="0" smtClean="0"/>
              <a:t>*&gt; tickets;</a:t>
            </a:r>
          </a:p>
          <a:p>
            <a:r>
              <a:rPr lang="en-US" sz="1200" dirty="0" smtClean="0"/>
              <a:t>    </a:t>
            </a:r>
            <a:r>
              <a:rPr lang="en-US" sz="1200" dirty="0" err="1" smtClean="0"/>
              <a:t>int</a:t>
            </a:r>
            <a:r>
              <a:rPr lang="en-US" sz="1200" dirty="0" smtClean="0"/>
              <a:t> </a:t>
            </a:r>
            <a:r>
              <a:rPr lang="en-US" sz="1200" dirty="0" err="1" smtClean="0"/>
              <a:t>ticketCounter</a:t>
            </a:r>
            <a:r>
              <a:rPr lang="en-US" sz="1200" dirty="0" smtClean="0"/>
              <a:t>;</a:t>
            </a:r>
          </a:p>
          <a:p>
            <a:r>
              <a:rPr lang="en-US" sz="1200" dirty="0" smtClean="0"/>
              <a:t>    ParkingManager() {</a:t>
            </a:r>
          </a:p>
          <a:p>
            <a:r>
              <a:rPr lang="en-US" sz="1200" dirty="0" smtClean="0"/>
              <a:t>        </a:t>
            </a:r>
            <a:r>
              <a:rPr lang="en-US" sz="1200" dirty="0" err="1" smtClean="0"/>
              <a:t>ticketCounter</a:t>
            </a:r>
            <a:r>
              <a:rPr lang="en-US" sz="1200" dirty="0" smtClean="0"/>
              <a:t> = 1;</a:t>
            </a:r>
          </a:p>
          <a:p>
            <a:r>
              <a:rPr lang="en-US" sz="1200" dirty="0" smtClean="0"/>
              <a:t>        for (</a:t>
            </a:r>
            <a:r>
              <a:rPr lang="en-US" sz="1200" dirty="0" err="1" smtClean="0"/>
              <a:t>int</a:t>
            </a:r>
            <a:r>
              <a:rPr lang="en-US" sz="1200" dirty="0" smtClean="0"/>
              <a:t> </a:t>
            </a:r>
            <a:r>
              <a:rPr lang="en-US" sz="1200" dirty="0" err="1" smtClean="0"/>
              <a:t>i</a:t>
            </a:r>
            <a:r>
              <a:rPr lang="en-US" sz="1200" dirty="0" smtClean="0"/>
              <a:t> = 1; </a:t>
            </a:r>
            <a:r>
              <a:rPr lang="en-US" sz="1200" dirty="0" err="1" smtClean="0"/>
              <a:t>i</a:t>
            </a:r>
            <a:r>
              <a:rPr lang="en-US" sz="1200" dirty="0" smtClean="0"/>
              <a:t> &lt;= 5; </a:t>
            </a:r>
            <a:r>
              <a:rPr lang="en-US" sz="1200" dirty="0" err="1" smtClean="0"/>
              <a:t>i</a:t>
            </a:r>
            <a:r>
              <a:rPr lang="en-US" sz="1200" dirty="0" smtClean="0"/>
              <a:t>++)</a:t>
            </a:r>
          </a:p>
          <a:p>
            <a:r>
              <a:rPr lang="en-US" sz="1200" dirty="0" smtClean="0"/>
              <a:t>            </a:t>
            </a:r>
            <a:r>
              <a:rPr lang="en-US" sz="1200" dirty="0" err="1" smtClean="0"/>
              <a:t>bikeSlots.push_back</a:t>
            </a:r>
            <a:r>
              <a:rPr lang="en-US" sz="1200" dirty="0" smtClean="0"/>
              <a:t>(</a:t>
            </a:r>
            <a:r>
              <a:rPr lang="en-US" sz="1200" dirty="0" err="1" smtClean="0"/>
              <a:t>ParkingSlot</a:t>
            </a:r>
            <a:r>
              <a:rPr lang="en-US" sz="1200" dirty="0" smtClean="0"/>
              <a:t>(</a:t>
            </a:r>
            <a:r>
              <a:rPr lang="en-US" sz="1200" dirty="0" err="1" smtClean="0"/>
              <a:t>i</a:t>
            </a:r>
            <a:r>
              <a:rPr lang="en-US" sz="1200" dirty="0" smtClean="0"/>
              <a:t>));</a:t>
            </a:r>
          </a:p>
          <a:p>
            <a:endParaRPr lang="en-US" sz="1200" dirty="0" smtClean="0"/>
          </a:p>
          <a:p>
            <a:r>
              <a:rPr lang="en-US" sz="1200" dirty="0" smtClean="0"/>
              <a:t>        for (</a:t>
            </a:r>
            <a:r>
              <a:rPr lang="en-US" sz="1200" dirty="0" err="1" smtClean="0"/>
              <a:t>int</a:t>
            </a:r>
            <a:r>
              <a:rPr lang="en-US" sz="1200" dirty="0" smtClean="0"/>
              <a:t> </a:t>
            </a:r>
            <a:r>
              <a:rPr lang="en-US" sz="1200" dirty="0" err="1" smtClean="0"/>
              <a:t>i</a:t>
            </a:r>
            <a:r>
              <a:rPr lang="en-US" sz="1200" dirty="0" smtClean="0"/>
              <a:t> = 1; </a:t>
            </a:r>
            <a:r>
              <a:rPr lang="en-US" sz="1200" dirty="0" err="1" smtClean="0"/>
              <a:t>i</a:t>
            </a:r>
            <a:r>
              <a:rPr lang="en-US" sz="1200" dirty="0" smtClean="0"/>
              <a:t> &lt;= 5; </a:t>
            </a:r>
            <a:r>
              <a:rPr lang="en-US" sz="1200" dirty="0" err="1" smtClean="0"/>
              <a:t>i</a:t>
            </a:r>
            <a:r>
              <a:rPr lang="en-US" sz="1200" dirty="0" smtClean="0"/>
              <a:t>++)</a:t>
            </a:r>
          </a:p>
          <a:p>
            <a:r>
              <a:rPr lang="en-US" sz="1200" dirty="0" smtClean="0"/>
              <a:t>            </a:t>
            </a:r>
            <a:r>
              <a:rPr lang="en-US" sz="1200" dirty="0" err="1" smtClean="0"/>
              <a:t>carSlots.push_back</a:t>
            </a:r>
            <a:r>
              <a:rPr lang="en-US" sz="1200" dirty="0" smtClean="0"/>
              <a:t>(</a:t>
            </a:r>
            <a:r>
              <a:rPr lang="en-US" sz="1200" dirty="0" err="1" smtClean="0"/>
              <a:t>ParkingSlot</a:t>
            </a:r>
            <a:r>
              <a:rPr lang="en-US" sz="1200" dirty="0" smtClean="0"/>
              <a:t>(</a:t>
            </a:r>
            <a:r>
              <a:rPr lang="en-US" sz="1200" dirty="0" err="1" smtClean="0"/>
              <a:t>i</a:t>
            </a:r>
            <a:r>
              <a:rPr lang="en-US" sz="1200" dirty="0" smtClean="0"/>
              <a:t>));</a:t>
            </a:r>
          </a:p>
          <a:p>
            <a:r>
              <a:rPr lang="en-US" sz="1200" dirty="0" smtClean="0"/>
              <a:t>    }</a:t>
            </a:r>
          </a:p>
          <a:p>
            <a:r>
              <a:rPr lang="en-US" sz="1200" dirty="0"/>
              <a:t>public:</a:t>
            </a:r>
          </a:p>
          <a:p>
            <a:r>
              <a:rPr lang="en-US" sz="1200" dirty="0"/>
              <a:t>    static ParkingManager* </a:t>
            </a:r>
            <a:r>
              <a:rPr lang="en-US" sz="1200" dirty="0" err="1"/>
              <a:t>getInstance</a:t>
            </a:r>
            <a:r>
              <a:rPr lang="en-US" sz="1200" dirty="0"/>
              <a:t>() {</a:t>
            </a:r>
          </a:p>
          <a:p>
            <a:r>
              <a:rPr lang="en-US" sz="1200" dirty="0"/>
              <a:t>        if (object == </a:t>
            </a:r>
            <a:r>
              <a:rPr lang="en-US" sz="1200" dirty="0" err="1"/>
              <a:t>nullptr</a:t>
            </a:r>
            <a:r>
              <a:rPr lang="en-US" sz="1200" dirty="0"/>
              <a:t>)</a:t>
            </a:r>
          </a:p>
          <a:p>
            <a:r>
              <a:rPr lang="en-US" sz="1200" dirty="0"/>
              <a:t>            object = new ParkingManager();</a:t>
            </a:r>
          </a:p>
          <a:p>
            <a:r>
              <a:rPr lang="en-US" sz="1200" dirty="0"/>
              <a:t>        return object;</a:t>
            </a:r>
          </a:p>
          <a:p>
            <a:r>
              <a:rPr lang="en-US" sz="1200" dirty="0"/>
              <a:t>    </a:t>
            </a:r>
            <a:r>
              <a:rPr lang="en-US" sz="1000" dirty="0"/>
              <a:t>}</a:t>
            </a:r>
          </a:p>
          <a:p>
            <a:endParaRPr lang="en-US" sz="1000" dirty="0"/>
          </a:p>
        </p:txBody>
      </p:sp>
      <p:sp>
        <p:nvSpPr>
          <p:cNvPr id="10" name="TextBox 9"/>
          <p:cNvSpPr txBox="1"/>
          <p:nvPr/>
        </p:nvSpPr>
        <p:spPr>
          <a:xfrm>
            <a:off x="4324860" y="2106940"/>
            <a:ext cx="3373291" cy="4154984"/>
          </a:xfrm>
          <a:prstGeom prst="rect">
            <a:avLst/>
          </a:prstGeom>
          <a:solidFill>
            <a:schemeClr val="accent1">
              <a:lumMod val="20000"/>
              <a:lumOff val="80000"/>
            </a:schemeClr>
          </a:solidFill>
          <a:ln>
            <a:solidFill>
              <a:schemeClr val="tx1"/>
            </a:solidFill>
          </a:ln>
          <a:effectLst>
            <a:outerShdw blurRad="50800" dist="38100" dir="10800000" algn="r" rotWithShape="0">
              <a:prstClr val="black">
                <a:alpha val="40000"/>
              </a:prstClr>
            </a:outerShdw>
          </a:effectLst>
          <a:scene3d>
            <a:camera prst="orthographicFront"/>
            <a:lightRig rig="threePt" dir="t"/>
          </a:scene3d>
          <a:sp3d>
            <a:bevelT/>
          </a:sp3d>
        </p:spPr>
        <p:txBody>
          <a:bodyPr wrap="square" rtlCol="0">
            <a:spAutoFit/>
          </a:bodyPr>
          <a:lstStyle/>
          <a:p>
            <a:r>
              <a:rPr lang="en-US" sz="1200" dirty="0" err="1" smtClean="0"/>
              <a:t>int</a:t>
            </a:r>
            <a:r>
              <a:rPr lang="en-US" sz="1200" dirty="0" smtClean="0"/>
              <a:t> </a:t>
            </a:r>
            <a:r>
              <a:rPr lang="en-US" sz="1200" dirty="0" err="1"/>
              <a:t>assignSlot</a:t>
            </a:r>
            <a:r>
              <a:rPr lang="en-US" sz="1200" dirty="0"/>
              <a:t>(Vehicle* v) {</a:t>
            </a:r>
          </a:p>
          <a:p>
            <a:r>
              <a:rPr lang="en-US" sz="1200" dirty="0"/>
              <a:t>        vector&lt;</a:t>
            </a:r>
            <a:r>
              <a:rPr lang="en-US" sz="1200" dirty="0" err="1"/>
              <a:t>ParkingSlot</a:t>
            </a:r>
            <a:r>
              <a:rPr lang="en-US" sz="1200" dirty="0"/>
              <a:t>&gt;&amp; slots =</a:t>
            </a:r>
          </a:p>
          <a:p>
            <a:r>
              <a:rPr lang="en-US" sz="1200" dirty="0"/>
              <a:t>            (v-&gt;</a:t>
            </a:r>
            <a:r>
              <a:rPr lang="en-US" sz="1200" dirty="0" err="1"/>
              <a:t>getType</a:t>
            </a:r>
            <a:r>
              <a:rPr lang="en-US" sz="1200" dirty="0"/>
              <a:t>() == "car") ? </a:t>
            </a:r>
            <a:r>
              <a:rPr lang="en-US" sz="1200" dirty="0" err="1"/>
              <a:t>carSlots</a:t>
            </a:r>
            <a:r>
              <a:rPr lang="en-US" sz="1200" dirty="0"/>
              <a:t> : </a:t>
            </a:r>
            <a:r>
              <a:rPr lang="en-US" sz="1200" dirty="0" err="1"/>
              <a:t>bikeSlots</a:t>
            </a:r>
            <a:r>
              <a:rPr lang="en-US" sz="1200" dirty="0" smtClean="0"/>
              <a:t>;</a:t>
            </a:r>
            <a:endParaRPr lang="en-US" sz="1200" dirty="0"/>
          </a:p>
          <a:p>
            <a:r>
              <a:rPr lang="en-US" sz="1200" dirty="0"/>
              <a:t>        for (auto&amp; s : slots) {</a:t>
            </a:r>
          </a:p>
          <a:p>
            <a:r>
              <a:rPr lang="en-US" sz="1200" dirty="0"/>
              <a:t>            if (</a:t>
            </a:r>
            <a:r>
              <a:rPr lang="en-US" sz="1200" dirty="0" err="1"/>
              <a:t>s.isAvailable</a:t>
            </a:r>
            <a:r>
              <a:rPr lang="en-US" sz="1200" dirty="0"/>
              <a:t>()) {</a:t>
            </a:r>
          </a:p>
          <a:p>
            <a:r>
              <a:rPr lang="en-US" sz="1200" dirty="0"/>
              <a:t>                </a:t>
            </a:r>
            <a:r>
              <a:rPr lang="en-US" sz="1200" dirty="0" err="1"/>
              <a:t>s.parkVehicle</a:t>
            </a:r>
            <a:r>
              <a:rPr lang="en-US" sz="1200" dirty="0"/>
              <a:t>(v);</a:t>
            </a:r>
          </a:p>
          <a:p>
            <a:r>
              <a:rPr lang="en-US" sz="1200" dirty="0"/>
              <a:t>                </a:t>
            </a:r>
            <a:r>
              <a:rPr lang="en-US" sz="1200" dirty="0" err="1"/>
              <a:t>cout</a:t>
            </a:r>
            <a:r>
              <a:rPr lang="en-US" sz="1200" dirty="0"/>
              <a:t> &lt;&lt; v-&gt;</a:t>
            </a:r>
            <a:r>
              <a:rPr lang="en-US" sz="1200" dirty="0" err="1"/>
              <a:t>getType</a:t>
            </a:r>
            <a:r>
              <a:rPr lang="en-US" sz="1200" dirty="0"/>
              <a:t>() &lt;&lt; " parked at slot: " &lt;&lt; </a:t>
            </a:r>
            <a:r>
              <a:rPr lang="en-US" sz="1200" dirty="0" err="1"/>
              <a:t>s.slotID</a:t>
            </a:r>
            <a:r>
              <a:rPr lang="en-US" sz="1200" dirty="0"/>
              <a:t> &lt;&lt; </a:t>
            </a:r>
            <a:r>
              <a:rPr lang="en-US" sz="1200" dirty="0" err="1"/>
              <a:t>endl</a:t>
            </a:r>
            <a:r>
              <a:rPr lang="en-US" sz="1200" dirty="0"/>
              <a:t>;</a:t>
            </a:r>
          </a:p>
          <a:p>
            <a:r>
              <a:rPr lang="en-US" sz="1200" dirty="0"/>
              <a:t>                return </a:t>
            </a:r>
            <a:r>
              <a:rPr lang="en-US" sz="1200" dirty="0" err="1"/>
              <a:t>s.slotID</a:t>
            </a:r>
            <a:r>
              <a:rPr lang="en-US" sz="1200" dirty="0"/>
              <a:t>;</a:t>
            </a:r>
          </a:p>
          <a:p>
            <a:r>
              <a:rPr lang="en-US" sz="1200" dirty="0"/>
              <a:t>            </a:t>
            </a:r>
            <a:r>
              <a:rPr lang="en-US" sz="1200" dirty="0" smtClean="0"/>
              <a:t> }</a:t>
            </a:r>
            <a:endParaRPr lang="en-US" sz="1200" dirty="0"/>
          </a:p>
          <a:p>
            <a:r>
              <a:rPr lang="en-US" sz="1200" dirty="0"/>
              <a:t>        </a:t>
            </a:r>
            <a:r>
              <a:rPr lang="en-US" sz="1200" dirty="0" err="1"/>
              <a:t>cout</a:t>
            </a:r>
            <a:r>
              <a:rPr lang="en-US" sz="1200" dirty="0"/>
              <a:t> &lt;&lt; "No slots available!\n";</a:t>
            </a:r>
          </a:p>
          <a:p>
            <a:r>
              <a:rPr lang="en-US" sz="1200" dirty="0"/>
              <a:t>        return -1</a:t>
            </a:r>
            <a:r>
              <a:rPr lang="en-US" sz="1200" dirty="0" smtClean="0"/>
              <a:t>;        }</a:t>
            </a:r>
            <a:endParaRPr lang="en-US" sz="1200" dirty="0"/>
          </a:p>
          <a:p>
            <a:r>
              <a:rPr lang="en-US" sz="1200" dirty="0"/>
              <a:t>    </a:t>
            </a:r>
            <a:r>
              <a:rPr lang="en-US" sz="1200" dirty="0" err="1"/>
              <a:t>ParkingTicket</a:t>
            </a:r>
            <a:r>
              <a:rPr lang="en-US" sz="1200" dirty="0"/>
              <a:t>* </a:t>
            </a:r>
            <a:r>
              <a:rPr lang="en-US" sz="1200" dirty="0" err="1"/>
              <a:t>createTicket</a:t>
            </a:r>
            <a:r>
              <a:rPr lang="en-US" sz="1200" dirty="0"/>
              <a:t>(Vehicle* v, </a:t>
            </a:r>
            <a:r>
              <a:rPr lang="en-US" sz="1200" dirty="0" err="1"/>
              <a:t>int</a:t>
            </a:r>
            <a:r>
              <a:rPr lang="en-US" sz="1200" dirty="0"/>
              <a:t> slot) {</a:t>
            </a:r>
          </a:p>
          <a:p>
            <a:r>
              <a:rPr lang="en-US" sz="1200" dirty="0"/>
              <a:t>        </a:t>
            </a:r>
            <a:r>
              <a:rPr lang="en-US" sz="1200" dirty="0" err="1"/>
              <a:t>ParkingTicket</a:t>
            </a:r>
            <a:r>
              <a:rPr lang="en-US" sz="1200" dirty="0"/>
              <a:t>* t = new </a:t>
            </a:r>
            <a:r>
              <a:rPr lang="en-US" sz="1200" dirty="0" err="1"/>
              <a:t>ParkingTicket</a:t>
            </a:r>
            <a:r>
              <a:rPr lang="en-US" sz="1200" dirty="0"/>
              <a:t>(</a:t>
            </a:r>
            <a:r>
              <a:rPr lang="en-US" sz="1200" dirty="0" err="1"/>
              <a:t>ticketCounter</a:t>
            </a:r>
            <a:r>
              <a:rPr lang="en-US" sz="1200" dirty="0"/>
              <a:t>++, v, slot);</a:t>
            </a:r>
          </a:p>
          <a:p>
            <a:r>
              <a:rPr lang="en-US" sz="1200" dirty="0"/>
              <a:t>        </a:t>
            </a:r>
            <a:r>
              <a:rPr lang="en-US" sz="1200" dirty="0" err="1"/>
              <a:t>tickets.push_back</a:t>
            </a:r>
            <a:r>
              <a:rPr lang="en-US" sz="1200" dirty="0"/>
              <a:t>(t);</a:t>
            </a:r>
          </a:p>
          <a:p>
            <a:r>
              <a:rPr lang="en-US" sz="1200" dirty="0"/>
              <a:t>        </a:t>
            </a:r>
            <a:r>
              <a:rPr lang="en-US" sz="1200" dirty="0" smtClean="0"/>
              <a:t>return t; }</a:t>
            </a:r>
          </a:p>
          <a:p>
            <a:r>
              <a:rPr lang="en-US" sz="1200" dirty="0" err="1"/>
              <a:t>ParkingTicket</a:t>
            </a:r>
            <a:r>
              <a:rPr lang="en-US" sz="1200" dirty="0"/>
              <a:t>* </a:t>
            </a:r>
            <a:r>
              <a:rPr lang="en-US" sz="1200" dirty="0" err="1"/>
              <a:t>findTicket</a:t>
            </a:r>
            <a:r>
              <a:rPr lang="en-US" sz="1200" dirty="0"/>
              <a:t>(</a:t>
            </a:r>
            <a:r>
              <a:rPr lang="en-US" sz="1200" dirty="0" err="1"/>
              <a:t>int</a:t>
            </a:r>
            <a:r>
              <a:rPr lang="en-US" sz="1200" dirty="0"/>
              <a:t> id) {</a:t>
            </a:r>
          </a:p>
          <a:p>
            <a:r>
              <a:rPr lang="en-US" sz="1200" dirty="0"/>
              <a:t>        for (auto t : tickets)</a:t>
            </a:r>
          </a:p>
          <a:p>
            <a:r>
              <a:rPr lang="en-US" sz="1200" dirty="0"/>
              <a:t>            if (t-&gt;</a:t>
            </a:r>
            <a:r>
              <a:rPr lang="en-US" sz="1200" dirty="0" err="1"/>
              <a:t>ticketID</a:t>
            </a:r>
            <a:r>
              <a:rPr lang="en-US" sz="1200" dirty="0"/>
              <a:t> == id)</a:t>
            </a:r>
          </a:p>
          <a:p>
            <a:r>
              <a:rPr lang="en-US" sz="1200" dirty="0"/>
              <a:t>                return t;</a:t>
            </a:r>
          </a:p>
          <a:p>
            <a:r>
              <a:rPr lang="en-US" sz="1200" dirty="0"/>
              <a:t>        return </a:t>
            </a:r>
            <a:r>
              <a:rPr lang="en-US" sz="1200" dirty="0" err="1" smtClean="0"/>
              <a:t>nullptr</a:t>
            </a:r>
            <a:r>
              <a:rPr lang="en-US" sz="1200" dirty="0" smtClean="0"/>
              <a:t>;   }</a:t>
            </a:r>
            <a:endParaRPr lang="en-US" sz="1200" dirty="0"/>
          </a:p>
        </p:txBody>
      </p:sp>
      <p:sp>
        <p:nvSpPr>
          <p:cNvPr id="11" name="TextBox 10"/>
          <p:cNvSpPr txBox="1"/>
          <p:nvPr/>
        </p:nvSpPr>
        <p:spPr>
          <a:xfrm>
            <a:off x="7842896" y="2106940"/>
            <a:ext cx="3373291" cy="4124206"/>
          </a:xfrm>
          <a:prstGeom prst="rect">
            <a:avLst/>
          </a:prstGeom>
          <a:solidFill>
            <a:schemeClr val="accent1">
              <a:lumMod val="20000"/>
              <a:lumOff val="80000"/>
            </a:schemeClr>
          </a:solidFill>
          <a:ln>
            <a:solidFill>
              <a:schemeClr val="tx1"/>
            </a:solidFill>
          </a:ln>
          <a:effectLst>
            <a:outerShdw blurRad="50800" dist="38100" dir="10800000" algn="r" rotWithShape="0">
              <a:prstClr val="black">
                <a:alpha val="40000"/>
              </a:prstClr>
            </a:outerShdw>
          </a:effectLst>
          <a:scene3d>
            <a:camera prst="orthographicFront"/>
            <a:lightRig rig="threePt" dir="t"/>
          </a:scene3d>
          <a:sp3d>
            <a:bevelT/>
          </a:sp3d>
        </p:spPr>
        <p:txBody>
          <a:bodyPr wrap="square" rtlCol="0">
            <a:spAutoFit/>
          </a:bodyPr>
          <a:lstStyle/>
          <a:p>
            <a:endParaRPr lang="en-US" sz="1000" dirty="0"/>
          </a:p>
          <a:p>
            <a:r>
              <a:rPr lang="en-US" sz="1200" dirty="0"/>
              <a:t>    void </a:t>
            </a:r>
            <a:r>
              <a:rPr lang="en-US" sz="1200" dirty="0" err="1"/>
              <a:t>releaseSlot</a:t>
            </a:r>
            <a:r>
              <a:rPr lang="en-US" sz="1200" dirty="0"/>
              <a:t>(</a:t>
            </a:r>
            <a:r>
              <a:rPr lang="en-US" sz="1200" dirty="0" err="1"/>
              <a:t>ParkingTicket</a:t>
            </a:r>
            <a:r>
              <a:rPr lang="en-US" sz="1200" dirty="0"/>
              <a:t>* ticket) {</a:t>
            </a:r>
          </a:p>
          <a:p>
            <a:r>
              <a:rPr lang="en-US" sz="1200" dirty="0"/>
              <a:t>        vector&lt;</a:t>
            </a:r>
            <a:r>
              <a:rPr lang="en-US" sz="1200" dirty="0" err="1"/>
              <a:t>ParkingSlot</a:t>
            </a:r>
            <a:r>
              <a:rPr lang="en-US" sz="1200" dirty="0"/>
              <a:t>&gt;&amp; slots =</a:t>
            </a:r>
          </a:p>
          <a:p>
            <a:r>
              <a:rPr lang="en-US" sz="1200" dirty="0"/>
              <a:t>            (ticket-&gt;vehicle-&gt;</a:t>
            </a:r>
            <a:r>
              <a:rPr lang="en-US" sz="1200" dirty="0" err="1"/>
              <a:t>getType</a:t>
            </a:r>
            <a:r>
              <a:rPr lang="en-US" sz="1200" dirty="0"/>
              <a:t>() == "car") ? </a:t>
            </a:r>
            <a:r>
              <a:rPr lang="en-US" sz="1200" dirty="0" err="1"/>
              <a:t>carSlots</a:t>
            </a:r>
            <a:r>
              <a:rPr lang="en-US" sz="1200" dirty="0"/>
              <a:t> : </a:t>
            </a:r>
            <a:r>
              <a:rPr lang="en-US" sz="1200" dirty="0" err="1"/>
              <a:t>bikeSlots</a:t>
            </a:r>
            <a:r>
              <a:rPr lang="en-US" sz="1200" dirty="0"/>
              <a:t>;</a:t>
            </a:r>
          </a:p>
          <a:p>
            <a:endParaRPr lang="en-US" sz="1200" dirty="0"/>
          </a:p>
          <a:p>
            <a:r>
              <a:rPr lang="en-US" sz="1200" dirty="0"/>
              <a:t>        for (auto&amp; s : slots) {</a:t>
            </a:r>
          </a:p>
          <a:p>
            <a:r>
              <a:rPr lang="en-US" sz="1200" dirty="0"/>
              <a:t>            if (</a:t>
            </a:r>
            <a:r>
              <a:rPr lang="en-US" sz="1200" dirty="0" err="1"/>
              <a:t>s.slotID</a:t>
            </a:r>
            <a:r>
              <a:rPr lang="en-US" sz="1200" dirty="0"/>
              <a:t> == ticket-&gt;</a:t>
            </a:r>
            <a:r>
              <a:rPr lang="en-US" sz="1200" dirty="0" err="1"/>
              <a:t>slotID</a:t>
            </a:r>
            <a:r>
              <a:rPr lang="en-US" sz="1200" dirty="0"/>
              <a:t>) {</a:t>
            </a:r>
          </a:p>
          <a:p>
            <a:r>
              <a:rPr lang="en-US" sz="1200" dirty="0"/>
              <a:t>                </a:t>
            </a:r>
            <a:r>
              <a:rPr lang="en-US" sz="1200" dirty="0" err="1"/>
              <a:t>s.removeVehicle</a:t>
            </a:r>
            <a:r>
              <a:rPr lang="en-US" sz="1200" dirty="0"/>
              <a:t>();</a:t>
            </a:r>
          </a:p>
          <a:p>
            <a:r>
              <a:rPr lang="en-US" sz="1200" dirty="0"/>
              <a:t>            </a:t>
            </a:r>
            <a:r>
              <a:rPr lang="en-US" sz="1200" dirty="0" smtClean="0"/>
              <a:t>}        </a:t>
            </a:r>
            <a:r>
              <a:rPr lang="en-US" sz="1200" dirty="0"/>
              <a:t>}</a:t>
            </a:r>
          </a:p>
          <a:p>
            <a:r>
              <a:rPr lang="en-US" sz="1200" dirty="0"/>
              <a:t>    </a:t>
            </a:r>
            <a:r>
              <a:rPr lang="en-US" sz="1200" dirty="0" smtClean="0"/>
              <a:t>}</a:t>
            </a:r>
            <a:endParaRPr lang="en-US" sz="1200" dirty="0"/>
          </a:p>
          <a:p>
            <a:r>
              <a:rPr lang="en-US" sz="1200" dirty="0"/>
              <a:t>    void </a:t>
            </a:r>
            <a:r>
              <a:rPr lang="en-US" sz="1200" dirty="0" err="1"/>
              <a:t>showAvailableSlots</a:t>
            </a:r>
            <a:r>
              <a:rPr lang="en-US" sz="1200" dirty="0"/>
              <a:t>() {</a:t>
            </a:r>
          </a:p>
          <a:p>
            <a:r>
              <a:rPr lang="en-US" sz="1200" dirty="0"/>
              <a:t>        </a:t>
            </a:r>
            <a:r>
              <a:rPr lang="en-US" sz="1200" dirty="0" err="1"/>
              <a:t>cout</a:t>
            </a:r>
            <a:r>
              <a:rPr lang="en-US" sz="1200" dirty="0"/>
              <a:t> &lt;&lt; "Bike Slots: ";</a:t>
            </a:r>
          </a:p>
          <a:p>
            <a:r>
              <a:rPr lang="en-US" sz="1200" dirty="0"/>
              <a:t>        for (auto&amp; s : </a:t>
            </a:r>
            <a:r>
              <a:rPr lang="en-US" sz="1200" dirty="0" err="1"/>
              <a:t>bikeSlots</a:t>
            </a:r>
            <a:r>
              <a:rPr lang="en-US" sz="1200" dirty="0"/>
              <a:t>)</a:t>
            </a:r>
          </a:p>
          <a:p>
            <a:r>
              <a:rPr lang="en-US" sz="1200" dirty="0"/>
              <a:t>            if (</a:t>
            </a:r>
            <a:r>
              <a:rPr lang="en-US" sz="1200" dirty="0" err="1"/>
              <a:t>s.isAvailable</a:t>
            </a:r>
            <a:r>
              <a:rPr lang="en-US" sz="1200" dirty="0"/>
              <a:t>()) </a:t>
            </a:r>
            <a:r>
              <a:rPr lang="en-US" sz="1200" dirty="0" err="1"/>
              <a:t>cout</a:t>
            </a:r>
            <a:r>
              <a:rPr lang="en-US" sz="1200" dirty="0"/>
              <a:t> &lt;&lt; </a:t>
            </a:r>
            <a:r>
              <a:rPr lang="en-US" sz="1200" dirty="0" err="1"/>
              <a:t>s.slotID</a:t>
            </a:r>
            <a:r>
              <a:rPr lang="en-US" sz="1200" dirty="0"/>
              <a:t> &lt;&lt; " ";</a:t>
            </a:r>
          </a:p>
          <a:p>
            <a:endParaRPr lang="en-US" sz="1200" dirty="0"/>
          </a:p>
          <a:p>
            <a:r>
              <a:rPr lang="en-US" sz="1200" dirty="0"/>
              <a:t>        </a:t>
            </a:r>
            <a:r>
              <a:rPr lang="en-US" sz="1200" dirty="0" err="1"/>
              <a:t>cout</a:t>
            </a:r>
            <a:r>
              <a:rPr lang="en-US" sz="1200" dirty="0"/>
              <a:t> &lt;&lt; "\</a:t>
            </a:r>
            <a:r>
              <a:rPr lang="en-US" sz="1200" dirty="0" err="1"/>
              <a:t>nCar</a:t>
            </a:r>
            <a:r>
              <a:rPr lang="en-US" sz="1200" dirty="0"/>
              <a:t> Slots: ";</a:t>
            </a:r>
          </a:p>
          <a:p>
            <a:r>
              <a:rPr lang="en-US" sz="1200" dirty="0"/>
              <a:t>        for (auto&amp; s : </a:t>
            </a:r>
            <a:r>
              <a:rPr lang="en-US" sz="1200" dirty="0" err="1"/>
              <a:t>carSlots</a:t>
            </a:r>
            <a:r>
              <a:rPr lang="en-US" sz="1200" dirty="0"/>
              <a:t>)</a:t>
            </a:r>
          </a:p>
          <a:p>
            <a:r>
              <a:rPr lang="en-US" sz="1200" dirty="0"/>
              <a:t>            if (</a:t>
            </a:r>
            <a:r>
              <a:rPr lang="en-US" sz="1200" dirty="0" err="1"/>
              <a:t>s.isAvailable</a:t>
            </a:r>
            <a:r>
              <a:rPr lang="en-US" sz="1200" dirty="0"/>
              <a:t>()) </a:t>
            </a:r>
            <a:r>
              <a:rPr lang="en-US" sz="1200" dirty="0" err="1"/>
              <a:t>cout</a:t>
            </a:r>
            <a:r>
              <a:rPr lang="en-US" sz="1200" dirty="0"/>
              <a:t> &lt;&lt; </a:t>
            </a:r>
            <a:r>
              <a:rPr lang="en-US" sz="1200" dirty="0" err="1"/>
              <a:t>s.slotID</a:t>
            </a:r>
            <a:r>
              <a:rPr lang="en-US" sz="1200" dirty="0"/>
              <a:t> &lt;&lt; " </a:t>
            </a:r>
            <a:r>
              <a:rPr lang="en-US" sz="1200" dirty="0" smtClean="0"/>
              <a:t>";</a:t>
            </a:r>
            <a:endParaRPr lang="en-US" sz="1200" dirty="0"/>
          </a:p>
          <a:p>
            <a:r>
              <a:rPr lang="en-US" sz="1200" dirty="0"/>
              <a:t>        </a:t>
            </a:r>
            <a:r>
              <a:rPr lang="en-US" sz="1200" dirty="0" err="1"/>
              <a:t>cout</a:t>
            </a:r>
            <a:r>
              <a:rPr lang="en-US" sz="1200" dirty="0"/>
              <a:t> &lt;&lt; </a:t>
            </a:r>
            <a:r>
              <a:rPr lang="en-US" sz="1200" dirty="0" err="1"/>
              <a:t>endl</a:t>
            </a:r>
            <a:r>
              <a:rPr lang="en-US" sz="1200" dirty="0"/>
              <a:t>;</a:t>
            </a:r>
          </a:p>
          <a:p>
            <a:r>
              <a:rPr lang="en-US" sz="1200" dirty="0"/>
              <a:t>    </a:t>
            </a:r>
            <a:r>
              <a:rPr lang="en-US" sz="1200" dirty="0" smtClean="0"/>
              <a:t>}     </a:t>
            </a:r>
          </a:p>
          <a:p>
            <a:r>
              <a:rPr lang="en-US" sz="1200" dirty="0" smtClean="0"/>
              <a:t> };</a:t>
            </a:r>
            <a:endParaRPr lang="en-US" sz="1200" dirty="0"/>
          </a:p>
        </p:txBody>
      </p:sp>
    </p:spTree>
    <p:extLst>
      <p:ext uri="{BB962C8B-B14F-4D97-AF65-F5344CB8AC3E}">
        <p14:creationId xmlns:p14="http://schemas.microsoft.com/office/powerpoint/2010/main" val="40089196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mn-lt"/>
              </a:rPr>
              <a:t>COMMAND DESIGN PATTERN:</a:t>
            </a:r>
            <a:endParaRPr lang="en-US" b="1" dirty="0">
              <a:latin typeface="+mn-lt"/>
            </a:endParaRPr>
          </a:p>
        </p:txBody>
      </p:sp>
      <p:sp>
        <p:nvSpPr>
          <p:cNvPr id="4" name="Slide Number Placeholder 3"/>
          <p:cNvSpPr>
            <a:spLocks noGrp="1"/>
          </p:cNvSpPr>
          <p:nvPr>
            <p:ph type="sldNum" sz="quarter" idx="12"/>
          </p:nvPr>
        </p:nvSpPr>
        <p:spPr/>
        <p:txBody>
          <a:bodyPr/>
          <a:lstStyle/>
          <a:p>
            <a:fld id="{3A98EE3D-8CD1-4C3F-BD1C-C98C9596463C}" type="slidenum">
              <a:rPr lang="en-US" smtClean="0"/>
              <a:t>14</a:t>
            </a:fld>
            <a:endParaRPr lang="en-US" dirty="0"/>
          </a:p>
        </p:txBody>
      </p:sp>
      <p:sp>
        <p:nvSpPr>
          <p:cNvPr id="3" name="TextBox 2"/>
          <p:cNvSpPr txBox="1"/>
          <p:nvPr/>
        </p:nvSpPr>
        <p:spPr>
          <a:xfrm>
            <a:off x="502920" y="2145412"/>
            <a:ext cx="11247120" cy="3893374"/>
          </a:xfrm>
          <a:prstGeom prst="rect">
            <a:avLst/>
          </a:prstGeom>
          <a:noFill/>
        </p:spPr>
        <p:txBody>
          <a:bodyPr wrap="square" rtlCol="0">
            <a:spAutoFit/>
          </a:bodyPr>
          <a:lstStyle/>
          <a:p>
            <a:r>
              <a:rPr lang="en-US" sz="1900" b="1" i="1" dirty="0"/>
              <a:t>Pattern Name &amp; Category: </a:t>
            </a:r>
            <a:r>
              <a:rPr lang="en-US" sz="1900" i="1" dirty="0"/>
              <a:t>Command Pattern (Behavioral Category).</a:t>
            </a:r>
          </a:p>
          <a:p>
            <a:r>
              <a:rPr lang="en-US" sz="1900" b="1" i="1" dirty="0"/>
              <a:t>Application in Project:</a:t>
            </a:r>
          </a:p>
          <a:p>
            <a:r>
              <a:rPr lang="en-US" sz="1900" b="1" i="1" dirty="0"/>
              <a:t>Module:</a:t>
            </a:r>
            <a:r>
              <a:rPr lang="en-US" sz="1900" i="1" dirty="0"/>
              <a:t> User Interface / Menu Controller.</a:t>
            </a:r>
          </a:p>
          <a:p>
            <a:r>
              <a:rPr lang="en-US" sz="1900" b="1" i="1" dirty="0"/>
              <a:t>Classes Involved:</a:t>
            </a:r>
            <a:r>
              <a:rPr lang="en-US" sz="1900" i="1" dirty="0"/>
              <a:t> Command (Interface), </a:t>
            </a:r>
            <a:r>
              <a:rPr lang="en-US" sz="1900" i="1" dirty="0" err="1"/>
              <a:t>ParkCommand</a:t>
            </a:r>
            <a:r>
              <a:rPr lang="en-US" sz="1900" i="1" dirty="0"/>
              <a:t>, </a:t>
            </a:r>
            <a:r>
              <a:rPr lang="en-US" sz="1900" i="1" dirty="0" err="1"/>
              <a:t>ExitCommand</a:t>
            </a:r>
            <a:r>
              <a:rPr lang="en-US" sz="1900" i="1" dirty="0"/>
              <a:t>, </a:t>
            </a:r>
            <a:r>
              <a:rPr lang="en-US" sz="1900" i="1" dirty="0" err="1"/>
              <a:t>ShowSlotsCommand</a:t>
            </a:r>
            <a:r>
              <a:rPr lang="en-US" sz="1900" i="1" dirty="0"/>
              <a:t> (Concrete Commands), and ParkingManager (The Receiver).</a:t>
            </a:r>
          </a:p>
          <a:p>
            <a:r>
              <a:rPr lang="en-US" sz="1900" b="1" i="1" dirty="0"/>
              <a:t>Specific Implementation: </a:t>
            </a:r>
            <a:r>
              <a:rPr lang="en-US" sz="1900" i="1" dirty="0"/>
              <a:t>Each menu option is mapped to a command object. When a user selects "Park," the </a:t>
            </a:r>
            <a:r>
              <a:rPr lang="en-US" sz="1900" i="1" dirty="0" err="1"/>
              <a:t>ParkCommand</a:t>
            </a:r>
            <a:r>
              <a:rPr lang="en-US" sz="1900" i="1" dirty="0"/>
              <a:t>::execute() is called. It acts as a bridge, gathering user input and then calling the ParkingManager (Singleton) and </a:t>
            </a:r>
            <a:r>
              <a:rPr lang="en-US" sz="1900" i="1" dirty="0" err="1"/>
              <a:t>VehicleFactory</a:t>
            </a:r>
            <a:r>
              <a:rPr lang="en-US" sz="1900" i="1" dirty="0"/>
              <a:t> to perform the actual work.</a:t>
            </a:r>
          </a:p>
          <a:p>
            <a:r>
              <a:rPr lang="en-US" sz="1900" b="1" i="1" dirty="0"/>
              <a:t>Why it is Appropriate: </a:t>
            </a:r>
            <a:r>
              <a:rPr lang="en-US" sz="1900" i="1" dirty="0"/>
              <a:t>It solves the problem of UI-to-Logic Coupling. By wrapping operations like "Park" or "Exit" into objects, the main loop doesn't need to contain huge blocks of logic. It also makes the system extensible; adding a "Generate Report" feature just requires creating one new class without touching existing code.</a:t>
            </a:r>
          </a:p>
          <a:p>
            <a:r>
              <a:rPr lang="en-US" sz="1900" b="1" i="1" dirty="0"/>
              <a:t>OOP Principle Reinforced: </a:t>
            </a:r>
            <a:r>
              <a:rPr lang="en-US" sz="1900" i="1" dirty="0"/>
              <a:t>Abstraction and Encapsulation. It hides the internal steps of a complex operation (like checking slots, creating tickets, and printing) behind a simple execute() </a:t>
            </a:r>
            <a:r>
              <a:rPr lang="en-US" sz="1900" i="1" dirty="0" smtClean="0"/>
              <a:t>call.</a:t>
            </a:r>
            <a:endParaRPr lang="en-US" sz="1900" i="1" dirty="0"/>
          </a:p>
        </p:txBody>
      </p:sp>
    </p:spTree>
    <p:extLst>
      <p:ext uri="{BB962C8B-B14F-4D97-AF65-F5344CB8AC3E}">
        <p14:creationId xmlns:p14="http://schemas.microsoft.com/office/powerpoint/2010/main" val="8998260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IMPLEMENTATION:</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15</a:t>
            </a:fld>
            <a:endParaRPr lang="en-US" dirty="0"/>
          </a:p>
        </p:txBody>
      </p:sp>
      <p:sp>
        <p:nvSpPr>
          <p:cNvPr id="8" name="TextBox 7"/>
          <p:cNvSpPr txBox="1"/>
          <p:nvPr/>
        </p:nvSpPr>
        <p:spPr>
          <a:xfrm>
            <a:off x="1280160" y="2098195"/>
            <a:ext cx="4718765" cy="4154984"/>
          </a:xfrm>
          <a:prstGeom prst="rect">
            <a:avLst/>
          </a:prstGeom>
          <a:solidFill>
            <a:schemeClr val="accent1">
              <a:lumMod val="20000"/>
              <a:lumOff val="80000"/>
            </a:schemeClr>
          </a:solidFill>
          <a:ln>
            <a:solidFill>
              <a:schemeClr val="tx1"/>
            </a:solidFill>
          </a:ln>
          <a:effectLst>
            <a:outerShdw blurRad="50800" dist="38100" dir="8100000" algn="tr" rotWithShape="0">
              <a:prstClr val="black">
                <a:alpha val="40000"/>
              </a:prstClr>
            </a:outerShdw>
          </a:effectLst>
          <a:scene3d>
            <a:camera prst="obliqueTopLeft"/>
            <a:lightRig rig="threePt" dir="t"/>
          </a:scene3d>
          <a:sp3d>
            <a:bevelT/>
          </a:sp3d>
        </p:spPr>
        <p:txBody>
          <a:bodyPr wrap="square" rtlCol="0">
            <a:spAutoFit/>
          </a:bodyPr>
          <a:lstStyle/>
          <a:p>
            <a:r>
              <a:rPr lang="en-US" sz="1200" dirty="0"/>
              <a:t>class Command {</a:t>
            </a:r>
          </a:p>
          <a:p>
            <a:r>
              <a:rPr lang="en-US" sz="1200" dirty="0"/>
              <a:t>public:</a:t>
            </a:r>
          </a:p>
          <a:p>
            <a:r>
              <a:rPr lang="en-US" sz="1200" dirty="0"/>
              <a:t>    virtual void execute() = 0;</a:t>
            </a:r>
          </a:p>
          <a:p>
            <a:r>
              <a:rPr lang="en-US" sz="1200" dirty="0" smtClean="0"/>
              <a:t>};</a:t>
            </a:r>
            <a:endParaRPr lang="en-US" sz="1200" dirty="0"/>
          </a:p>
          <a:p>
            <a:r>
              <a:rPr lang="en-US" sz="1200" dirty="0"/>
              <a:t>class </a:t>
            </a:r>
            <a:r>
              <a:rPr lang="en-US" sz="1200" dirty="0" err="1"/>
              <a:t>ParkCommand</a:t>
            </a:r>
            <a:r>
              <a:rPr lang="en-US" sz="1200" dirty="0"/>
              <a:t> : public Command {</a:t>
            </a:r>
          </a:p>
          <a:p>
            <a:r>
              <a:rPr lang="en-US" sz="1200" dirty="0"/>
              <a:t>public:</a:t>
            </a:r>
          </a:p>
          <a:p>
            <a:r>
              <a:rPr lang="en-US" sz="1200" dirty="0"/>
              <a:t>    void execute() {</a:t>
            </a:r>
          </a:p>
          <a:p>
            <a:r>
              <a:rPr lang="en-US" sz="1200" dirty="0"/>
              <a:t>        string type;</a:t>
            </a:r>
          </a:p>
          <a:p>
            <a:r>
              <a:rPr lang="en-US" sz="1200" dirty="0"/>
              <a:t>        </a:t>
            </a:r>
            <a:r>
              <a:rPr lang="en-US" sz="1200" dirty="0" err="1"/>
              <a:t>cout</a:t>
            </a:r>
            <a:r>
              <a:rPr lang="en-US" sz="1200" dirty="0"/>
              <a:t> &lt;&lt; "Enter vehicle type: ";</a:t>
            </a:r>
          </a:p>
          <a:p>
            <a:r>
              <a:rPr lang="en-US" sz="1200" dirty="0"/>
              <a:t>        </a:t>
            </a:r>
            <a:r>
              <a:rPr lang="en-US" sz="1200" dirty="0" err="1"/>
              <a:t>cin</a:t>
            </a:r>
            <a:r>
              <a:rPr lang="en-US" sz="1200" dirty="0"/>
              <a:t> &gt;&gt; type</a:t>
            </a:r>
            <a:r>
              <a:rPr lang="en-US" sz="1200" dirty="0" smtClean="0"/>
              <a:t>;</a:t>
            </a:r>
            <a:endParaRPr lang="en-US" sz="1200" dirty="0"/>
          </a:p>
          <a:p>
            <a:r>
              <a:rPr lang="en-US" sz="1200" dirty="0"/>
              <a:t>        Vehicle* v = </a:t>
            </a:r>
            <a:r>
              <a:rPr lang="en-US" sz="1200" dirty="0" err="1"/>
              <a:t>VehicleFactory</a:t>
            </a:r>
            <a:r>
              <a:rPr lang="en-US" sz="1200" dirty="0"/>
              <a:t>::</a:t>
            </a:r>
            <a:r>
              <a:rPr lang="en-US" sz="1200" dirty="0" err="1"/>
              <a:t>createVehicle</a:t>
            </a:r>
            <a:r>
              <a:rPr lang="en-US" sz="1200" dirty="0"/>
              <a:t>(type);</a:t>
            </a:r>
          </a:p>
          <a:p>
            <a:r>
              <a:rPr lang="en-US" sz="1200" dirty="0"/>
              <a:t>        if (!v) {</a:t>
            </a:r>
          </a:p>
          <a:p>
            <a:r>
              <a:rPr lang="en-US" sz="1200" dirty="0"/>
              <a:t>            </a:t>
            </a:r>
            <a:r>
              <a:rPr lang="en-US" sz="1200" dirty="0" err="1"/>
              <a:t>cout</a:t>
            </a:r>
            <a:r>
              <a:rPr lang="en-US" sz="1200" dirty="0"/>
              <a:t> &lt;&lt; "Invalid type!\n";</a:t>
            </a:r>
          </a:p>
          <a:p>
            <a:r>
              <a:rPr lang="en-US" sz="1200" dirty="0"/>
              <a:t>            </a:t>
            </a:r>
            <a:r>
              <a:rPr lang="en-US" sz="1200" dirty="0" smtClean="0"/>
              <a:t>return;     }</a:t>
            </a:r>
            <a:endParaRPr lang="en-US" sz="1200" dirty="0"/>
          </a:p>
          <a:p>
            <a:r>
              <a:rPr lang="en-US" sz="1200" dirty="0"/>
              <a:t>        v-&gt;display</a:t>
            </a:r>
            <a:r>
              <a:rPr lang="en-US" sz="1200" dirty="0" smtClean="0"/>
              <a:t>();</a:t>
            </a:r>
            <a:endParaRPr lang="en-US" sz="1200" dirty="0"/>
          </a:p>
          <a:p>
            <a:r>
              <a:rPr lang="en-US" sz="1200" dirty="0"/>
              <a:t>        ParkingManager* manager = ParkingManager::</a:t>
            </a:r>
            <a:r>
              <a:rPr lang="en-US" sz="1200" dirty="0" err="1"/>
              <a:t>getInstance</a:t>
            </a:r>
            <a:r>
              <a:rPr lang="en-US" sz="1200" dirty="0"/>
              <a:t>();</a:t>
            </a:r>
          </a:p>
          <a:p>
            <a:r>
              <a:rPr lang="en-US" sz="1200" dirty="0"/>
              <a:t>        </a:t>
            </a:r>
            <a:r>
              <a:rPr lang="en-US" sz="1200" dirty="0" err="1"/>
              <a:t>int</a:t>
            </a:r>
            <a:r>
              <a:rPr lang="en-US" sz="1200" dirty="0"/>
              <a:t> slot = manager-&gt;</a:t>
            </a:r>
            <a:r>
              <a:rPr lang="en-US" sz="1200" dirty="0" err="1"/>
              <a:t>assignSlot</a:t>
            </a:r>
            <a:r>
              <a:rPr lang="en-US" sz="1200" dirty="0"/>
              <a:t>(v);</a:t>
            </a:r>
          </a:p>
          <a:p>
            <a:endParaRPr lang="en-US" sz="1200" dirty="0"/>
          </a:p>
          <a:p>
            <a:r>
              <a:rPr lang="en-US" sz="1200" dirty="0"/>
              <a:t>        if (slot != -1) {</a:t>
            </a:r>
          </a:p>
          <a:p>
            <a:r>
              <a:rPr lang="en-US" sz="1200" dirty="0"/>
              <a:t>            </a:t>
            </a:r>
            <a:r>
              <a:rPr lang="en-US" sz="1200" dirty="0" err="1"/>
              <a:t>ParkingTicket</a:t>
            </a:r>
            <a:r>
              <a:rPr lang="en-US" sz="1200" dirty="0"/>
              <a:t>* t = manager-&gt;</a:t>
            </a:r>
            <a:r>
              <a:rPr lang="en-US" sz="1200" dirty="0" err="1"/>
              <a:t>createTicket</a:t>
            </a:r>
            <a:r>
              <a:rPr lang="en-US" sz="1200" dirty="0"/>
              <a:t>(v, slot);</a:t>
            </a:r>
          </a:p>
          <a:p>
            <a:r>
              <a:rPr lang="en-US" sz="1200" dirty="0"/>
              <a:t>            t-&gt;</a:t>
            </a:r>
            <a:r>
              <a:rPr lang="en-US" sz="1200" dirty="0" err="1"/>
              <a:t>printTicket</a:t>
            </a:r>
            <a:r>
              <a:rPr lang="en-US" sz="1200" dirty="0"/>
              <a:t>();</a:t>
            </a:r>
          </a:p>
          <a:p>
            <a:r>
              <a:rPr lang="en-US" sz="1200" dirty="0"/>
              <a:t>        </a:t>
            </a:r>
            <a:r>
              <a:rPr lang="en-US" sz="1200" dirty="0" smtClean="0"/>
              <a:t>}     }     };</a:t>
            </a:r>
            <a:endParaRPr lang="en-US" sz="1200" dirty="0"/>
          </a:p>
        </p:txBody>
      </p:sp>
      <p:sp>
        <p:nvSpPr>
          <p:cNvPr id="6" name="TextBox 5"/>
          <p:cNvSpPr txBox="1"/>
          <p:nvPr/>
        </p:nvSpPr>
        <p:spPr>
          <a:xfrm>
            <a:off x="6126480" y="2098195"/>
            <a:ext cx="4718765" cy="4154984"/>
          </a:xfrm>
          <a:prstGeom prst="rect">
            <a:avLst/>
          </a:prstGeom>
          <a:solidFill>
            <a:schemeClr val="accent1">
              <a:lumMod val="20000"/>
              <a:lumOff val="80000"/>
            </a:schemeClr>
          </a:solidFill>
          <a:ln>
            <a:solidFill>
              <a:schemeClr val="tx1"/>
            </a:solidFill>
          </a:ln>
          <a:effectLst>
            <a:outerShdw blurRad="50800" dist="38100" dir="10800000" algn="r" rotWithShape="0">
              <a:prstClr val="black">
                <a:alpha val="40000"/>
              </a:prstClr>
            </a:outerShdw>
          </a:effectLst>
          <a:scene3d>
            <a:camera prst="orthographicFront"/>
            <a:lightRig rig="threePt" dir="t"/>
          </a:scene3d>
          <a:sp3d>
            <a:bevelT/>
          </a:sp3d>
        </p:spPr>
        <p:txBody>
          <a:bodyPr wrap="square" rtlCol="0">
            <a:spAutoFit/>
          </a:bodyPr>
          <a:lstStyle/>
          <a:p>
            <a:r>
              <a:rPr lang="en-US" sz="1200" dirty="0"/>
              <a:t>class </a:t>
            </a:r>
            <a:r>
              <a:rPr lang="en-US" sz="1200" dirty="0" err="1"/>
              <a:t>ExitCommand</a:t>
            </a:r>
            <a:r>
              <a:rPr lang="en-US" sz="1200" dirty="0"/>
              <a:t> : public Command {</a:t>
            </a:r>
          </a:p>
          <a:p>
            <a:r>
              <a:rPr lang="en-US" sz="1200" dirty="0"/>
              <a:t>public:</a:t>
            </a:r>
          </a:p>
          <a:p>
            <a:r>
              <a:rPr lang="en-US" sz="1200" dirty="0"/>
              <a:t>    void execute() {</a:t>
            </a:r>
          </a:p>
          <a:p>
            <a:r>
              <a:rPr lang="en-US" sz="1200" dirty="0"/>
              <a:t>        </a:t>
            </a:r>
            <a:r>
              <a:rPr lang="en-US" sz="1200" dirty="0" err="1"/>
              <a:t>int</a:t>
            </a:r>
            <a:r>
              <a:rPr lang="en-US" sz="1200" dirty="0"/>
              <a:t> id, hours;</a:t>
            </a:r>
          </a:p>
          <a:p>
            <a:r>
              <a:rPr lang="en-US" sz="1200" dirty="0"/>
              <a:t>        </a:t>
            </a:r>
            <a:r>
              <a:rPr lang="en-US" sz="1200" dirty="0" err="1"/>
              <a:t>cout</a:t>
            </a:r>
            <a:r>
              <a:rPr lang="en-US" sz="1200" dirty="0"/>
              <a:t> &lt;&lt; "Enter Ticket ID: ";</a:t>
            </a:r>
          </a:p>
          <a:p>
            <a:r>
              <a:rPr lang="en-US" sz="1200" dirty="0"/>
              <a:t>        </a:t>
            </a:r>
            <a:r>
              <a:rPr lang="en-US" sz="1200" dirty="0" err="1"/>
              <a:t>cin</a:t>
            </a:r>
            <a:r>
              <a:rPr lang="en-US" sz="1200" dirty="0"/>
              <a:t> &gt;&gt; id</a:t>
            </a:r>
            <a:r>
              <a:rPr lang="en-US" sz="1200" dirty="0" smtClean="0"/>
              <a:t>;</a:t>
            </a:r>
            <a:endParaRPr lang="en-US" sz="1200" dirty="0"/>
          </a:p>
          <a:p>
            <a:r>
              <a:rPr lang="en-US" sz="1200" dirty="0"/>
              <a:t>        ParkingManager* manager = ParkingManager::</a:t>
            </a:r>
            <a:r>
              <a:rPr lang="en-US" sz="1200" dirty="0" err="1"/>
              <a:t>getInstance</a:t>
            </a:r>
            <a:r>
              <a:rPr lang="en-US" sz="1200" dirty="0"/>
              <a:t>();</a:t>
            </a:r>
          </a:p>
          <a:p>
            <a:r>
              <a:rPr lang="en-US" sz="1200" dirty="0"/>
              <a:t>        </a:t>
            </a:r>
            <a:r>
              <a:rPr lang="en-US" sz="1200" dirty="0" err="1"/>
              <a:t>ParkingTicket</a:t>
            </a:r>
            <a:r>
              <a:rPr lang="en-US" sz="1200" dirty="0"/>
              <a:t>* t = manager-&gt;</a:t>
            </a:r>
            <a:r>
              <a:rPr lang="en-US" sz="1200" dirty="0" err="1"/>
              <a:t>findTicket</a:t>
            </a:r>
            <a:r>
              <a:rPr lang="en-US" sz="1200" dirty="0"/>
              <a:t>(id</a:t>
            </a:r>
            <a:r>
              <a:rPr lang="en-US" sz="1200" dirty="0" smtClean="0"/>
              <a:t>);</a:t>
            </a:r>
            <a:endParaRPr lang="en-US" sz="1200" dirty="0"/>
          </a:p>
          <a:p>
            <a:r>
              <a:rPr lang="en-US" sz="1200" dirty="0"/>
              <a:t>        if (!t) {</a:t>
            </a:r>
          </a:p>
          <a:p>
            <a:r>
              <a:rPr lang="en-US" sz="1200" dirty="0"/>
              <a:t>            </a:t>
            </a:r>
            <a:r>
              <a:rPr lang="en-US" sz="1200" dirty="0" err="1"/>
              <a:t>cout</a:t>
            </a:r>
            <a:r>
              <a:rPr lang="en-US" sz="1200" dirty="0"/>
              <a:t> &lt;&lt; "Invalid ID\n";</a:t>
            </a:r>
          </a:p>
          <a:p>
            <a:r>
              <a:rPr lang="en-US" sz="1200" dirty="0"/>
              <a:t>            return;</a:t>
            </a:r>
          </a:p>
          <a:p>
            <a:r>
              <a:rPr lang="en-US" sz="1200" dirty="0"/>
              <a:t>        </a:t>
            </a:r>
            <a:r>
              <a:rPr lang="en-US" sz="1200" dirty="0" smtClean="0"/>
              <a:t>}</a:t>
            </a:r>
            <a:endParaRPr lang="en-US" sz="1200" dirty="0"/>
          </a:p>
          <a:p>
            <a:r>
              <a:rPr lang="en-US" sz="1200" dirty="0"/>
              <a:t>        </a:t>
            </a:r>
            <a:r>
              <a:rPr lang="en-US" sz="1200" dirty="0" err="1"/>
              <a:t>cout</a:t>
            </a:r>
            <a:r>
              <a:rPr lang="en-US" sz="1200" dirty="0"/>
              <a:t> &lt;&lt; "Enter hours: ";</a:t>
            </a:r>
          </a:p>
          <a:p>
            <a:r>
              <a:rPr lang="en-US" sz="1200" dirty="0"/>
              <a:t>        </a:t>
            </a:r>
            <a:r>
              <a:rPr lang="en-US" sz="1200" dirty="0" err="1"/>
              <a:t>cin</a:t>
            </a:r>
            <a:r>
              <a:rPr lang="en-US" sz="1200" dirty="0"/>
              <a:t> &gt;&gt; hours</a:t>
            </a:r>
            <a:r>
              <a:rPr lang="en-US" sz="1200" dirty="0" smtClean="0"/>
              <a:t>;</a:t>
            </a:r>
            <a:endParaRPr lang="en-US" sz="1200" dirty="0"/>
          </a:p>
          <a:p>
            <a:r>
              <a:rPr lang="en-US" sz="1200" dirty="0"/>
              <a:t>        t-&gt;</a:t>
            </a:r>
            <a:r>
              <a:rPr lang="en-US" sz="1200" dirty="0" err="1"/>
              <a:t>calculateFee</a:t>
            </a:r>
            <a:r>
              <a:rPr lang="en-US" sz="1200" dirty="0"/>
              <a:t>(hours);</a:t>
            </a:r>
          </a:p>
          <a:p>
            <a:r>
              <a:rPr lang="en-US" sz="1200" dirty="0"/>
              <a:t>        manager-&gt;</a:t>
            </a:r>
            <a:r>
              <a:rPr lang="en-US" sz="1200" dirty="0" err="1"/>
              <a:t>releaseSlot</a:t>
            </a:r>
            <a:r>
              <a:rPr lang="en-US" sz="1200" dirty="0"/>
              <a:t>(t</a:t>
            </a:r>
            <a:r>
              <a:rPr lang="en-US" sz="1200" dirty="0" smtClean="0"/>
              <a:t>);</a:t>
            </a:r>
            <a:endParaRPr lang="en-US" sz="1200" dirty="0"/>
          </a:p>
          <a:p>
            <a:r>
              <a:rPr lang="en-US" sz="1200" dirty="0"/>
              <a:t>        </a:t>
            </a:r>
            <a:r>
              <a:rPr lang="en-US" sz="1200" dirty="0" err="1"/>
              <a:t>cout</a:t>
            </a:r>
            <a:r>
              <a:rPr lang="en-US" sz="1200" dirty="0"/>
              <a:t> &lt;&lt; "Vehicle exited.\n";</a:t>
            </a:r>
          </a:p>
          <a:p>
            <a:r>
              <a:rPr lang="en-US" sz="1200" dirty="0"/>
              <a:t>    </a:t>
            </a:r>
            <a:r>
              <a:rPr lang="en-US" sz="1200" dirty="0" smtClean="0"/>
              <a:t>}     };</a:t>
            </a:r>
            <a:endParaRPr lang="en-US" sz="1200" dirty="0"/>
          </a:p>
          <a:p>
            <a:r>
              <a:rPr lang="en-US" sz="1200" dirty="0"/>
              <a:t>class </a:t>
            </a:r>
            <a:r>
              <a:rPr lang="en-US" sz="1200" dirty="0" err="1"/>
              <a:t>ShowSlotsCommand</a:t>
            </a:r>
            <a:r>
              <a:rPr lang="en-US" sz="1200" dirty="0"/>
              <a:t> : public Command {</a:t>
            </a:r>
          </a:p>
          <a:p>
            <a:r>
              <a:rPr lang="en-US" sz="1200" dirty="0"/>
              <a:t>public:</a:t>
            </a:r>
          </a:p>
          <a:p>
            <a:r>
              <a:rPr lang="en-US" sz="1200" dirty="0"/>
              <a:t>    void execute() {</a:t>
            </a:r>
          </a:p>
          <a:p>
            <a:r>
              <a:rPr lang="en-US" sz="1200" dirty="0"/>
              <a:t>        ParkingManager::</a:t>
            </a:r>
            <a:r>
              <a:rPr lang="en-US" sz="1200" dirty="0" err="1"/>
              <a:t>getInstance</a:t>
            </a:r>
            <a:r>
              <a:rPr lang="en-US" sz="1200" dirty="0"/>
              <a:t>()-&gt;</a:t>
            </a:r>
            <a:r>
              <a:rPr lang="en-US" sz="1200" dirty="0" err="1"/>
              <a:t>showAvailableSlots</a:t>
            </a:r>
            <a:r>
              <a:rPr lang="en-US" sz="1200" dirty="0" smtClean="0"/>
              <a:t>();     }    };</a:t>
            </a:r>
            <a:endParaRPr lang="en-US" sz="1200" dirty="0"/>
          </a:p>
        </p:txBody>
      </p:sp>
    </p:spTree>
    <p:extLst>
      <p:ext uri="{BB962C8B-B14F-4D97-AF65-F5344CB8AC3E}">
        <p14:creationId xmlns:p14="http://schemas.microsoft.com/office/powerpoint/2010/main" val="5579711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Man is writing something">
            <a:extLst>
              <a:ext uri="{FF2B5EF4-FFF2-40B4-BE49-F238E27FC236}">
                <a16:creationId xmlns:a16="http://schemas.microsoft.com/office/drawing/2014/main" id="{0A33CFDA-BCA7-49BA-9355-8A965303C939}"/>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a:stretch/>
        </p:blipFill>
        <p:spPr>
          <a:xfrm>
            <a:off x="9658" y="0"/>
            <a:ext cx="12173884" cy="6400800"/>
          </a:xfrm>
        </p:spPr>
      </p:pic>
      <p:sp>
        <p:nvSpPr>
          <p:cNvPr id="36" name="Text Placeholder 35">
            <a:extLst>
              <a:ext uri="{FF2B5EF4-FFF2-40B4-BE49-F238E27FC236}">
                <a16:creationId xmlns:a16="http://schemas.microsoft.com/office/drawing/2014/main" id="{D8BB1268-1039-4D54-B4AA-86EDC245C814}"/>
              </a:ext>
            </a:extLst>
          </p:cNvPr>
          <p:cNvSpPr>
            <a:spLocks noGrp="1"/>
          </p:cNvSpPr>
          <p:nvPr>
            <p:ph type="body" sz="quarter" idx="14"/>
          </p:nvPr>
        </p:nvSpPr>
        <p:spPr/>
        <p:txBody>
          <a:bodyPr/>
          <a:lstStyle/>
          <a:p>
            <a:pPr marL="0" indent="0">
              <a:buNone/>
            </a:pPr>
            <a:r>
              <a:rPr lang="en-US" dirty="0"/>
              <a:t>C++ Implementation</a:t>
            </a:r>
          </a:p>
        </p:txBody>
      </p:sp>
      <p:sp>
        <p:nvSpPr>
          <p:cNvPr id="3" name="Title 2">
            <a:extLst>
              <a:ext uri="{FF2B5EF4-FFF2-40B4-BE49-F238E27FC236}">
                <a16:creationId xmlns:a16="http://schemas.microsoft.com/office/drawing/2014/main" id="{5D346076-8F22-4F03-8E34-958F0BBF9C63}"/>
              </a:ext>
            </a:extLst>
          </p:cNvPr>
          <p:cNvSpPr>
            <a:spLocks noGrp="1"/>
          </p:cNvSpPr>
          <p:nvPr>
            <p:ph type="title"/>
          </p:nvPr>
        </p:nvSpPr>
        <p:spPr>
          <a:xfrm>
            <a:off x="5356143" y="3975295"/>
            <a:ext cx="6835858" cy="1089350"/>
          </a:xfrm>
        </p:spPr>
        <p:txBody>
          <a:bodyPr/>
          <a:lstStyle/>
          <a:p>
            <a:r>
              <a:rPr lang="en-US" dirty="0" smtClean="0"/>
              <a:t>TASK 3 :</a:t>
            </a:r>
            <a:endParaRPr lang="en-US" dirty="0"/>
          </a:p>
        </p:txBody>
      </p:sp>
      <p:cxnSp>
        <p:nvCxnSpPr>
          <p:cNvPr id="24" name="Straight Connector 23" descr="Line">
            <a:extLst>
              <a:ext uri="{FF2B5EF4-FFF2-40B4-BE49-F238E27FC236}">
                <a16:creationId xmlns:a16="http://schemas.microsoft.com/office/drawing/2014/main" id="{D1EE87BC-47EA-4487-9066-EB3C39096F51}"/>
              </a:ext>
            </a:extLst>
          </p:cNvPr>
          <p:cNvCxnSpPr>
            <a:cxnSpLocks/>
          </p:cNvCxnSpPr>
          <p:nvPr/>
        </p:nvCxnSpPr>
        <p:spPr>
          <a:xfrm>
            <a:off x="5770474" y="4973957"/>
            <a:ext cx="3291840"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6CB6A36E-F0DA-4D85-BCF8-6898A25A79C2}"/>
              </a:ext>
            </a:extLst>
          </p:cNvPr>
          <p:cNvSpPr>
            <a:spLocks noGrp="1"/>
          </p:cNvSpPr>
          <p:nvPr>
            <p:ph type="sldNum" sz="quarter" idx="12"/>
          </p:nvPr>
        </p:nvSpPr>
        <p:spPr/>
        <p:txBody>
          <a:bodyPr/>
          <a:lstStyle/>
          <a:p>
            <a:fld id="{3A98EE3D-8CD1-4C3F-BD1C-C98C9596463C}" type="slidenum">
              <a:rPr lang="en-US" smtClean="0"/>
              <a:t>16</a:t>
            </a:fld>
            <a:endParaRPr lang="en-US" dirty="0"/>
          </a:p>
        </p:txBody>
      </p:sp>
    </p:spTree>
    <p:extLst>
      <p:ext uri="{BB962C8B-B14F-4D97-AF65-F5344CB8AC3E}">
        <p14:creationId xmlns:p14="http://schemas.microsoft.com/office/powerpoint/2010/main" val="27168364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Man and woman discuss some document">
            <a:extLst>
              <a:ext uri="{FF2B5EF4-FFF2-40B4-BE49-F238E27FC236}">
                <a16:creationId xmlns:a16="http://schemas.microsoft.com/office/drawing/2014/main" id="{34A80249-1835-46E9-87C9-48F4BEE1EC64}"/>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211" y="0"/>
            <a:ext cx="12187578" cy="6408000"/>
          </a:xfrm>
        </p:spPr>
      </p:pic>
      <p:sp>
        <p:nvSpPr>
          <p:cNvPr id="14" name="Slide Number Placeholder 13">
            <a:extLst>
              <a:ext uri="{FF2B5EF4-FFF2-40B4-BE49-F238E27FC236}">
                <a16:creationId xmlns:a16="http://schemas.microsoft.com/office/drawing/2014/main" id="{D59E194F-ECD6-4685-8562-5B7AB400EC93}"/>
              </a:ext>
            </a:extLst>
          </p:cNvPr>
          <p:cNvSpPr>
            <a:spLocks noGrp="1"/>
          </p:cNvSpPr>
          <p:nvPr>
            <p:ph type="sldNum" sz="quarter" idx="12"/>
          </p:nvPr>
        </p:nvSpPr>
        <p:spPr/>
        <p:txBody>
          <a:bodyPr/>
          <a:lstStyle/>
          <a:p>
            <a:fld id="{3A98EE3D-8CD1-4C3F-BD1C-C98C9596463C}" type="slidenum">
              <a:rPr lang="en-US" smtClean="0"/>
              <a:pPr/>
              <a:t>17</a:t>
            </a:fld>
            <a:endParaRPr lang="en-US" dirty="0"/>
          </a:p>
        </p:txBody>
      </p:sp>
      <p:sp>
        <p:nvSpPr>
          <p:cNvPr id="2" name="Title 1">
            <a:extLst>
              <a:ext uri="{FF2B5EF4-FFF2-40B4-BE49-F238E27FC236}">
                <a16:creationId xmlns:a16="http://schemas.microsoft.com/office/drawing/2014/main" id="{EC6C92D3-8AE6-4260-8F63-97ED33A064D5}"/>
              </a:ext>
            </a:extLst>
          </p:cNvPr>
          <p:cNvSpPr>
            <a:spLocks noGrp="1"/>
          </p:cNvSpPr>
          <p:nvPr>
            <p:ph type="title"/>
          </p:nvPr>
        </p:nvSpPr>
        <p:spPr/>
        <p:txBody>
          <a:bodyPr/>
          <a:lstStyle/>
          <a:p>
            <a:r>
              <a:rPr lang="en-US" dirty="0" smtClean="0"/>
              <a:t>C++ Implementation:</a:t>
            </a:r>
            <a:endParaRPr lang="en-US" dirty="0"/>
          </a:p>
        </p:txBody>
      </p:sp>
      <p:sp>
        <p:nvSpPr>
          <p:cNvPr id="8" name="Rectangle 4"/>
          <p:cNvSpPr>
            <a:spLocks noChangeArrowheads="1"/>
          </p:cNvSpPr>
          <p:nvPr/>
        </p:nvSpPr>
        <p:spPr bwMode="auto">
          <a:xfrm>
            <a:off x="0" y="-54124"/>
            <a:ext cx="65" cy="565449"/>
          </a:xfrm>
          <a:prstGeom prst="rect">
            <a:avLst/>
          </a:prstGeom>
          <a:solidFill>
            <a:srgbClr val="F0F2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9"/>
          <p:cNvSpPr>
            <a:spLocks noChangeArrowheads="1"/>
          </p:cNvSpPr>
          <p:nvPr/>
        </p:nvSpPr>
        <p:spPr bwMode="auto">
          <a:xfrm>
            <a:off x="0" y="-541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TextBox 8"/>
          <p:cNvSpPr txBox="1"/>
          <p:nvPr/>
        </p:nvSpPr>
        <p:spPr>
          <a:xfrm>
            <a:off x="105609" y="1350661"/>
            <a:ext cx="5486400" cy="5216813"/>
          </a:xfrm>
          <a:prstGeom prst="rect">
            <a:avLst/>
          </a:prstGeom>
          <a:noFill/>
        </p:spPr>
        <p:txBody>
          <a:bodyPr wrap="square" rtlCol="0">
            <a:spAutoFit/>
          </a:bodyPr>
          <a:lstStyle/>
          <a:p>
            <a:r>
              <a:rPr lang="en-US" dirty="0"/>
              <a:t>#include&lt;</a:t>
            </a:r>
            <a:r>
              <a:rPr lang="en-US" dirty="0" err="1"/>
              <a:t>iostream</a:t>
            </a:r>
            <a:r>
              <a:rPr lang="en-US" dirty="0"/>
              <a:t>&gt;</a:t>
            </a:r>
          </a:p>
          <a:p>
            <a:r>
              <a:rPr lang="en-US" dirty="0"/>
              <a:t>#include&lt;vector&gt;</a:t>
            </a:r>
          </a:p>
          <a:p>
            <a:r>
              <a:rPr lang="en-US" dirty="0"/>
              <a:t>#include&lt;string&gt;</a:t>
            </a:r>
          </a:p>
          <a:p>
            <a:endParaRPr lang="en-US" dirty="0"/>
          </a:p>
          <a:p>
            <a:r>
              <a:rPr lang="en-US" dirty="0"/>
              <a:t>using namespace </a:t>
            </a:r>
            <a:r>
              <a:rPr lang="en-US" dirty="0" err="1"/>
              <a:t>std</a:t>
            </a:r>
            <a:r>
              <a:rPr lang="en-US" dirty="0"/>
              <a:t>;</a:t>
            </a:r>
          </a:p>
          <a:p>
            <a:endParaRPr lang="en-US" dirty="0"/>
          </a:p>
          <a:p>
            <a:r>
              <a:rPr lang="en-US" dirty="0"/>
              <a:t>// ================= VEHICLE =================</a:t>
            </a:r>
          </a:p>
          <a:p>
            <a:r>
              <a:rPr lang="en-US" dirty="0"/>
              <a:t>class Vehicle {</a:t>
            </a:r>
          </a:p>
          <a:p>
            <a:r>
              <a:rPr lang="en-US" dirty="0"/>
              <a:t>public:</a:t>
            </a:r>
          </a:p>
          <a:p>
            <a:r>
              <a:rPr lang="en-US" dirty="0"/>
              <a:t>    virtual void display() = 0;</a:t>
            </a:r>
          </a:p>
          <a:p>
            <a:r>
              <a:rPr lang="en-US" dirty="0"/>
              <a:t>    virtual string </a:t>
            </a:r>
            <a:r>
              <a:rPr lang="en-US" dirty="0" err="1"/>
              <a:t>getType</a:t>
            </a:r>
            <a:r>
              <a:rPr lang="en-US" dirty="0"/>
              <a:t>() = 0;</a:t>
            </a:r>
          </a:p>
          <a:p>
            <a:r>
              <a:rPr lang="en-US" dirty="0"/>
              <a:t>};</a:t>
            </a:r>
          </a:p>
          <a:p>
            <a:endParaRPr lang="en-US" dirty="0"/>
          </a:p>
          <a:p>
            <a:r>
              <a:rPr lang="en-US" dirty="0"/>
              <a:t>class Car : public Vehicle {</a:t>
            </a:r>
          </a:p>
          <a:p>
            <a:r>
              <a:rPr lang="en-US" dirty="0"/>
              <a:t>public:</a:t>
            </a:r>
          </a:p>
          <a:p>
            <a:r>
              <a:rPr lang="en-US" dirty="0"/>
              <a:t>    void display() { </a:t>
            </a:r>
            <a:r>
              <a:rPr lang="en-US" dirty="0" err="1"/>
              <a:t>cout</a:t>
            </a:r>
            <a:r>
              <a:rPr lang="en-US" dirty="0"/>
              <a:t> &lt;&lt; "Car entered the parking.\n"; }</a:t>
            </a:r>
          </a:p>
          <a:p>
            <a:r>
              <a:rPr lang="en-US" dirty="0"/>
              <a:t>    string </a:t>
            </a:r>
            <a:r>
              <a:rPr lang="en-US" dirty="0" err="1"/>
              <a:t>getType</a:t>
            </a:r>
            <a:r>
              <a:rPr lang="en-US" dirty="0"/>
              <a:t>() { return "car"; }</a:t>
            </a:r>
          </a:p>
          <a:p>
            <a:r>
              <a:rPr lang="en-US" dirty="0"/>
              <a:t>};</a:t>
            </a:r>
          </a:p>
          <a:p>
            <a:endParaRPr lang="en-US" sz="900" dirty="0"/>
          </a:p>
        </p:txBody>
      </p:sp>
      <p:sp>
        <p:nvSpPr>
          <p:cNvPr id="11" name="TextBox 10"/>
          <p:cNvSpPr txBox="1"/>
          <p:nvPr/>
        </p:nvSpPr>
        <p:spPr>
          <a:xfrm>
            <a:off x="5695406" y="1476103"/>
            <a:ext cx="6374674" cy="4801314"/>
          </a:xfrm>
          <a:prstGeom prst="rect">
            <a:avLst/>
          </a:prstGeom>
          <a:noFill/>
        </p:spPr>
        <p:txBody>
          <a:bodyPr wrap="square" rtlCol="0">
            <a:spAutoFit/>
          </a:bodyPr>
          <a:lstStyle/>
          <a:p>
            <a:r>
              <a:rPr lang="en-US" dirty="0"/>
              <a:t>class Bike : public Vehicle {</a:t>
            </a:r>
          </a:p>
          <a:p>
            <a:r>
              <a:rPr lang="en-US" dirty="0"/>
              <a:t>public:</a:t>
            </a:r>
          </a:p>
          <a:p>
            <a:r>
              <a:rPr lang="en-US" dirty="0"/>
              <a:t>    void display() { </a:t>
            </a:r>
            <a:r>
              <a:rPr lang="en-US" dirty="0" err="1"/>
              <a:t>cout</a:t>
            </a:r>
            <a:r>
              <a:rPr lang="en-US" dirty="0"/>
              <a:t> &lt;&lt; "Bike entered the parking.\n"; }</a:t>
            </a:r>
          </a:p>
          <a:p>
            <a:r>
              <a:rPr lang="en-US" dirty="0"/>
              <a:t>    string </a:t>
            </a:r>
            <a:r>
              <a:rPr lang="en-US" dirty="0" err="1"/>
              <a:t>getType</a:t>
            </a:r>
            <a:r>
              <a:rPr lang="en-US" dirty="0"/>
              <a:t>() { return "bike"; }</a:t>
            </a:r>
          </a:p>
          <a:p>
            <a:r>
              <a:rPr lang="en-US" dirty="0"/>
              <a:t>};</a:t>
            </a:r>
          </a:p>
          <a:p>
            <a:endParaRPr lang="en-US" dirty="0"/>
          </a:p>
          <a:p>
            <a:r>
              <a:rPr lang="en-US" dirty="0"/>
              <a:t>// ================= FACTORY =================</a:t>
            </a:r>
          </a:p>
          <a:p>
            <a:r>
              <a:rPr lang="en-US" dirty="0"/>
              <a:t>class </a:t>
            </a:r>
            <a:r>
              <a:rPr lang="en-US" dirty="0" err="1"/>
              <a:t>VehicleFactory</a:t>
            </a:r>
            <a:r>
              <a:rPr lang="en-US" dirty="0"/>
              <a:t> {</a:t>
            </a:r>
          </a:p>
          <a:p>
            <a:r>
              <a:rPr lang="en-US" dirty="0"/>
              <a:t>public:</a:t>
            </a:r>
          </a:p>
          <a:p>
            <a:r>
              <a:rPr lang="en-US" dirty="0"/>
              <a:t>    static Vehicle* </a:t>
            </a:r>
            <a:r>
              <a:rPr lang="en-US" dirty="0" err="1"/>
              <a:t>createVehicle</a:t>
            </a:r>
            <a:r>
              <a:rPr lang="en-US" dirty="0"/>
              <a:t>(string type) {</a:t>
            </a:r>
          </a:p>
          <a:p>
            <a:r>
              <a:rPr lang="en-US" dirty="0"/>
              <a:t>        if (type == "car" || type == "Car" || type == "CAR")</a:t>
            </a:r>
          </a:p>
          <a:p>
            <a:r>
              <a:rPr lang="en-US" dirty="0"/>
              <a:t>            return new Car();</a:t>
            </a:r>
          </a:p>
          <a:p>
            <a:r>
              <a:rPr lang="en-US" dirty="0"/>
              <a:t>        else if (type == "bike" || type == "Bike" || type == "BIKE")</a:t>
            </a:r>
          </a:p>
          <a:p>
            <a:r>
              <a:rPr lang="en-US" dirty="0"/>
              <a:t>            return new Bike();</a:t>
            </a:r>
          </a:p>
          <a:p>
            <a:r>
              <a:rPr lang="en-US" dirty="0"/>
              <a:t>        return </a:t>
            </a:r>
            <a:r>
              <a:rPr lang="en-US" dirty="0" err="1"/>
              <a:t>nullptr</a:t>
            </a:r>
            <a:r>
              <a:rPr lang="en-US" dirty="0"/>
              <a:t>;</a:t>
            </a:r>
          </a:p>
          <a:p>
            <a:r>
              <a:rPr lang="en-US" dirty="0"/>
              <a:t>    }</a:t>
            </a:r>
          </a:p>
          <a:p>
            <a:r>
              <a:rPr lang="en-US" dirty="0"/>
              <a:t>};</a:t>
            </a:r>
          </a:p>
        </p:txBody>
      </p:sp>
      <p:cxnSp>
        <p:nvCxnSpPr>
          <p:cNvPr id="15" name="Straight Connector 14"/>
          <p:cNvCxnSpPr/>
          <p:nvPr/>
        </p:nvCxnSpPr>
        <p:spPr>
          <a:xfrm>
            <a:off x="5575697" y="1566268"/>
            <a:ext cx="0" cy="4596492"/>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99070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Man and woman discuss some document">
            <a:extLst>
              <a:ext uri="{FF2B5EF4-FFF2-40B4-BE49-F238E27FC236}">
                <a16:creationId xmlns:a16="http://schemas.microsoft.com/office/drawing/2014/main" id="{34A80249-1835-46E9-87C9-48F4BEE1EC64}"/>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211" y="0"/>
            <a:ext cx="12187578" cy="6408000"/>
          </a:xfrm>
        </p:spPr>
      </p:pic>
      <p:sp>
        <p:nvSpPr>
          <p:cNvPr id="14" name="Slide Number Placeholder 13">
            <a:extLst>
              <a:ext uri="{FF2B5EF4-FFF2-40B4-BE49-F238E27FC236}">
                <a16:creationId xmlns:a16="http://schemas.microsoft.com/office/drawing/2014/main" id="{D59E194F-ECD6-4685-8562-5B7AB400EC93}"/>
              </a:ext>
            </a:extLst>
          </p:cNvPr>
          <p:cNvSpPr>
            <a:spLocks noGrp="1"/>
          </p:cNvSpPr>
          <p:nvPr>
            <p:ph type="sldNum" sz="quarter" idx="12"/>
          </p:nvPr>
        </p:nvSpPr>
        <p:spPr/>
        <p:txBody>
          <a:bodyPr/>
          <a:lstStyle/>
          <a:p>
            <a:fld id="{3A98EE3D-8CD1-4C3F-BD1C-C98C9596463C}" type="slidenum">
              <a:rPr lang="en-US" smtClean="0"/>
              <a:pPr/>
              <a:t>18</a:t>
            </a:fld>
            <a:endParaRPr lang="en-US" dirty="0"/>
          </a:p>
        </p:txBody>
      </p:sp>
      <p:sp>
        <p:nvSpPr>
          <p:cNvPr id="2" name="Title 1">
            <a:extLst>
              <a:ext uri="{FF2B5EF4-FFF2-40B4-BE49-F238E27FC236}">
                <a16:creationId xmlns:a16="http://schemas.microsoft.com/office/drawing/2014/main" id="{EC6C92D3-8AE6-4260-8F63-97ED33A064D5}"/>
              </a:ext>
            </a:extLst>
          </p:cNvPr>
          <p:cNvSpPr>
            <a:spLocks noGrp="1"/>
          </p:cNvSpPr>
          <p:nvPr>
            <p:ph type="title"/>
          </p:nvPr>
        </p:nvSpPr>
        <p:spPr/>
        <p:txBody>
          <a:bodyPr/>
          <a:lstStyle/>
          <a:p>
            <a:r>
              <a:rPr lang="en-US" dirty="0" smtClean="0"/>
              <a:t>C++ Implementation:</a:t>
            </a:r>
            <a:endParaRPr lang="en-US" dirty="0"/>
          </a:p>
        </p:txBody>
      </p:sp>
      <p:sp>
        <p:nvSpPr>
          <p:cNvPr id="8" name="Rectangle 4"/>
          <p:cNvSpPr>
            <a:spLocks noChangeArrowheads="1"/>
          </p:cNvSpPr>
          <p:nvPr/>
        </p:nvSpPr>
        <p:spPr bwMode="auto">
          <a:xfrm>
            <a:off x="0" y="-54124"/>
            <a:ext cx="65" cy="565449"/>
          </a:xfrm>
          <a:prstGeom prst="rect">
            <a:avLst/>
          </a:prstGeom>
          <a:solidFill>
            <a:srgbClr val="F0F2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9"/>
          <p:cNvSpPr>
            <a:spLocks noChangeArrowheads="1"/>
          </p:cNvSpPr>
          <p:nvPr/>
        </p:nvSpPr>
        <p:spPr bwMode="auto">
          <a:xfrm>
            <a:off x="0" y="-541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TextBox 4"/>
          <p:cNvSpPr txBox="1"/>
          <p:nvPr/>
        </p:nvSpPr>
        <p:spPr>
          <a:xfrm>
            <a:off x="0" y="1350661"/>
            <a:ext cx="6100354" cy="1354217"/>
          </a:xfrm>
          <a:prstGeom prst="rect">
            <a:avLst/>
          </a:prstGeom>
          <a:noFill/>
        </p:spPr>
        <p:txBody>
          <a:bodyPr wrap="square" rtlCol="0">
            <a:spAutoFit/>
          </a:bodyPr>
          <a:lstStyle/>
          <a:p>
            <a:pPr lvl="0"/>
            <a:r>
              <a:rPr lang="en-US" altLang="en-US" sz="2400" dirty="0"/>
              <a:t/>
            </a:r>
            <a:br>
              <a:rPr lang="en-US" altLang="en-US" sz="2400" dirty="0"/>
            </a:br>
            <a:endParaRPr lang="en-US" altLang="en-US" sz="4000" dirty="0">
              <a:latin typeface="Arial" panose="020B0604020202020204" pitchFamily="34" charset="0"/>
            </a:endParaRPr>
          </a:p>
          <a:p>
            <a:endParaRPr lang="en-US" dirty="0"/>
          </a:p>
        </p:txBody>
      </p:sp>
      <p:sp>
        <p:nvSpPr>
          <p:cNvPr id="10" name="TextBox 9"/>
          <p:cNvSpPr txBox="1"/>
          <p:nvPr/>
        </p:nvSpPr>
        <p:spPr>
          <a:xfrm>
            <a:off x="104503" y="1449977"/>
            <a:ext cx="5590903" cy="4801314"/>
          </a:xfrm>
          <a:prstGeom prst="rect">
            <a:avLst/>
          </a:prstGeom>
          <a:noFill/>
        </p:spPr>
        <p:txBody>
          <a:bodyPr wrap="square" rtlCol="0">
            <a:spAutoFit/>
          </a:bodyPr>
          <a:lstStyle/>
          <a:p>
            <a:r>
              <a:rPr lang="en-US" dirty="0"/>
              <a:t>// ================= STATE PATTERN =================</a:t>
            </a:r>
          </a:p>
          <a:p>
            <a:endParaRPr lang="en-US" dirty="0"/>
          </a:p>
          <a:p>
            <a:r>
              <a:rPr lang="en-US" dirty="0"/>
              <a:t>class SlotState {</a:t>
            </a:r>
          </a:p>
          <a:p>
            <a:r>
              <a:rPr lang="en-US" dirty="0"/>
              <a:t>public:</a:t>
            </a:r>
          </a:p>
          <a:p>
            <a:r>
              <a:rPr lang="en-US" dirty="0"/>
              <a:t>    virtual string </a:t>
            </a:r>
            <a:r>
              <a:rPr lang="en-US" dirty="0" err="1"/>
              <a:t>getState</a:t>
            </a:r>
            <a:r>
              <a:rPr lang="en-US" dirty="0"/>
              <a:t>() = 0;</a:t>
            </a:r>
          </a:p>
          <a:p>
            <a:r>
              <a:rPr lang="en-US" dirty="0"/>
              <a:t>};</a:t>
            </a:r>
          </a:p>
          <a:p>
            <a:endParaRPr lang="en-US" dirty="0"/>
          </a:p>
          <a:p>
            <a:r>
              <a:rPr lang="en-US" dirty="0"/>
              <a:t>class </a:t>
            </a:r>
            <a:r>
              <a:rPr lang="en-US" dirty="0" err="1"/>
              <a:t>AvailableState</a:t>
            </a:r>
            <a:r>
              <a:rPr lang="en-US" dirty="0"/>
              <a:t> : public SlotState {</a:t>
            </a:r>
          </a:p>
          <a:p>
            <a:r>
              <a:rPr lang="en-US" dirty="0"/>
              <a:t>public:</a:t>
            </a:r>
          </a:p>
          <a:p>
            <a:r>
              <a:rPr lang="en-US" dirty="0"/>
              <a:t>    string </a:t>
            </a:r>
            <a:r>
              <a:rPr lang="en-US" dirty="0" err="1"/>
              <a:t>getState</a:t>
            </a:r>
            <a:r>
              <a:rPr lang="en-US" dirty="0"/>
              <a:t>() { return "Available"; }</a:t>
            </a:r>
          </a:p>
          <a:p>
            <a:r>
              <a:rPr lang="en-US" dirty="0"/>
              <a:t>};</a:t>
            </a:r>
          </a:p>
          <a:p>
            <a:endParaRPr lang="en-US" dirty="0"/>
          </a:p>
          <a:p>
            <a:r>
              <a:rPr lang="en-US" dirty="0"/>
              <a:t>class </a:t>
            </a:r>
            <a:r>
              <a:rPr lang="en-US" dirty="0" err="1"/>
              <a:t>OccupiedState</a:t>
            </a:r>
            <a:r>
              <a:rPr lang="en-US" dirty="0"/>
              <a:t> : public SlotState {</a:t>
            </a:r>
          </a:p>
          <a:p>
            <a:r>
              <a:rPr lang="en-US" dirty="0"/>
              <a:t>public:</a:t>
            </a:r>
          </a:p>
          <a:p>
            <a:r>
              <a:rPr lang="en-US" dirty="0"/>
              <a:t>    string </a:t>
            </a:r>
            <a:r>
              <a:rPr lang="en-US" dirty="0" err="1"/>
              <a:t>getState</a:t>
            </a:r>
            <a:r>
              <a:rPr lang="en-US" dirty="0"/>
              <a:t>() { return "Occupied"; }</a:t>
            </a:r>
          </a:p>
          <a:p>
            <a:r>
              <a:rPr lang="en-US" dirty="0"/>
              <a:t>};</a:t>
            </a:r>
          </a:p>
        </p:txBody>
      </p:sp>
      <p:sp>
        <p:nvSpPr>
          <p:cNvPr id="11" name="TextBox 10"/>
          <p:cNvSpPr txBox="1"/>
          <p:nvPr/>
        </p:nvSpPr>
        <p:spPr>
          <a:xfrm>
            <a:off x="5695406" y="1449977"/>
            <a:ext cx="6074228" cy="5078313"/>
          </a:xfrm>
          <a:prstGeom prst="rect">
            <a:avLst/>
          </a:prstGeom>
          <a:noFill/>
        </p:spPr>
        <p:txBody>
          <a:bodyPr wrap="square" rtlCol="0">
            <a:spAutoFit/>
          </a:bodyPr>
          <a:lstStyle/>
          <a:p>
            <a:r>
              <a:rPr lang="en-US" sz="1200" dirty="0"/>
              <a:t>// ================= PARKING SLOT =================</a:t>
            </a:r>
          </a:p>
          <a:p>
            <a:r>
              <a:rPr lang="en-US" sz="1200" dirty="0"/>
              <a:t>class </a:t>
            </a:r>
            <a:r>
              <a:rPr lang="en-US" sz="1200" dirty="0" err="1"/>
              <a:t>ParkingSlot</a:t>
            </a:r>
            <a:r>
              <a:rPr lang="en-US" sz="1200" dirty="0"/>
              <a:t> {</a:t>
            </a:r>
          </a:p>
          <a:p>
            <a:r>
              <a:rPr lang="en-US" sz="1200" dirty="0"/>
              <a:t>public:</a:t>
            </a:r>
          </a:p>
          <a:p>
            <a:r>
              <a:rPr lang="en-US" sz="1200" dirty="0"/>
              <a:t>    </a:t>
            </a:r>
            <a:r>
              <a:rPr lang="en-US" sz="1200" dirty="0" err="1"/>
              <a:t>int</a:t>
            </a:r>
            <a:r>
              <a:rPr lang="en-US" sz="1200" dirty="0"/>
              <a:t> </a:t>
            </a:r>
            <a:r>
              <a:rPr lang="en-US" sz="1200" dirty="0" err="1"/>
              <a:t>slotID</a:t>
            </a:r>
            <a:r>
              <a:rPr lang="en-US" sz="1200" dirty="0"/>
              <a:t>;</a:t>
            </a:r>
          </a:p>
          <a:p>
            <a:r>
              <a:rPr lang="en-US" sz="1200" dirty="0"/>
              <a:t>    Vehicle* vehicle;</a:t>
            </a:r>
          </a:p>
          <a:p>
            <a:r>
              <a:rPr lang="en-US" sz="1200" dirty="0"/>
              <a:t>    SlotState* state;</a:t>
            </a:r>
          </a:p>
          <a:p>
            <a:endParaRPr lang="en-US" sz="1200" dirty="0"/>
          </a:p>
          <a:p>
            <a:r>
              <a:rPr lang="en-US" sz="1200" dirty="0"/>
              <a:t>    </a:t>
            </a:r>
            <a:r>
              <a:rPr lang="en-US" sz="1200" dirty="0" err="1"/>
              <a:t>ParkingSlot</a:t>
            </a:r>
            <a:r>
              <a:rPr lang="en-US" sz="1200" dirty="0"/>
              <a:t>(</a:t>
            </a:r>
            <a:r>
              <a:rPr lang="en-US" sz="1200" dirty="0" err="1"/>
              <a:t>int</a:t>
            </a:r>
            <a:r>
              <a:rPr lang="en-US" sz="1200" dirty="0"/>
              <a:t> id) {</a:t>
            </a:r>
          </a:p>
          <a:p>
            <a:r>
              <a:rPr lang="en-US" sz="1200" dirty="0"/>
              <a:t>        </a:t>
            </a:r>
            <a:r>
              <a:rPr lang="en-US" sz="1200" dirty="0" err="1"/>
              <a:t>slotID</a:t>
            </a:r>
            <a:r>
              <a:rPr lang="en-US" sz="1200" dirty="0"/>
              <a:t> = id;</a:t>
            </a:r>
          </a:p>
          <a:p>
            <a:r>
              <a:rPr lang="en-US" sz="1200" dirty="0"/>
              <a:t>        vehicle = </a:t>
            </a:r>
            <a:r>
              <a:rPr lang="en-US" sz="1200" dirty="0" err="1"/>
              <a:t>nullptr</a:t>
            </a:r>
            <a:r>
              <a:rPr lang="en-US" sz="1200" dirty="0"/>
              <a:t>;</a:t>
            </a:r>
          </a:p>
          <a:p>
            <a:r>
              <a:rPr lang="en-US" sz="1200" dirty="0"/>
              <a:t>        state = new </a:t>
            </a:r>
            <a:r>
              <a:rPr lang="en-US" sz="1200" dirty="0" err="1"/>
              <a:t>AvailableState</a:t>
            </a:r>
            <a:r>
              <a:rPr lang="en-US" sz="1200" dirty="0"/>
              <a:t>();</a:t>
            </a:r>
          </a:p>
          <a:p>
            <a:r>
              <a:rPr lang="en-US" sz="1200" dirty="0"/>
              <a:t>    }</a:t>
            </a:r>
          </a:p>
          <a:p>
            <a:endParaRPr lang="en-US" sz="1200" dirty="0"/>
          </a:p>
          <a:p>
            <a:r>
              <a:rPr lang="en-US" sz="1200" dirty="0"/>
              <a:t>    bool </a:t>
            </a:r>
            <a:r>
              <a:rPr lang="en-US" sz="1200" dirty="0" err="1"/>
              <a:t>isAvailable</a:t>
            </a:r>
            <a:r>
              <a:rPr lang="en-US" sz="1200" dirty="0"/>
              <a:t>() {</a:t>
            </a:r>
          </a:p>
          <a:p>
            <a:r>
              <a:rPr lang="en-US" sz="1200" dirty="0"/>
              <a:t>        return state-&gt;</a:t>
            </a:r>
            <a:r>
              <a:rPr lang="en-US" sz="1200" dirty="0" err="1"/>
              <a:t>getState</a:t>
            </a:r>
            <a:r>
              <a:rPr lang="en-US" sz="1200" dirty="0"/>
              <a:t>() == "Available";</a:t>
            </a:r>
          </a:p>
          <a:p>
            <a:r>
              <a:rPr lang="en-US" sz="1200" dirty="0"/>
              <a:t>    }</a:t>
            </a:r>
          </a:p>
          <a:p>
            <a:endParaRPr lang="en-US" sz="1200" dirty="0"/>
          </a:p>
          <a:p>
            <a:r>
              <a:rPr lang="en-US" sz="1200" dirty="0"/>
              <a:t>    void </a:t>
            </a:r>
            <a:r>
              <a:rPr lang="en-US" sz="1200" dirty="0" err="1"/>
              <a:t>parkVehicle</a:t>
            </a:r>
            <a:r>
              <a:rPr lang="en-US" sz="1200" dirty="0"/>
              <a:t>(Vehicle* v) {</a:t>
            </a:r>
          </a:p>
          <a:p>
            <a:r>
              <a:rPr lang="en-US" sz="1200" dirty="0"/>
              <a:t>        vehicle = v;</a:t>
            </a:r>
          </a:p>
          <a:p>
            <a:r>
              <a:rPr lang="en-US" sz="1200" dirty="0"/>
              <a:t>        state = new </a:t>
            </a:r>
            <a:r>
              <a:rPr lang="en-US" sz="1200" dirty="0" err="1"/>
              <a:t>OccupiedState</a:t>
            </a:r>
            <a:r>
              <a:rPr lang="en-US" sz="1200" dirty="0"/>
              <a:t>();</a:t>
            </a:r>
          </a:p>
          <a:p>
            <a:r>
              <a:rPr lang="en-US" sz="1200" dirty="0"/>
              <a:t>    }</a:t>
            </a:r>
          </a:p>
          <a:p>
            <a:endParaRPr lang="en-US" sz="1200" dirty="0"/>
          </a:p>
          <a:p>
            <a:r>
              <a:rPr lang="en-US" sz="1200" dirty="0"/>
              <a:t>    void </a:t>
            </a:r>
            <a:r>
              <a:rPr lang="en-US" sz="1200" dirty="0" err="1"/>
              <a:t>removeVehicle</a:t>
            </a:r>
            <a:r>
              <a:rPr lang="en-US" sz="1200" dirty="0"/>
              <a:t>() {</a:t>
            </a:r>
          </a:p>
          <a:p>
            <a:r>
              <a:rPr lang="en-US" sz="1200" dirty="0"/>
              <a:t>        vehicle = </a:t>
            </a:r>
            <a:r>
              <a:rPr lang="en-US" sz="1200" dirty="0" err="1"/>
              <a:t>nullptr</a:t>
            </a:r>
            <a:r>
              <a:rPr lang="en-US" sz="1200" dirty="0"/>
              <a:t>;</a:t>
            </a:r>
          </a:p>
          <a:p>
            <a:r>
              <a:rPr lang="en-US" sz="1200" dirty="0"/>
              <a:t>        state = new </a:t>
            </a:r>
            <a:r>
              <a:rPr lang="en-US" sz="1200" dirty="0" err="1"/>
              <a:t>AvailableState</a:t>
            </a:r>
            <a:r>
              <a:rPr lang="en-US" sz="1200" dirty="0"/>
              <a:t>();</a:t>
            </a:r>
          </a:p>
          <a:p>
            <a:r>
              <a:rPr lang="en-US" sz="1200" dirty="0"/>
              <a:t>    }</a:t>
            </a:r>
          </a:p>
          <a:p>
            <a:r>
              <a:rPr lang="en-US" sz="1200" dirty="0"/>
              <a:t>};</a:t>
            </a:r>
          </a:p>
        </p:txBody>
      </p:sp>
      <p:cxnSp>
        <p:nvCxnSpPr>
          <p:cNvPr id="15" name="Straight Connector 14"/>
          <p:cNvCxnSpPr/>
          <p:nvPr/>
        </p:nvCxnSpPr>
        <p:spPr>
          <a:xfrm>
            <a:off x="5575697" y="1566268"/>
            <a:ext cx="0" cy="4596492"/>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309581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Man and woman discuss some document">
            <a:extLst>
              <a:ext uri="{FF2B5EF4-FFF2-40B4-BE49-F238E27FC236}">
                <a16:creationId xmlns:a16="http://schemas.microsoft.com/office/drawing/2014/main" id="{34A80249-1835-46E9-87C9-48F4BEE1EC64}"/>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211" y="0"/>
            <a:ext cx="12187578" cy="6408000"/>
          </a:xfrm>
        </p:spPr>
      </p:pic>
      <p:sp>
        <p:nvSpPr>
          <p:cNvPr id="14" name="Slide Number Placeholder 13">
            <a:extLst>
              <a:ext uri="{FF2B5EF4-FFF2-40B4-BE49-F238E27FC236}">
                <a16:creationId xmlns:a16="http://schemas.microsoft.com/office/drawing/2014/main" id="{D59E194F-ECD6-4685-8562-5B7AB400EC93}"/>
              </a:ext>
            </a:extLst>
          </p:cNvPr>
          <p:cNvSpPr>
            <a:spLocks noGrp="1"/>
          </p:cNvSpPr>
          <p:nvPr>
            <p:ph type="sldNum" sz="quarter" idx="12"/>
          </p:nvPr>
        </p:nvSpPr>
        <p:spPr/>
        <p:txBody>
          <a:bodyPr/>
          <a:lstStyle/>
          <a:p>
            <a:fld id="{3A98EE3D-8CD1-4C3F-BD1C-C98C9596463C}" type="slidenum">
              <a:rPr lang="en-US" smtClean="0"/>
              <a:pPr/>
              <a:t>19</a:t>
            </a:fld>
            <a:endParaRPr lang="en-US" dirty="0"/>
          </a:p>
        </p:txBody>
      </p:sp>
      <p:sp>
        <p:nvSpPr>
          <p:cNvPr id="2" name="Title 1">
            <a:extLst>
              <a:ext uri="{FF2B5EF4-FFF2-40B4-BE49-F238E27FC236}">
                <a16:creationId xmlns:a16="http://schemas.microsoft.com/office/drawing/2014/main" id="{EC6C92D3-8AE6-4260-8F63-97ED33A064D5}"/>
              </a:ext>
            </a:extLst>
          </p:cNvPr>
          <p:cNvSpPr>
            <a:spLocks noGrp="1"/>
          </p:cNvSpPr>
          <p:nvPr>
            <p:ph type="title"/>
          </p:nvPr>
        </p:nvSpPr>
        <p:spPr/>
        <p:txBody>
          <a:bodyPr/>
          <a:lstStyle/>
          <a:p>
            <a:r>
              <a:rPr lang="en-US" dirty="0" smtClean="0"/>
              <a:t>C++ Implementation:</a:t>
            </a:r>
            <a:endParaRPr lang="en-US" dirty="0"/>
          </a:p>
        </p:txBody>
      </p:sp>
      <p:sp>
        <p:nvSpPr>
          <p:cNvPr id="8" name="Rectangle 4"/>
          <p:cNvSpPr>
            <a:spLocks noChangeArrowheads="1"/>
          </p:cNvSpPr>
          <p:nvPr/>
        </p:nvSpPr>
        <p:spPr bwMode="auto">
          <a:xfrm>
            <a:off x="0" y="-54124"/>
            <a:ext cx="65" cy="565449"/>
          </a:xfrm>
          <a:prstGeom prst="rect">
            <a:avLst/>
          </a:prstGeom>
          <a:solidFill>
            <a:srgbClr val="F0F2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9"/>
          <p:cNvSpPr>
            <a:spLocks noChangeArrowheads="1"/>
          </p:cNvSpPr>
          <p:nvPr/>
        </p:nvSpPr>
        <p:spPr bwMode="auto">
          <a:xfrm>
            <a:off x="0" y="-541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TextBox 2"/>
          <p:cNvSpPr txBox="1"/>
          <p:nvPr/>
        </p:nvSpPr>
        <p:spPr>
          <a:xfrm>
            <a:off x="169817" y="1397726"/>
            <a:ext cx="5839097" cy="4885508"/>
          </a:xfrm>
          <a:prstGeom prst="rect">
            <a:avLst/>
          </a:prstGeom>
          <a:noFill/>
        </p:spPr>
        <p:txBody>
          <a:bodyPr wrap="square" rtlCol="0">
            <a:spAutoFit/>
          </a:bodyPr>
          <a:lstStyle/>
          <a:p>
            <a:endParaRPr lang="en-US" dirty="0"/>
          </a:p>
        </p:txBody>
      </p:sp>
      <p:sp>
        <p:nvSpPr>
          <p:cNvPr id="6" name="TextBox 5"/>
          <p:cNvSpPr txBox="1"/>
          <p:nvPr/>
        </p:nvSpPr>
        <p:spPr>
          <a:xfrm>
            <a:off x="169817" y="1397726"/>
            <a:ext cx="5943600" cy="4885508"/>
          </a:xfrm>
          <a:prstGeom prst="rect">
            <a:avLst/>
          </a:prstGeom>
          <a:noFill/>
        </p:spPr>
        <p:txBody>
          <a:bodyPr wrap="square" rtlCol="0">
            <a:spAutoFit/>
          </a:bodyPr>
          <a:lstStyle/>
          <a:p>
            <a:endParaRPr lang="en-US" dirty="0"/>
          </a:p>
        </p:txBody>
      </p:sp>
      <p:sp>
        <p:nvSpPr>
          <p:cNvPr id="7" name="TextBox 6"/>
          <p:cNvSpPr txBox="1"/>
          <p:nvPr/>
        </p:nvSpPr>
        <p:spPr>
          <a:xfrm>
            <a:off x="169817" y="1397726"/>
            <a:ext cx="5956663" cy="5170646"/>
          </a:xfrm>
          <a:prstGeom prst="rect">
            <a:avLst/>
          </a:prstGeom>
          <a:noFill/>
        </p:spPr>
        <p:txBody>
          <a:bodyPr wrap="square" rtlCol="0">
            <a:spAutoFit/>
          </a:bodyPr>
          <a:lstStyle/>
          <a:p>
            <a:r>
              <a:rPr lang="en-US" sz="1500" dirty="0"/>
              <a:t>// ================= TICKET =================</a:t>
            </a:r>
          </a:p>
          <a:p>
            <a:r>
              <a:rPr lang="en-US" sz="1500" dirty="0"/>
              <a:t>class </a:t>
            </a:r>
            <a:r>
              <a:rPr lang="en-US" sz="1500" dirty="0" err="1"/>
              <a:t>ParkingTicket</a:t>
            </a:r>
            <a:r>
              <a:rPr lang="en-US" sz="1500" dirty="0"/>
              <a:t> {</a:t>
            </a:r>
          </a:p>
          <a:p>
            <a:r>
              <a:rPr lang="en-US" sz="1500" dirty="0"/>
              <a:t>public:</a:t>
            </a:r>
          </a:p>
          <a:p>
            <a:r>
              <a:rPr lang="en-US" sz="1500" dirty="0"/>
              <a:t>    </a:t>
            </a:r>
            <a:r>
              <a:rPr lang="en-US" sz="1500" dirty="0" err="1"/>
              <a:t>int</a:t>
            </a:r>
            <a:r>
              <a:rPr lang="en-US" sz="1500" dirty="0"/>
              <a:t> </a:t>
            </a:r>
            <a:r>
              <a:rPr lang="en-US" sz="1500" dirty="0" err="1"/>
              <a:t>ticketID</a:t>
            </a:r>
            <a:r>
              <a:rPr lang="en-US" sz="1500" dirty="0"/>
              <a:t>;</a:t>
            </a:r>
          </a:p>
          <a:p>
            <a:r>
              <a:rPr lang="en-US" sz="1500" dirty="0"/>
              <a:t>    </a:t>
            </a:r>
            <a:r>
              <a:rPr lang="en-US" sz="1500" dirty="0" err="1"/>
              <a:t>int</a:t>
            </a:r>
            <a:r>
              <a:rPr lang="en-US" sz="1500" dirty="0"/>
              <a:t> </a:t>
            </a:r>
            <a:r>
              <a:rPr lang="en-US" sz="1500" dirty="0" err="1"/>
              <a:t>slotID</a:t>
            </a:r>
            <a:r>
              <a:rPr lang="en-US" sz="1500" dirty="0"/>
              <a:t>;</a:t>
            </a:r>
          </a:p>
          <a:p>
            <a:r>
              <a:rPr lang="en-US" sz="1500" dirty="0"/>
              <a:t>    Vehicle* vehicle;</a:t>
            </a:r>
          </a:p>
          <a:p>
            <a:endParaRPr lang="en-US" sz="1500" dirty="0"/>
          </a:p>
          <a:p>
            <a:r>
              <a:rPr lang="en-US" sz="1500" dirty="0"/>
              <a:t>    </a:t>
            </a:r>
            <a:r>
              <a:rPr lang="en-US" sz="1500" dirty="0" err="1"/>
              <a:t>ParkingTicket</a:t>
            </a:r>
            <a:r>
              <a:rPr lang="en-US" sz="1500" dirty="0"/>
              <a:t>(</a:t>
            </a:r>
            <a:r>
              <a:rPr lang="en-US" sz="1500" dirty="0" err="1"/>
              <a:t>int</a:t>
            </a:r>
            <a:r>
              <a:rPr lang="en-US" sz="1500" dirty="0"/>
              <a:t> id, Vehicle* v, </a:t>
            </a:r>
            <a:r>
              <a:rPr lang="en-US" sz="1500" dirty="0" err="1"/>
              <a:t>int</a:t>
            </a:r>
            <a:r>
              <a:rPr lang="en-US" sz="1500" dirty="0"/>
              <a:t> slot) {</a:t>
            </a:r>
          </a:p>
          <a:p>
            <a:r>
              <a:rPr lang="en-US" sz="1500" dirty="0"/>
              <a:t>        </a:t>
            </a:r>
            <a:r>
              <a:rPr lang="en-US" sz="1500" dirty="0" err="1"/>
              <a:t>ticketID</a:t>
            </a:r>
            <a:r>
              <a:rPr lang="en-US" sz="1500" dirty="0"/>
              <a:t> = id;</a:t>
            </a:r>
          </a:p>
          <a:p>
            <a:r>
              <a:rPr lang="en-US" sz="1500" dirty="0"/>
              <a:t>        vehicle = v;</a:t>
            </a:r>
          </a:p>
          <a:p>
            <a:r>
              <a:rPr lang="en-US" sz="1500" dirty="0"/>
              <a:t>        </a:t>
            </a:r>
            <a:r>
              <a:rPr lang="en-US" sz="1500" dirty="0" err="1"/>
              <a:t>slotID</a:t>
            </a:r>
            <a:r>
              <a:rPr lang="en-US" sz="1500" dirty="0"/>
              <a:t> = slot;</a:t>
            </a:r>
          </a:p>
          <a:p>
            <a:r>
              <a:rPr lang="en-US" sz="1500" dirty="0"/>
              <a:t>    }</a:t>
            </a:r>
          </a:p>
          <a:p>
            <a:endParaRPr lang="en-US" sz="1500" dirty="0"/>
          </a:p>
          <a:p>
            <a:r>
              <a:rPr lang="en-US" sz="1500" dirty="0"/>
              <a:t>    void </a:t>
            </a:r>
            <a:r>
              <a:rPr lang="en-US" sz="1500" dirty="0" err="1"/>
              <a:t>printTicket</a:t>
            </a:r>
            <a:r>
              <a:rPr lang="en-US" sz="1500" dirty="0"/>
              <a:t>() {</a:t>
            </a:r>
          </a:p>
          <a:p>
            <a:r>
              <a:rPr lang="en-US" sz="1500" dirty="0"/>
              <a:t>        </a:t>
            </a:r>
            <a:r>
              <a:rPr lang="en-US" sz="1500" dirty="0" err="1"/>
              <a:t>cout</a:t>
            </a:r>
            <a:r>
              <a:rPr lang="en-US" sz="1500" dirty="0"/>
              <a:t> &lt;&lt; "Ticket ID: " &lt;&lt; </a:t>
            </a:r>
            <a:r>
              <a:rPr lang="en-US" sz="1500" dirty="0" err="1"/>
              <a:t>ticketID</a:t>
            </a:r>
            <a:r>
              <a:rPr lang="en-US" sz="1500" dirty="0"/>
              <a:t> &lt;&lt; ", Slot: " &lt;&lt; </a:t>
            </a:r>
            <a:r>
              <a:rPr lang="en-US" sz="1500" dirty="0" err="1"/>
              <a:t>slotID</a:t>
            </a:r>
            <a:r>
              <a:rPr lang="en-US" sz="1500" dirty="0"/>
              <a:t> &lt;&lt; </a:t>
            </a:r>
            <a:r>
              <a:rPr lang="en-US" sz="1500" dirty="0" err="1"/>
              <a:t>endl</a:t>
            </a:r>
            <a:r>
              <a:rPr lang="en-US" sz="1500" dirty="0"/>
              <a:t>;</a:t>
            </a:r>
          </a:p>
          <a:p>
            <a:r>
              <a:rPr lang="en-US" sz="1500" dirty="0"/>
              <a:t>    }</a:t>
            </a:r>
          </a:p>
          <a:p>
            <a:endParaRPr lang="en-US" sz="1500" dirty="0"/>
          </a:p>
          <a:p>
            <a:r>
              <a:rPr lang="en-US" sz="1500" dirty="0"/>
              <a:t>    void </a:t>
            </a:r>
            <a:r>
              <a:rPr lang="en-US" sz="1500" dirty="0" err="1"/>
              <a:t>calculateFee</a:t>
            </a:r>
            <a:r>
              <a:rPr lang="en-US" sz="1500" dirty="0"/>
              <a:t>(</a:t>
            </a:r>
            <a:r>
              <a:rPr lang="en-US" sz="1500" dirty="0" err="1"/>
              <a:t>int</a:t>
            </a:r>
            <a:r>
              <a:rPr lang="en-US" sz="1500" dirty="0"/>
              <a:t> hours) {</a:t>
            </a:r>
          </a:p>
          <a:p>
            <a:r>
              <a:rPr lang="en-US" sz="1500" dirty="0"/>
              <a:t>        double fee = (vehicle-&gt;</a:t>
            </a:r>
            <a:r>
              <a:rPr lang="en-US" sz="1500" dirty="0" err="1"/>
              <a:t>getType</a:t>
            </a:r>
            <a:r>
              <a:rPr lang="en-US" sz="1500" dirty="0"/>
              <a:t>() == "car") ? hours * 20 : hours * 10;</a:t>
            </a:r>
          </a:p>
          <a:p>
            <a:r>
              <a:rPr lang="en-US" sz="1500" dirty="0"/>
              <a:t>        </a:t>
            </a:r>
            <a:r>
              <a:rPr lang="en-US" sz="1500" dirty="0" err="1"/>
              <a:t>cout</a:t>
            </a:r>
            <a:r>
              <a:rPr lang="en-US" sz="1500" dirty="0"/>
              <a:t> &lt;&lt; "Parking Fee: </a:t>
            </a:r>
            <a:r>
              <a:rPr lang="en-US" sz="1500" dirty="0" err="1"/>
              <a:t>Rs</a:t>
            </a:r>
            <a:r>
              <a:rPr lang="en-US" sz="1500" dirty="0"/>
              <a:t> " &lt;&lt; fee &lt;&lt; "/-\n";</a:t>
            </a:r>
          </a:p>
          <a:p>
            <a:r>
              <a:rPr lang="en-US" sz="1500" dirty="0"/>
              <a:t>    }</a:t>
            </a:r>
          </a:p>
          <a:p>
            <a:r>
              <a:rPr lang="en-US" sz="1500" dirty="0"/>
              <a:t>};</a:t>
            </a:r>
          </a:p>
        </p:txBody>
      </p:sp>
      <p:sp>
        <p:nvSpPr>
          <p:cNvPr id="11" name="TextBox 10"/>
          <p:cNvSpPr txBox="1"/>
          <p:nvPr/>
        </p:nvSpPr>
        <p:spPr>
          <a:xfrm>
            <a:off x="6126480" y="1397726"/>
            <a:ext cx="5904411" cy="5355312"/>
          </a:xfrm>
          <a:prstGeom prst="rect">
            <a:avLst/>
          </a:prstGeom>
          <a:noFill/>
        </p:spPr>
        <p:txBody>
          <a:bodyPr wrap="square" rtlCol="0">
            <a:spAutoFit/>
          </a:bodyPr>
          <a:lstStyle/>
          <a:p>
            <a:r>
              <a:rPr lang="en-US" dirty="0"/>
              <a:t>// ================= SINGLETON MANAGER =================</a:t>
            </a:r>
          </a:p>
          <a:p>
            <a:r>
              <a:rPr lang="en-US" dirty="0"/>
              <a:t>class ParkingManager {</a:t>
            </a:r>
          </a:p>
          <a:p>
            <a:r>
              <a:rPr lang="en-US" dirty="0"/>
              <a:t>private:</a:t>
            </a:r>
          </a:p>
          <a:p>
            <a:r>
              <a:rPr lang="en-US" dirty="0"/>
              <a:t>    static ParkingManager* object;</a:t>
            </a:r>
          </a:p>
          <a:p>
            <a:endParaRPr lang="en-US" dirty="0"/>
          </a:p>
          <a:p>
            <a:r>
              <a:rPr lang="en-US" dirty="0"/>
              <a:t>    vector&lt;</a:t>
            </a:r>
            <a:r>
              <a:rPr lang="en-US" dirty="0" err="1"/>
              <a:t>ParkingSlot</a:t>
            </a:r>
            <a:r>
              <a:rPr lang="en-US" dirty="0"/>
              <a:t>&gt; </a:t>
            </a:r>
            <a:r>
              <a:rPr lang="en-US" dirty="0" err="1"/>
              <a:t>bikeSlots</a:t>
            </a:r>
            <a:r>
              <a:rPr lang="en-US" dirty="0"/>
              <a:t>;</a:t>
            </a:r>
          </a:p>
          <a:p>
            <a:r>
              <a:rPr lang="en-US" dirty="0"/>
              <a:t>    vector&lt;</a:t>
            </a:r>
            <a:r>
              <a:rPr lang="en-US" dirty="0" err="1"/>
              <a:t>ParkingSlot</a:t>
            </a:r>
            <a:r>
              <a:rPr lang="en-US" dirty="0"/>
              <a:t>&gt; </a:t>
            </a:r>
            <a:r>
              <a:rPr lang="en-US" dirty="0" err="1"/>
              <a:t>carSlots</a:t>
            </a:r>
            <a:r>
              <a:rPr lang="en-US" dirty="0"/>
              <a:t>;</a:t>
            </a:r>
          </a:p>
          <a:p>
            <a:r>
              <a:rPr lang="en-US" dirty="0"/>
              <a:t>    vector&lt;</a:t>
            </a:r>
            <a:r>
              <a:rPr lang="en-US" dirty="0" err="1"/>
              <a:t>ParkingTicket</a:t>
            </a:r>
            <a:r>
              <a:rPr lang="en-US" dirty="0"/>
              <a:t>*&gt; tickets;</a:t>
            </a:r>
          </a:p>
          <a:p>
            <a:endParaRPr lang="en-US" dirty="0"/>
          </a:p>
          <a:p>
            <a:r>
              <a:rPr lang="en-US" dirty="0"/>
              <a:t>    </a:t>
            </a:r>
            <a:r>
              <a:rPr lang="en-US" dirty="0" err="1"/>
              <a:t>int</a:t>
            </a:r>
            <a:r>
              <a:rPr lang="en-US" dirty="0"/>
              <a:t> </a:t>
            </a:r>
            <a:r>
              <a:rPr lang="en-US" dirty="0" err="1"/>
              <a:t>ticketCounter</a:t>
            </a:r>
            <a:r>
              <a:rPr lang="en-US" dirty="0"/>
              <a:t>;</a:t>
            </a:r>
          </a:p>
          <a:p>
            <a:endParaRPr lang="en-US" dirty="0"/>
          </a:p>
          <a:p>
            <a:r>
              <a:rPr lang="en-US" dirty="0"/>
              <a:t>    ParkingManager() {</a:t>
            </a:r>
          </a:p>
          <a:p>
            <a:r>
              <a:rPr lang="en-US" dirty="0"/>
              <a:t>        </a:t>
            </a:r>
            <a:r>
              <a:rPr lang="en-US" dirty="0" err="1"/>
              <a:t>ticketCounter</a:t>
            </a:r>
            <a:r>
              <a:rPr lang="en-US" dirty="0"/>
              <a:t> = 1;</a:t>
            </a:r>
          </a:p>
          <a:p>
            <a:endParaRPr lang="en-US" dirty="0"/>
          </a:p>
          <a:p>
            <a:r>
              <a:rPr lang="en-US" dirty="0"/>
              <a:t>        for (</a:t>
            </a:r>
            <a:r>
              <a:rPr lang="en-US" dirty="0" err="1"/>
              <a:t>int</a:t>
            </a:r>
            <a:r>
              <a:rPr lang="en-US" dirty="0"/>
              <a:t> </a:t>
            </a:r>
            <a:r>
              <a:rPr lang="en-US" dirty="0" err="1"/>
              <a:t>i</a:t>
            </a:r>
            <a:r>
              <a:rPr lang="en-US" dirty="0"/>
              <a:t> = 1; </a:t>
            </a:r>
            <a:r>
              <a:rPr lang="en-US" dirty="0" err="1"/>
              <a:t>i</a:t>
            </a:r>
            <a:r>
              <a:rPr lang="en-US" dirty="0"/>
              <a:t> &lt;= 5; </a:t>
            </a:r>
            <a:r>
              <a:rPr lang="en-US" dirty="0" err="1"/>
              <a:t>i</a:t>
            </a:r>
            <a:r>
              <a:rPr lang="en-US" dirty="0"/>
              <a:t>++)</a:t>
            </a:r>
          </a:p>
          <a:p>
            <a:r>
              <a:rPr lang="en-US" dirty="0"/>
              <a:t>            </a:t>
            </a:r>
            <a:r>
              <a:rPr lang="en-US" dirty="0" err="1"/>
              <a:t>bikeSlots.push_back</a:t>
            </a:r>
            <a:r>
              <a:rPr lang="en-US" dirty="0"/>
              <a:t>(</a:t>
            </a:r>
            <a:r>
              <a:rPr lang="en-US" dirty="0" err="1"/>
              <a:t>ParkingSlot</a:t>
            </a:r>
            <a:r>
              <a:rPr lang="en-US" dirty="0"/>
              <a:t>(</a:t>
            </a:r>
            <a:r>
              <a:rPr lang="en-US" dirty="0" err="1"/>
              <a:t>i</a:t>
            </a:r>
            <a:r>
              <a:rPr lang="en-US" dirty="0"/>
              <a:t>));</a:t>
            </a:r>
          </a:p>
          <a:p>
            <a:endParaRPr lang="en-US" dirty="0"/>
          </a:p>
          <a:p>
            <a:r>
              <a:rPr lang="en-US" dirty="0"/>
              <a:t>        </a:t>
            </a:r>
          </a:p>
        </p:txBody>
      </p:sp>
      <p:cxnSp>
        <p:nvCxnSpPr>
          <p:cNvPr id="15" name="Straight Connector 14"/>
          <p:cNvCxnSpPr/>
          <p:nvPr/>
        </p:nvCxnSpPr>
        <p:spPr>
          <a:xfrm>
            <a:off x="6006771" y="1553206"/>
            <a:ext cx="0" cy="4596492"/>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86930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Man and woman discuss some document">
            <a:extLst>
              <a:ext uri="{FF2B5EF4-FFF2-40B4-BE49-F238E27FC236}">
                <a16:creationId xmlns:a16="http://schemas.microsoft.com/office/drawing/2014/main" id="{34A80249-1835-46E9-87C9-48F4BEE1EC64}"/>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0" y="-54124"/>
            <a:ext cx="12187578" cy="6408000"/>
          </a:xfrm>
        </p:spPr>
      </p:pic>
      <p:sp>
        <p:nvSpPr>
          <p:cNvPr id="14" name="Slide Number Placeholder 13">
            <a:extLst>
              <a:ext uri="{FF2B5EF4-FFF2-40B4-BE49-F238E27FC236}">
                <a16:creationId xmlns:a16="http://schemas.microsoft.com/office/drawing/2014/main" id="{D59E194F-ECD6-4685-8562-5B7AB400EC93}"/>
              </a:ext>
            </a:extLst>
          </p:cNvPr>
          <p:cNvSpPr>
            <a:spLocks noGrp="1"/>
          </p:cNvSpPr>
          <p:nvPr>
            <p:ph type="sldNum" sz="quarter" idx="12"/>
          </p:nvPr>
        </p:nvSpPr>
        <p:spPr/>
        <p:txBody>
          <a:bodyPr/>
          <a:lstStyle/>
          <a:p>
            <a:fld id="{3A98EE3D-8CD1-4C3F-BD1C-C98C9596463C}" type="slidenum">
              <a:rPr lang="en-US" smtClean="0"/>
              <a:pPr/>
              <a:t>20</a:t>
            </a:fld>
            <a:endParaRPr lang="en-US" dirty="0"/>
          </a:p>
        </p:txBody>
      </p:sp>
      <p:sp>
        <p:nvSpPr>
          <p:cNvPr id="2" name="Title 1">
            <a:extLst>
              <a:ext uri="{FF2B5EF4-FFF2-40B4-BE49-F238E27FC236}">
                <a16:creationId xmlns:a16="http://schemas.microsoft.com/office/drawing/2014/main" id="{EC6C92D3-8AE6-4260-8F63-97ED33A064D5}"/>
              </a:ext>
            </a:extLst>
          </p:cNvPr>
          <p:cNvSpPr>
            <a:spLocks noGrp="1"/>
          </p:cNvSpPr>
          <p:nvPr>
            <p:ph type="title"/>
          </p:nvPr>
        </p:nvSpPr>
        <p:spPr/>
        <p:txBody>
          <a:bodyPr/>
          <a:lstStyle/>
          <a:p>
            <a:r>
              <a:rPr lang="en-US" dirty="0" smtClean="0"/>
              <a:t>C++ Implementation:</a:t>
            </a:r>
            <a:endParaRPr lang="en-US" dirty="0"/>
          </a:p>
        </p:txBody>
      </p:sp>
      <p:sp>
        <p:nvSpPr>
          <p:cNvPr id="8" name="Rectangle 4"/>
          <p:cNvSpPr>
            <a:spLocks noChangeArrowheads="1"/>
          </p:cNvSpPr>
          <p:nvPr/>
        </p:nvSpPr>
        <p:spPr bwMode="auto">
          <a:xfrm>
            <a:off x="0" y="-54124"/>
            <a:ext cx="65" cy="565449"/>
          </a:xfrm>
          <a:prstGeom prst="rect">
            <a:avLst/>
          </a:prstGeom>
          <a:solidFill>
            <a:srgbClr val="F0F2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9"/>
          <p:cNvSpPr>
            <a:spLocks noChangeArrowheads="1"/>
          </p:cNvSpPr>
          <p:nvPr/>
        </p:nvSpPr>
        <p:spPr bwMode="auto">
          <a:xfrm>
            <a:off x="0" y="-541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TextBox 2"/>
          <p:cNvSpPr txBox="1"/>
          <p:nvPr/>
        </p:nvSpPr>
        <p:spPr>
          <a:xfrm>
            <a:off x="169817" y="1397726"/>
            <a:ext cx="5839097" cy="4885508"/>
          </a:xfrm>
          <a:prstGeom prst="rect">
            <a:avLst/>
          </a:prstGeom>
          <a:noFill/>
        </p:spPr>
        <p:txBody>
          <a:bodyPr wrap="square" rtlCol="0">
            <a:spAutoFit/>
          </a:bodyPr>
          <a:lstStyle/>
          <a:p>
            <a:endParaRPr lang="en-US" dirty="0"/>
          </a:p>
        </p:txBody>
      </p:sp>
      <p:sp>
        <p:nvSpPr>
          <p:cNvPr id="6" name="TextBox 5"/>
          <p:cNvSpPr txBox="1"/>
          <p:nvPr/>
        </p:nvSpPr>
        <p:spPr>
          <a:xfrm>
            <a:off x="169817" y="1397726"/>
            <a:ext cx="5943600" cy="4885508"/>
          </a:xfrm>
          <a:prstGeom prst="rect">
            <a:avLst/>
          </a:prstGeom>
          <a:noFill/>
        </p:spPr>
        <p:txBody>
          <a:bodyPr wrap="square" rtlCol="0">
            <a:spAutoFit/>
          </a:bodyPr>
          <a:lstStyle/>
          <a:p>
            <a:endParaRPr lang="en-US" dirty="0"/>
          </a:p>
        </p:txBody>
      </p:sp>
      <p:sp>
        <p:nvSpPr>
          <p:cNvPr id="11" name="TextBox 10"/>
          <p:cNvSpPr txBox="1"/>
          <p:nvPr/>
        </p:nvSpPr>
        <p:spPr>
          <a:xfrm>
            <a:off x="6126480" y="1397726"/>
            <a:ext cx="5904411" cy="646331"/>
          </a:xfrm>
          <a:prstGeom prst="rect">
            <a:avLst/>
          </a:prstGeom>
          <a:noFill/>
        </p:spPr>
        <p:txBody>
          <a:bodyPr wrap="square" rtlCol="0">
            <a:spAutoFit/>
          </a:bodyPr>
          <a:lstStyle/>
          <a:p>
            <a:endParaRPr lang="en-US" dirty="0"/>
          </a:p>
          <a:p>
            <a:r>
              <a:rPr lang="en-US" dirty="0"/>
              <a:t>        </a:t>
            </a:r>
          </a:p>
        </p:txBody>
      </p:sp>
      <p:cxnSp>
        <p:nvCxnSpPr>
          <p:cNvPr id="15" name="Straight Connector 14"/>
          <p:cNvCxnSpPr/>
          <p:nvPr/>
        </p:nvCxnSpPr>
        <p:spPr>
          <a:xfrm>
            <a:off x="6006771" y="1553206"/>
            <a:ext cx="0" cy="4596492"/>
          </a:xfrm>
          <a:prstGeom prst="line">
            <a:avLst/>
          </a:prstGeom>
        </p:spPr>
        <p:style>
          <a:lnRef idx="1">
            <a:schemeClr val="dk1"/>
          </a:lnRef>
          <a:fillRef idx="0">
            <a:schemeClr val="dk1"/>
          </a:fillRef>
          <a:effectRef idx="0">
            <a:schemeClr val="dk1"/>
          </a:effectRef>
          <a:fontRef idx="minor">
            <a:schemeClr val="tx1"/>
          </a:fontRef>
        </p:style>
      </p:cxnSp>
      <p:sp>
        <p:nvSpPr>
          <p:cNvPr id="4" name="TextBox 3"/>
          <p:cNvSpPr txBox="1"/>
          <p:nvPr/>
        </p:nvSpPr>
        <p:spPr>
          <a:xfrm>
            <a:off x="313508" y="1410355"/>
            <a:ext cx="5551714" cy="5093702"/>
          </a:xfrm>
          <a:prstGeom prst="rect">
            <a:avLst/>
          </a:prstGeom>
          <a:noFill/>
        </p:spPr>
        <p:txBody>
          <a:bodyPr wrap="square" rtlCol="0">
            <a:spAutoFit/>
          </a:bodyPr>
          <a:lstStyle/>
          <a:p>
            <a:r>
              <a:rPr lang="en-US" sz="1300" dirty="0"/>
              <a:t>}</a:t>
            </a:r>
          </a:p>
          <a:p>
            <a:endParaRPr lang="en-US" sz="1300" dirty="0"/>
          </a:p>
          <a:p>
            <a:r>
              <a:rPr lang="en-US" sz="1300" dirty="0"/>
              <a:t>public:</a:t>
            </a:r>
          </a:p>
          <a:p>
            <a:r>
              <a:rPr lang="en-US" sz="1300" dirty="0"/>
              <a:t>    static ParkingManager* </a:t>
            </a:r>
            <a:r>
              <a:rPr lang="en-US" sz="1300" dirty="0" err="1"/>
              <a:t>getInstance</a:t>
            </a:r>
            <a:r>
              <a:rPr lang="en-US" sz="1300" dirty="0"/>
              <a:t>() {</a:t>
            </a:r>
          </a:p>
          <a:p>
            <a:r>
              <a:rPr lang="en-US" sz="1300" dirty="0"/>
              <a:t>        if (object == </a:t>
            </a:r>
            <a:r>
              <a:rPr lang="en-US" sz="1300" dirty="0" err="1"/>
              <a:t>nullptr</a:t>
            </a:r>
            <a:r>
              <a:rPr lang="en-US" sz="1300" dirty="0"/>
              <a:t>)</a:t>
            </a:r>
          </a:p>
          <a:p>
            <a:r>
              <a:rPr lang="en-US" sz="1300" dirty="0"/>
              <a:t>            object = new ParkingManager();</a:t>
            </a:r>
          </a:p>
          <a:p>
            <a:r>
              <a:rPr lang="en-US" sz="1300" dirty="0"/>
              <a:t>        return object;</a:t>
            </a:r>
          </a:p>
          <a:p>
            <a:r>
              <a:rPr lang="en-US" sz="1300" dirty="0"/>
              <a:t>    }</a:t>
            </a:r>
          </a:p>
          <a:p>
            <a:endParaRPr lang="en-US" sz="1300" dirty="0"/>
          </a:p>
          <a:p>
            <a:r>
              <a:rPr lang="en-US" sz="1300" dirty="0"/>
              <a:t>    </a:t>
            </a:r>
            <a:r>
              <a:rPr lang="en-US" sz="1300" dirty="0" err="1"/>
              <a:t>int</a:t>
            </a:r>
            <a:r>
              <a:rPr lang="en-US" sz="1300" dirty="0"/>
              <a:t> </a:t>
            </a:r>
            <a:r>
              <a:rPr lang="en-US" sz="1300" dirty="0" err="1"/>
              <a:t>assignSlot</a:t>
            </a:r>
            <a:r>
              <a:rPr lang="en-US" sz="1300" dirty="0"/>
              <a:t>(Vehicle* v) {</a:t>
            </a:r>
          </a:p>
          <a:p>
            <a:r>
              <a:rPr lang="en-US" sz="1300" dirty="0"/>
              <a:t>        vector&lt;</a:t>
            </a:r>
            <a:r>
              <a:rPr lang="en-US" sz="1300" dirty="0" err="1"/>
              <a:t>ParkingSlot</a:t>
            </a:r>
            <a:r>
              <a:rPr lang="en-US" sz="1300" dirty="0"/>
              <a:t>&gt;&amp; slots =</a:t>
            </a:r>
          </a:p>
          <a:p>
            <a:r>
              <a:rPr lang="en-US" sz="1300" dirty="0"/>
              <a:t>            (v-&gt;</a:t>
            </a:r>
            <a:r>
              <a:rPr lang="en-US" sz="1300" dirty="0" err="1"/>
              <a:t>getType</a:t>
            </a:r>
            <a:r>
              <a:rPr lang="en-US" sz="1300" dirty="0"/>
              <a:t>() == "car") ? </a:t>
            </a:r>
            <a:r>
              <a:rPr lang="en-US" sz="1300" dirty="0" err="1"/>
              <a:t>carSlots</a:t>
            </a:r>
            <a:r>
              <a:rPr lang="en-US" sz="1300" dirty="0"/>
              <a:t> : </a:t>
            </a:r>
            <a:r>
              <a:rPr lang="en-US" sz="1300" dirty="0" err="1"/>
              <a:t>bikeSlots</a:t>
            </a:r>
            <a:r>
              <a:rPr lang="en-US" sz="1300" dirty="0"/>
              <a:t>;</a:t>
            </a:r>
          </a:p>
          <a:p>
            <a:endParaRPr lang="en-US" sz="1300" dirty="0"/>
          </a:p>
          <a:p>
            <a:r>
              <a:rPr lang="en-US" sz="1300" dirty="0"/>
              <a:t>        for (auto&amp; s : slots) {</a:t>
            </a:r>
          </a:p>
          <a:p>
            <a:r>
              <a:rPr lang="en-US" sz="1300" dirty="0"/>
              <a:t>            if (</a:t>
            </a:r>
            <a:r>
              <a:rPr lang="en-US" sz="1300" dirty="0" err="1"/>
              <a:t>s.isAvailable</a:t>
            </a:r>
            <a:r>
              <a:rPr lang="en-US" sz="1300" dirty="0"/>
              <a:t>()) {</a:t>
            </a:r>
          </a:p>
          <a:p>
            <a:r>
              <a:rPr lang="en-US" sz="1300" dirty="0"/>
              <a:t>                </a:t>
            </a:r>
            <a:r>
              <a:rPr lang="en-US" sz="1300" dirty="0" err="1"/>
              <a:t>s.parkVehicle</a:t>
            </a:r>
            <a:r>
              <a:rPr lang="en-US" sz="1300" dirty="0"/>
              <a:t>(v);</a:t>
            </a:r>
          </a:p>
          <a:p>
            <a:r>
              <a:rPr lang="en-US" sz="1300" dirty="0"/>
              <a:t>                </a:t>
            </a:r>
            <a:r>
              <a:rPr lang="en-US" sz="1300" dirty="0" err="1"/>
              <a:t>cout</a:t>
            </a:r>
            <a:r>
              <a:rPr lang="en-US" sz="1300" dirty="0"/>
              <a:t> &lt;&lt; v-&gt;</a:t>
            </a:r>
            <a:r>
              <a:rPr lang="en-US" sz="1300" dirty="0" err="1"/>
              <a:t>getType</a:t>
            </a:r>
            <a:r>
              <a:rPr lang="en-US" sz="1300" dirty="0"/>
              <a:t>() &lt;&lt; " parked at slot: " &lt;&lt; </a:t>
            </a:r>
            <a:r>
              <a:rPr lang="en-US" sz="1300" dirty="0" err="1"/>
              <a:t>s.slotID</a:t>
            </a:r>
            <a:r>
              <a:rPr lang="en-US" sz="1300" dirty="0"/>
              <a:t> &lt;&lt; </a:t>
            </a:r>
            <a:r>
              <a:rPr lang="en-US" sz="1300" dirty="0" err="1"/>
              <a:t>endl</a:t>
            </a:r>
            <a:r>
              <a:rPr lang="en-US" sz="1300" dirty="0"/>
              <a:t>;</a:t>
            </a:r>
          </a:p>
          <a:p>
            <a:r>
              <a:rPr lang="en-US" sz="1300" dirty="0"/>
              <a:t>                return </a:t>
            </a:r>
            <a:r>
              <a:rPr lang="en-US" sz="1300" dirty="0" err="1"/>
              <a:t>s.slotID</a:t>
            </a:r>
            <a:r>
              <a:rPr lang="en-US" sz="1300" dirty="0"/>
              <a:t>;</a:t>
            </a:r>
          </a:p>
          <a:p>
            <a:r>
              <a:rPr lang="en-US" sz="1300" dirty="0"/>
              <a:t>            }</a:t>
            </a:r>
          </a:p>
          <a:p>
            <a:r>
              <a:rPr lang="en-US" sz="1300" dirty="0"/>
              <a:t>        }</a:t>
            </a:r>
          </a:p>
          <a:p>
            <a:endParaRPr lang="en-US" sz="1300" dirty="0"/>
          </a:p>
          <a:p>
            <a:r>
              <a:rPr lang="en-US" sz="1300" dirty="0"/>
              <a:t>        </a:t>
            </a:r>
            <a:r>
              <a:rPr lang="en-US" sz="1300" dirty="0" err="1"/>
              <a:t>cout</a:t>
            </a:r>
            <a:r>
              <a:rPr lang="en-US" sz="1300" dirty="0"/>
              <a:t> &lt;&lt; "No slots available!\n";</a:t>
            </a:r>
          </a:p>
          <a:p>
            <a:r>
              <a:rPr lang="en-US" sz="1300" dirty="0"/>
              <a:t>        return -1;</a:t>
            </a:r>
          </a:p>
          <a:p>
            <a:r>
              <a:rPr lang="en-US" sz="1300" dirty="0"/>
              <a:t>    }</a:t>
            </a:r>
          </a:p>
          <a:p>
            <a:endParaRPr lang="en-US" sz="1300" dirty="0"/>
          </a:p>
        </p:txBody>
      </p:sp>
      <p:sp>
        <p:nvSpPr>
          <p:cNvPr id="9" name="TextBox 8"/>
          <p:cNvSpPr txBox="1"/>
          <p:nvPr/>
        </p:nvSpPr>
        <p:spPr>
          <a:xfrm>
            <a:off x="6257109" y="1584284"/>
            <a:ext cx="5773782" cy="4893647"/>
          </a:xfrm>
          <a:prstGeom prst="rect">
            <a:avLst/>
          </a:prstGeom>
          <a:noFill/>
        </p:spPr>
        <p:txBody>
          <a:bodyPr wrap="square" rtlCol="0">
            <a:spAutoFit/>
          </a:bodyPr>
          <a:lstStyle/>
          <a:p>
            <a:r>
              <a:rPr lang="en-US" sz="1300" dirty="0"/>
              <a:t> </a:t>
            </a:r>
            <a:r>
              <a:rPr lang="en-US" sz="1300" dirty="0" err="1"/>
              <a:t>ParkingTicket</a:t>
            </a:r>
            <a:r>
              <a:rPr lang="en-US" sz="1300" dirty="0"/>
              <a:t>* </a:t>
            </a:r>
            <a:r>
              <a:rPr lang="en-US" sz="1300" dirty="0" err="1"/>
              <a:t>createTicket</a:t>
            </a:r>
            <a:r>
              <a:rPr lang="en-US" sz="1300" dirty="0"/>
              <a:t>(Vehicle* v, </a:t>
            </a:r>
            <a:r>
              <a:rPr lang="en-US" sz="1300" dirty="0" err="1"/>
              <a:t>int</a:t>
            </a:r>
            <a:r>
              <a:rPr lang="en-US" sz="1300" dirty="0"/>
              <a:t> slot) {</a:t>
            </a:r>
          </a:p>
          <a:p>
            <a:r>
              <a:rPr lang="en-US" sz="1300" dirty="0"/>
              <a:t>        </a:t>
            </a:r>
            <a:r>
              <a:rPr lang="en-US" sz="1300" dirty="0" err="1"/>
              <a:t>ParkingTicket</a:t>
            </a:r>
            <a:r>
              <a:rPr lang="en-US" sz="1300" dirty="0"/>
              <a:t>* t = new </a:t>
            </a:r>
            <a:r>
              <a:rPr lang="en-US" sz="1300" dirty="0" err="1"/>
              <a:t>ParkingTicket</a:t>
            </a:r>
            <a:r>
              <a:rPr lang="en-US" sz="1300" dirty="0"/>
              <a:t>(</a:t>
            </a:r>
            <a:r>
              <a:rPr lang="en-US" sz="1300" dirty="0" err="1"/>
              <a:t>ticketCounter</a:t>
            </a:r>
            <a:r>
              <a:rPr lang="en-US" sz="1300" dirty="0"/>
              <a:t>++, v, slot);</a:t>
            </a:r>
          </a:p>
          <a:p>
            <a:r>
              <a:rPr lang="en-US" sz="1300" dirty="0"/>
              <a:t>        </a:t>
            </a:r>
            <a:r>
              <a:rPr lang="en-US" sz="1300" dirty="0" err="1"/>
              <a:t>tickets.push_back</a:t>
            </a:r>
            <a:r>
              <a:rPr lang="en-US" sz="1300" dirty="0"/>
              <a:t>(t);</a:t>
            </a:r>
          </a:p>
          <a:p>
            <a:r>
              <a:rPr lang="en-US" sz="1300" dirty="0"/>
              <a:t>        return t;</a:t>
            </a:r>
          </a:p>
          <a:p>
            <a:r>
              <a:rPr lang="en-US" sz="1300" dirty="0"/>
              <a:t>    }</a:t>
            </a:r>
          </a:p>
          <a:p>
            <a:endParaRPr lang="en-US" sz="1300" dirty="0"/>
          </a:p>
          <a:p>
            <a:r>
              <a:rPr lang="en-US" sz="1300" dirty="0"/>
              <a:t>    </a:t>
            </a:r>
            <a:r>
              <a:rPr lang="en-US" sz="1300" dirty="0" err="1"/>
              <a:t>ParkingTicket</a:t>
            </a:r>
            <a:r>
              <a:rPr lang="en-US" sz="1300" dirty="0"/>
              <a:t>* </a:t>
            </a:r>
            <a:r>
              <a:rPr lang="en-US" sz="1300" dirty="0" err="1"/>
              <a:t>findTicket</a:t>
            </a:r>
            <a:r>
              <a:rPr lang="en-US" sz="1300" dirty="0"/>
              <a:t>(</a:t>
            </a:r>
            <a:r>
              <a:rPr lang="en-US" sz="1300" dirty="0" err="1"/>
              <a:t>int</a:t>
            </a:r>
            <a:r>
              <a:rPr lang="en-US" sz="1300" dirty="0"/>
              <a:t> id) {</a:t>
            </a:r>
          </a:p>
          <a:p>
            <a:r>
              <a:rPr lang="en-US" sz="1300" dirty="0"/>
              <a:t>        for (auto t : tickets)</a:t>
            </a:r>
          </a:p>
          <a:p>
            <a:r>
              <a:rPr lang="en-US" sz="1300" dirty="0"/>
              <a:t>            if (t-&gt;</a:t>
            </a:r>
            <a:r>
              <a:rPr lang="en-US" sz="1300" dirty="0" err="1"/>
              <a:t>ticketID</a:t>
            </a:r>
            <a:r>
              <a:rPr lang="en-US" sz="1300" dirty="0"/>
              <a:t> == id)</a:t>
            </a:r>
          </a:p>
          <a:p>
            <a:r>
              <a:rPr lang="en-US" sz="1300" dirty="0"/>
              <a:t>                return t;</a:t>
            </a:r>
          </a:p>
          <a:p>
            <a:r>
              <a:rPr lang="en-US" sz="1300" dirty="0"/>
              <a:t>        return </a:t>
            </a:r>
            <a:r>
              <a:rPr lang="en-US" sz="1300" dirty="0" err="1"/>
              <a:t>nullptr</a:t>
            </a:r>
            <a:r>
              <a:rPr lang="en-US" sz="1300" dirty="0"/>
              <a:t>;</a:t>
            </a:r>
          </a:p>
          <a:p>
            <a:r>
              <a:rPr lang="en-US" sz="1300" dirty="0"/>
              <a:t>    </a:t>
            </a:r>
            <a:r>
              <a:rPr lang="en-US" sz="1300" dirty="0" smtClean="0"/>
              <a:t>}</a:t>
            </a:r>
          </a:p>
          <a:p>
            <a:r>
              <a:rPr lang="en-US" sz="1300" dirty="0"/>
              <a:t>void </a:t>
            </a:r>
            <a:r>
              <a:rPr lang="en-US" sz="1300" dirty="0" err="1"/>
              <a:t>releaseSlot</a:t>
            </a:r>
            <a:r>
              <a:rPr lang="en-US" sz="1300" dirty="0"/>
              <a:t>(</a:t>
            </a:r>
            <a:r>
              <a:rPr lang="en-US" sz="1300" dirty="0" err="1"/>
              <a:t>ParkingTicket</a:t>
            </a:r>
            <a:r>
              <a:rPr lang="en-US" sz="1300" dirty="0"/>
              <a:t>* ticket) {</a:t>
            </a:r>
          </a:p>
          <a:p>
            <a:r>
              <a:rPr lang="en-US" sz="1300" dirty="0"/>
              <a:t>        vector&lt;</a:t>
            </a:r>
            <a:r>
              <a:rPr lang="en-US" sz="1300" dirty="0" err="1"/>
              <a:t>ParkingSlot</a:t>
            </a:r>
            <a:r>
              <a:rPr lang="en-US" sz="1300" dirty="0"/>
              <a:t>&gt;&amp; slots =</a:t>
            </a:r>
          </a:p>
          <a:p>
            <a:r>
              <a:rPr lang="en-US" sz="1300" dirty="0"/>
              <a:t>            (ticket-&gt;vehicle-&gt;</a:t>
            </a:r>
            <a:r>
              <a:rPr lang="en-US" sz="1300" dirty="0" err="1"/>
              <a:t>getType</a:t>
            </a:r>
            <a:r>
              <a:rPr lang="en-US" sz="1300" dirty="0"/>
              <a:t>() == "car") ? </a:t>
            </a:r>
            <a:r>
              <a:rPr lang="en-US" sz="1300" dirty="0" err="1"/>
              <a:t>carSlots</a:t>
            </a:r>
            <a:r>
              <a:rPr lang="en-US" sz="1300" dirty="0"/>
              <a:t> : </a:t>
            </a:r>
            <a:r>
              <a:rPr lang="en-US" sz="1300" dirty="0" err="1"/>
              <a:t>bikeSlots</a:t>
            </a:r>
            <a:r>
              <a:rPr lang="en-US" sz="1300" dirty="0"/>
              <a:t>;</a:t>
            </a:r>
          </a:p>
          <a:p>
            <a:endParaRPr lang="en-US" sz="1300" dirty="0"/>
          </a:p>
          <a:p>
            <a:r>
              <a:rPr lang="en-US" sz="1300" dirty="0"/>
              <a:t>        for (auto&amp; s : slots) {</a:t>
            </a:r>
          </a:p>
          <a:p>
            <a:r>
              <a:rPr lang="en-US" sz="1300" dirty="0"/>
              <a:t>            if (</a:t>
            </a:r>
            <a:r>
              <a:rPr lang="en-US" sz="1300" dirty="0" err="1"/>
              <a:t>s.slotID</a:t>
            </a:r>
            <a:r>
              <a:rPr lang="en-US" sz="1300" dirty="0"/>
              <a:t> == ticket-&gt;</a:t>
            </a:r>
            <a:r>
              <a:rPr lang="en-US" sz="1300" dirty="0" err="1"/>
              <a:t>slotID</a:t>
            </a:r>
            <a:r>
              <a:rPr lang="en-US" sz="1300" dirty="0"/>
              <a:t>) {</a:t>
            </a:r>
          </a:p>
          <a:p>
            <a:r>
              <a:rPr lang="en-US" sz="1300" dirty="0"/>
              <a:t>                </a:t>
            </a:r>
            <a:r>
              <a:rPr lang="en-US" sz="1300" dirty="0" err="1"/>
              <a:t>s.removeVehicle</a:t>
            </a:r>
            <a:r>
              <a:rPr lang="en-US" sz="1300" dirty="0"/>
              <a:t>();</a:t>
            </a:r>
          </a:p>
          <a:p>
            <a:r>
              <a:rPr lang="en-US" sz="1300" dirty="0"/>
              <a:t>            }</a:t>
            </a:r>
          </a:p>
          <a:p>
            <a:r>
              <a:rPr lang="en-US" sz="1300" dirty="0"/>
              <a:t>        }</a:t>
            </a:r>
          </a:p>
          <a:p>
            <a:r>
              <a:rPr lang="en-US" sz="1300" dirty="0"/>
              <a:t>    }</a:t>
            </a:r>
          </a:p>
          <a:p>
            <a:endParaRPr lang="en-US" sz="1300" dirty="0"/>
          </a:p>
          <a:p>
            <a:endParaRPr lang="en-US" sz="1300" dirty="0"/>
          </a:p>
        </p:txBody>
      </p:sp>
    </p:spTree>
    <p:extLst>
      <p:ext uri="{BB962C8B-B14F-4D97-AF65-F5344CB8AC3E}">
        <p14:creationId xmlns:p14="http://schemas.microsoft.com/office/powerpoint/2010/main" val="12576640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Man and woman discuss some document">
            <a:extLst>
              <a:ext uri="{FF2B5EF4-FFF2-40B4-BE49-F238E27FC236}">
                <a16:creationId xmlns:a16="http://schemas.microsoft.com/office/drawing/2014/main" id="{34A80249-1835-46E9-87C9-48F4BEE1EC64}"/>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0" y="-54124"/>
            <a:ext cx="12187578" cy="6408000"/>
          </a:xfrm>
        </p:spPr>
      </p:pic>
      <p:sp>
        <p:nvSpPr>
          <p:cNvPr id="14" name="Slide Number Placeholder 13">
            <a:extLst>
              <a:ext uri="{FF2B5EF4-FFF2-40B4-BE49-F238E27FC236}">
                <a16:creationId xmlns:a16="http://schemas.microsoft.com/office/drawing/2014/main" id="{D59E194F-ECD6-4685-8562-5B7AB400EC93}"/>
              </a:ext>
            </a:extLst>
          </p:cNvPr>
          <p:cNvSpPr>
            <a:spLocks noGrp="1"/>
          </p:cNvSpPr>
          <p:nvPr>
            <p:ph type="sldNum" sz="quarter" idx="12"/>
          </p:nvPr>
        </p:nvSpPr>
        <p:spPr/>
        <p:txBody>
          <a:bodyPr/>
          <a:lstStyle/>
          <a:p>
            <a:fld id="{3A98EE3D-8CD1-4C3F-BD1C-C98C9596463C}" type="slidenum">
              <a:rPr lang="en-US" smtClean="0"/>
              <a:pPr/>
              <a:t>21</a:t>
            </a:fld>
            <a:endParaRPr lang="en-US" dirty="0"/>
          </a:p>
        </p:txBody>
      </p:sp>
      <p:sp>
        <p:nvSpPr>
          <p:cNvPr id="2" name="Title 1">
            <a:extLst>
              <a:ext uri="{FF2B5EF4-FFF2-40B4-BE49-F238E27FC236}">
                <a16:creationId xmlns:a16="http://schemas.microsoft.com/office/drawing/2014/main" id="{EC6C92D3-8AE6-4260-8F63-97ED33A064D5}"/>
              </a:ext>
            </a:extLst>
          </p:cNvPr>
          <p:cNvSpPr>
            <a:spLocks noGrp="1"/>
          </p:cNvSpPr>
          <p:nvPr>
            <p:ph type="title"/>
          </p:nvPr>
        </p:nvSpPr>
        <p:spPr/>
        <p:txBody>
          <a:bodyPr/>
          <a:lstStyle/>
          <a:p>
            <a:r>
              <a:rPr lang="en-US" dirty="0" smtClean="0"/>
              <a:t>C++ Implementation:</a:t>
            </a:r>
            <a:endParaRPr lang="en-US" dirty="0"/>
          </a:p>
        </p:txBody>
      </p:sp>
      <p:sp>
        <p:nvSpPr>
          <p:cNvPr id="8" name="Rectangle 4"/>
          <p:cNvSpPr>
            <a:spLocks noChangeArrowheads="1"/>
          </p:cNvSpPr>
          <p:nvPr/>
        </p:nvSpPr>
        <p:spPr bwMode="auto">
          <a:xfrm>
            <a:off x="0" y="-54124"/>
            <a:ext cx="65" cy="565449"/>
          </a:xfrm>
          <a:prstGeom prst="rect">
            <a:avLst/>
          </a:prstGeom>
          <a:solidFill>
            <a:srgbClr val="F0F2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9"/>
          <p:cNvSpPr>
            <a:spLocks noChangeArrowheads="1"/>
          </p:cNvSpPr>
          <p:nvPr/>
        </p:nvSpPr>
        <p:spPr bwMode="auto">
          <a:xfrm>
            <a:off x="0" y="-541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TextBox 2"/>
          <p:cNvSpPr txBox="1"/>
          <p:nvPr/>
        </p:nvSpPr>
        <p:spPr>
          <a:xfrm>
            <a:off x="169817" y="1397726"/>
            <a:ext cx="5839097" cy="4885508"/>
          </a:xfrm>
          <a:prstGeom prst="rect">
            <a:avLst/>
          </a:prstGeom>
          <a:noFill/>
        </p:spPr>
        <p:txBody>
          <a:bodyPr wrap="square" rtlCol="0">
            <a:spAutoFit/>
          </a:bodyPr>
          <a:lstStyle/>
          <a:p>
            <a:endParaRPr lang="en-US" dirty="0"/>
          </a:p>
        </p:txBody>
      </p:sp>
      <p:sp>
        <p:nvSpPr>
          <p:cNvPr id="6" name="TextBox 5"/>
          <p:cNvSpPr txBox="1"/>
          <p:nvPr/>
        </p:nvSpPr>
        <p:spPr>
          <a:xfrm>
            <a:off x="169817" y="1397726"/>
            <a:ext cx="5943600" cy="4885508"/>
          </a:xfrm>
          <a:prstGeom prst="rect">
            <a:avLst/>
          </a:prstGeom>
          <a:noFill/>
        </p:spPr>
        <p:txBody>
          <a:bodyPr wrap="square" rtlCol="0">
            <a:spAutoFit/>
          </a:bodyPr>
          <a:lstStyle/>
          <a:p>
            <a:endParaRPr lang="en-US" dirty="0"/>
          </a:p>
        </p:txBody>
      </p:sp>
      <p:sp>
        <p:nvSpPr>
          <p:cNvPr id="11" name="TextBox 10"/>
          <p:cNvSpPr txBox="1"/>
          <p:nvPr/>
        </p:nvSpPr>
        <p:spPr>
          <a:xfrm>
            <a:off x="6126480" y="1397726"/>
            <a:ext cx="5904411" cy="646331"/>
          </a:xfrm>
          <a:prstGeom prst="rect">
            <a:avLst/>
          </a:prstGeom>
          <a:noFill/>
        </p:spPr>
        <p:txBody>
          <a:bodyPr wrap="square" rtlCol="0">
            <a:spAutoFit/>
          </a:bodyPr>
          <a:lstStyle/>
          <a:p>
            <a:endParaRPr lang="en-US" dirty="0"/>
          </a:p>
          <a:p>
            <a:r>
              <a:rPr lang="en-US" dirty="0"/>
              <a:t>        </a:t>
            </a:r>
          </a:p>
        </p:txBody>
      </p:sp>
      <p:cxnSp>
        <p:nvCxnSpPr>
          <p:cNvPr id="15" name="Straight Connector 14"/>
          <p:cNvCxnSpPr/>
          <p:nvPr/>
        </p:nvCxnSpPr>
        <p:spPr>
          <a:xfrm>
            <a:off x="6006771" y="1553206"/>
            <a:ext cx="0" cy="4596492"/>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6257109" y="1584284"/>
            <a:ext cx="5773782" cy="292388"/>
          </a:xfrm>
          <a:prstGeom prst="rect">
            <a:avLst/>
          </a:prstGeom>
          <a:noFill/>
        </p:spPr>
        <p:txBody>
          <a:bodyPr wrap="square" rtlCol="0">
            <a:spAutoFit/>
          </a:bodyPr>
          <a:lstStyle/>
          <a:p>
            <a:r>
              <a:rPr lang="en-US" sz="1300" dirty="0"/>
              <a:t> </a:t>
            </a:r>
          </a:p>
        </p:txBody>
      </p:sp>
      <p:sp>
        <p:nvSpPr>
          <p:cNvPr id="7" name="TextBox 6"/>
          <p:cNvSpPr txBox="1"/>
          <p:nvPr/>
        </p:nvSpPr>
        <p:spPr>
          <a:xfrm>
            <a:off x="169817" y="1553206"/>
            <a:ext cx="5577840" cy="4893647"/>
          </a:xfrm>
          <a:prstGeom prst="rect">
            <a:avLst/>
          </a:prstGeom>
          <a:noFill/>
        </p:spPr>
        <p:txBody>
          <a:bodyPr wrap="square" rtlCol="0">
            <a:spAutoFit/>
          </a:bodyPr>
          <a:lstStyle/>
          <a:p>
            <a:r>
              <a:rPr lang="en-US" sz="1300" dirty="0"/>
              <a:t>void </a:t>
            </a:r>
            <a:r>
              <a:rPr lang="en-US" sz="1300" dirty="0" err="1"/>
              <a:t>showAvailableSlots</a:t>
            </a:r>
            <a:r>
              <a:rPr lang="en-US" sz="1300" dirty="0"/>
              <a:t>() {</a:t>
            </a:r>
          </a:p>
          <a:p>
            <a:r>
              <a:rPr lang="en-US" sz="1300" dirty="0"/>
              <a:t>        </a:t>
            </a:r>
            <a:r>
              <a:rPr lang="en-US" sz="1300" dirty="0" err="1"/>
              <a:t>cout</a:t>
            </a:r>
            <a:r>
              <a:rPr lang="en-US" sz="1300" dirty="0"/>
              <a:t> &lt;&lt; "Bike Slots: ";</a:t>
            </a:r>
          </a:p>
          <a:p>
            <a:r>
              <a:rPr lang="en-US" sz="1300" dirty="0"/>
              <a:t>        for (auto&amp; s : </a:t>
            </a:r>
            <a:r>
              <a:rPr lang="en-US" sz="1300" dirty="0" err="1"/>
              <a:t>bikeSlots</a:t>
            </a:r>
            <a:r>
              <a:rPr lang="en-US" sz="1300" dirty="0"/>
              <a:t>)</a:t>
            </a:r>
          </a:p>
          <a:p>
            <a:r>
              <a:rPr lang="en-US" sz="1300" dirty="0"/>
              <a:t>            if (</a:t>
            </a:r>
            <a:r>
              <a:rPr lang="en-US" sz="1300" dirty="0" err="1"/>
              <a:t>s.isAvailable</a:t>
            </a:r>
            <a:r>
              <a:rPr lang="en-US" sz="1300" dirty="0"/>
              <a:t>()) </a:t>
            </a:r>
            <a:r>
              <a:rPr lang="en-US" sz="1300" dirty="0" err="1"/>
              <a:t>cout</a:t>
            </a:r>
            <a:r>
              <a:rPr lang="en-US" sz="1300" dirty="0"/>
              <a:t> &lt;&lt; </a:t>
            </a:r>
            <a:r>
              <a:rPr lang="en-US" sz="1300" dirty="0" err="1"/>
              <a:t>s.slotID</a:t>
            </a:r>
            <a:r>
              <a:rPr lang="en-US" sz="1300" dirty="0"/>
              <a:t> &lt;&lt; " ";</a:t>
            </a:r>
          </a:p>
          <a:p>
            <a:endParaRPr lang="en-US" sz="1300" dirty="0"/>
          </a:p>
          <a:p>
            <a:r>
              <a:rPr lang="en-US" sz="1300" dirty="0"/>
              <a:t>        </a:t>
            </a:r>
            <a:r>
              <a:rPr lang="en-US" sz="1300" dirty="0" err="1"/>
              <a:t>cout</a:t>
            </a:r>
            <a:r>
              <a:rPr lang="en-US" sz="1300" dirty="0"/>
              <a:t> &lt;&lt; "\</a:t>
            </a:r>
            <a:r>
              <a:rPr lang="en-US" sz="1300" dirty="0" err="1"/>
              <a:t>nCar</a:t>
            </a:r>
            <a:r>
              <a:rPr lang="en-US" sz="1300" dirty="0"/>
              <a:t> Slots: ";</a:t>
            </a:r>
          </a:p>
          <a:p>
            <a:r>
              <a:rPr lang="en-US" sz="1300" dirty="0"/>
              <a:t>        for (auto&amp; s : </a:t>
            </a:r>
            <a:r>
              <a:rPr lang="en-US" sz="1300" dirty="0" err="1"/>
              <a:t>carSlots</a:t>
            </a:r>
            <a:r>
              <a:rPr lang="en-US" sz="1300" dirty="0"/>
              <a:t>)</a:t>
            </a:r>
          </a:p>
          <a:p>
            <a:r>
              <a:rPr lang="en-US" sz="1300" dirty="0"/>
              <a:t>            if (</a:t>
            </a:r>
            <a:r>
              <a:rPr lang="en-US" sz="1300" dirty="0" err="1"/>
              <a:t>s.isAvailable</a:t>
            </a:r>
            <a:r>
              <a:rPr lang="en-US" sz="1300" dirty="0"/>
              <a:t>()) </a:t>
            </a:r>
            <a:r>
              <a:rPr lang="en-US" sz="1300" dirty="0" err="1"/>
              <a:t>cout</a:t>
            </a:r>
            <a:r>
              <a:rPr lang="en-US" sz="1300" dirty="0"/>
              <a:t> &lt;&lt; </a:t>
            </a:r>
            <a:r>
              <a:rPr lang="en-US" sz="1300" dirty="0" err="1"/>
              <a:t>s.slotID</a:t>
            </a:r>
            <a:r>
              <a:rPr lang="en-US" sz="1300" dirty="0"/>
              <a:t> &lt;&lt; " ";</a:t>
            </a:r>
          </a:p>
          <a:p>
            <a:endParaRPr lang="en-US" sz="1300" dirty="0"/>
          </a:p>
          <a:p>
            <a:r>
              <a:rPr lang="en-US" sz="1300" dirty="0"/>
              <a:t>        </a:t>
            </a:r>
            <a:r>
              <a:rPr lang="en-US" sz="1300" dirty="0" err="1"/>
              <a:t>cout</a:t>
            </a:r>
            <a:r>
              <a:rPr lang="en-US" sz="1300" dirty="0"/>
              <a:t> &lt;&lt; </a:t>
            </a:r>
            <a:r>
              <a:rPr lang="en-US" sz="1300" dirty="0" err="1"/>
              <a:t>endl</a:t>
            </a:r>
            <a:r>
              <a:rPr lang="en-US" sz="1300" dirty="0"/>
              <a:t>;</a:t>
            </a:r>
          </a:p>
          <a:p>
            <a:r>
              <a:rPr lang="en-US" sz="1300" dirty="0"/>
              <a:t>    }</a:t>
            </a:r>
          </a:p>
          <a:p>
            <a:r>
              <a:rPr lang="en-US" sz="1300" dirty="0"/>
              <a:t>};</a:t>
            </a:r>
          </a:p>
          <a:p>
            <a:endParaRPr lang="en-US" sz="1300" dirty="0"/>
          </a:p>
          <a:p>
            <a:r>
              <a:rPr lang="en-US" sz="1300" dirty="0"/>
              <a:t>ParkingManager* ParkingManager::object = </a:t>
            </a:r>
            <a:r>
              <a:rPr lang="en-US" sz="1300" dirty="0" err="1"/>
              <a:t>nullptr</a:t>
            </a:r>
            <a:r>
              <a:rPr lang="en-US" sz="1300" dirty="0" smtClean="0"/>
              <a:t>;</a:t>
            </a:r>
          </a:p>
          <a:p>
            <a:endParaRPr lang="en-US" sz="1300" dirty="0" smtClean="0"/>
          </a:p>
          <a:p>
            <a:r>
              <a:rPr lang="en-US" sz="1300" dirty="0"/>
              <a:t>// ================= COMMAND PATTERN =================</a:t>
            </a:r>
          </a:p>
          <a:p>
            <a:r>
              <a:rPr lang="en-US" sz="1300" dirty="0"/>
              <a:t>class Command {</a:t>
            </a:r>
          </a:p>
          <a:p>
            <a:r>
              <a:rPr lang="en-US" sz="1300" dirty="0"/>
              <a:t>public:</a:t>
            </a:r>
          </a:p>
          <a:p>
            <a:r>
              <a:rPr lang="en-US" sz="1300" dirty="0"/>
              <a:t>    virtual void execute() = 0;</a:t>
            </a:r>
          </a:p>
          <a:p>
            <a:r>
              <a:rPr lang="en-US" sz="1300" dirty="0"/>
              <a:t>};</a:t>
            </a:r>
          </a:p>
          <a:p>
            <a:endParaRPr lang="en-US" sz="1300" dirty="0"/>
          </a:p>
          <a:p>
            <a:r>
              <a:rPr lang="en-US" sz="1300" dirty="0"/>
              <a:t>class </a:t>
            </a:r>
            <a:r>
              <a:rPr lang="en-US" sz="1300" dirty="0" err="1"/>
              <a:t>ParkCommand</a:t>
            </a:r>
            <a:r>
              <a:rPr lang="en-US" sz="1300" dirty="0"/>
              <a:t> : public Command {</a:t>
            </a:r>
          </a:p>
          <a:p>
            <a:r>
              <a:rPr lang="en-US" sz="1300" dirty="0"/>
              <a:t>public:</a:t>
            </a:r>
          </a:p>
          <a:p>
            <a:r>
              <a:rPr lang="en-US" sz="1300" dirty="0"/>
              <a:t>    void execute() </a:t>
            </a:r>
            <a:r>
              <a:rPr lang="en-US" sz="1300" dirty="0" smtClean="0"/>
              <a:t>{</a:t>
            </a:r>
            <a:endParaRPr lang="en-US" sz="1300" dirty="0"/>
          </a:p>
        </p:txBody>
      </p:sp>
      <p:sp>
        <p:nvSpPr>
          <p:cNvPr id="10" name="TextBox 9"/>
          <p:cNvSpPr txBox="1"/>
          <p:nvPr/>
        </p:nvSpPr>
        <p:spPr>
          <a:xfrm>
            <a:off x="6374674" y="1553206"/>
            <a:ext cx="5656217" cy="4893647"/>
          </a:xfrm>
          <a:prstGeom prst="rect">
            <a:avLst/>
          </a:prstGeom>
          <a:noFill/>
        </p:spPr>
        <p:txBody>
          <a:bodyPr wrap="square" rtlCol="0">
            <a:spAutoFit/>
          </a:bodyPr>
          <a:lstStyle/>
          <a:p>
            <a:r>
              <a:rPr lang="en-US" sz="1300" dirty="0"/>
              <a:t> string type;</a:t>
            </a:r>
          </a:p>
          <a:p>
            <a:r>
              <a:rPr lang="en-US" sz="1300" dirty="0"/>
              <a:t>        </a:t>
            </a:r>
            <a:r>
              <a:rPr lang="en-US" sz="1300" dirty="0" err="1"/>
              <a:t>cout</a:t>
            </a:r>
            <a:r>
              <a:rPr lang="en-US" sz="1300" dirty="0"/>
              <a:t> &lt;&lt; "Enter vehicle type: ";</a:t>
            </a:r>
          </a:p>
          <a:p>
            <a:r>
              <a:rPr lang="en-US" sz="1300" dirty="0"/>
              <a:t>        </a:t>
            </a:r>
            <a:r>
              <a:rPr lang="en-US" sz="1300" dirty="0" err="1"/>
              <a:t>cin</a:t>
            </a:r>
            <a:r>
              <a:rPr lang="en-US" sz="1300" dirty="0"/>
              <a:t> &gt;&gt; type;</a:t>
            </a:r>
          </a:p>
          <a:p>
            <a:endParaRPr lang="en-US" sz="1300" dirty="0"/>
          </a:p>
          <a:p>
            <a:r>
              <a:rPr lang="en-US" sz="1300" dirty="0"/>
              <a:t>        Vehicle* v = </a:t>
            </a:r>
            <a:r>
              <a:rPr lang="en-US" sz="1300" dirty="0" err="1"/>
              <a:t>VehicleFactory</a:t>
            </a:r>
            <a:r>
              <a:rPr lang="en-US" sz="1300" dirty="0"/>
              <a:t>::</a:t>
            </a:r>
            <a:r>
              <a:rPr lang="en-US" sz="1300" dirty="0" err="1"/>
              <a:t>createVehicle</a:t>
            </a:r>
            <a:r>
              <a:rPr lang="en-US" sz="1300" dirty="0"/>
              <a:t>(type);</a:t>
            </a:r>
          </a:p>
          <a:p>
            <a:r>
              <a:rPr lang="en-US" sz="1300" dirty="0"/>
              <a:t>        if (!v) {</a:t>
            </a:r>
          </a:p>
          <a:p>
            <a:r>
              <a:rPr lang="en-US" sz="1300" dirty="0"/>
              <a:t>            </a:t>
            </a:r>
            <a:r>
              <a:rPr lang="en-US" sz="1300" dirty="0" err="1"/>
              <a:t>cout</a:t>
            </a:r>
            <a:r>
              <a:rPr lang="en-US" sz="1300" dirty="0"/>
              <a:t> &lt;&lt; "Invalid type!\n";</a:t>
            </a:r>
          </a:p>
          <a:p>
            <a:r>
              <a:rPr lang="en-US" sz="1300" dirty="0"/>
              <a:t>            return;</a:t>
            </a:r>
          </a:p>
          <a:p>
            <a:r>
              <a:rPr lang="en-US" sz="1300" dirty="0"/>
              <a:t>        </a:t>
            </a:r>
            <a:r>
              <a:rPr lang="en-US" sz="1300" dirty="0" smtClean="0"/>
              <a:t>}</a:t>
            </a:r>
          </a:p>
          <a:p>
            <a:r>
              <a:rPr lang="en-US" sz="1300" dirty="0"/>
              <a:t>v-&gt;display();</a:t>
            </a:r>
          </a:p>
          <a:p>
            <a:endParaRPr lang="en-US" sz="1300" dirty="0"/>
          </a:p>
          <a:p>
            <a:r>
              <a:rPr lang="en-US" sz="1300" dirty="0"/>
              <a:t>        ParkingManager* manager = ParkingManager::</a:t>
            </a:r>
            <a:r>
              <a:rPr lang="en-US" sz="1300" dirty="0" err="1"/>
              <a:t>getInstance</a:t>
            </a:r>
            <a:r>
              <a:rPr lang="en-US" sz="1300" dirty="0"/>
              <a:t>();</a:t>
            </a:r>
          </a:p>
          <a:p>
            <a:r>
              <a:rPr lang="en-US" sz="1300" dirty="0"/>
              <a:t>        </a:t>
            </a:r>
            <a:r>
              <a:rPr lang="en-US" sz="1300" dirty="0" err="1"/>
              <a:t>int</a:t>
            </a:r>
            <a:r>
              <a:rPr lang="en-US" sz="1300" dirty="0"/>
              <a:t> slot = manager-&gt;</a:t>
            </a:r>
            <a:r>
              <a:rPr lang="en-US" sz="1300" dirty="0" err="1"/>
              <a:t>assignSlot</a:t>
            </a:r>
            <a:r>
              <a:rPr lang="en-US" sz="1300" dirty="0"/>
              <a:t>(v);</a:t>
            </a:r>
          </a:p>
          <a:p>
            <a:endParaRPr lang="en-US" sz="1300" dirty="0"/>
          </a:p>
          <a:p>
            <a:r>
              <a:rPr lang="en-US" sz="1300" dirty="0"/>
              <a:t>        if (slot != -1) {</a:t>
            </a:r>
          </a:p>
          <a:p>
            <a:r>
              <a:rPr lang="en-US" sz="1300" dirty="0"/>
              <a:t>            </a:t>
            </a:r>
            <a:r>
              <a:rPr lang="en-US" sz="1300" dirty="0" err="1"/>
              <a:t>ParkingTicket</a:t>
            </a:r>
            <a:r>
              <a:rPr lang="en-US" sz="1300" dirty="0"/>
              <a:t>* t = manager-&gt;</a:t>
            </a:r>
            <a:r>
              <a:rPr lang="en-US" sz="1300" dirty="0" err="1"/>
              <a:t>createTicket</a:t>
            </a:r>
            <a:r>
              <a:rPr lang="en-US" sz="1300" dirty="0"/>
              <a:t>(v, slot);</a:t>
            </a:r>
          </a:p>
          <a:p>
            <a:r>
              <a:rPr lang="en-US" sz="1300" dirty="0"/>
              <a:t>            t-&gt;</a:t>
            </a:r>
            <a:r>
              <a:rPr lang="en-US" sz="1300" dirty="0" err="1"/>
              <a:t>printTicket</a:t>
            </a:r>
            <a:r>
              <a:rPr lang="en-US" sz="1300" dirty="0"/>
              <a:t>();</a:t>
            </a:r>
          </a:p>
          <a:p>
            <a:r>
              <a:rPr lang="en-US" sz="1300" dirty="0"/>
              <a:t>        }</a:t>
            </a:r>
          </a:p>
          <a:p>
            <a:r>
              <a:rPr lang="en-US" sz="1300" dirty="0"/>
              <a:t>    }</a:t>
            </a:r>
          </a:p>
          <a:p>
            <a:r>
              <a:rPr lang="en-US" sz="1300" dirty="0"/>
              <a:t>};</a:t>
            </a:r>
          </a:p>
          <a:p>
            <a:endParaRPr lang="en-US" sz="1300" dirty="0"/>
          </a:p>
          <a:p>
            <a:r>
              <a:rPr lang="en-US" sz="1300" dirty="0"/>
              <a:t>class </a:t>
            </a:r>
            <a:r>
              <a:rPr lang="en-US" sz="1300" dirty="0" err="1"/>
              <a:t>ExitCommand</a:t>
            </a:r>
            <a:r>
              <a:rPr lang="en-US" sz="1300" dirty="0"/>
              <a:t> : public Command {</a:t>
            </a:r>
          </a:p>
          <a:p>
            <a:r>
              <a:rPr lang="en-US" sz="1300" dirty="0"/>
              <a:t>public:</a:t>
            </a:r>
          </a:p>
          <a:p>
            <a:r>
              <a:rPr lang="en-US" sz="1300" dirty="0"/>
              <a:t>    void execute() </a:t>
            </a:r>
            <a:r>
              <a:rPr lang="en-US" sz="1300" dirty="0" smtClean="0"/>
              <a:t>{</a:t>
            </a:r>
            <a:endParaRPr lang="en-US" sz="1300" dirty="0"/>
          </a:p>
        </p:txBody>
      </p:sp>
    </p:spTree>
    <p:extLst>
      <p:ext uri="{BB962C8B-B14F-4D97-AF65-F5344CB8AC3E}">
        <p14:creationId xmlns:p14="http://schemas.microsoft.com/office/powerpoint/2010/main" val="8375911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Man and woman discuss some document">
            <a:extLst>
              <a:ext uri="{FF2B5EF4-FFF2-40B4-BE49-F238E27FC236}">
                <a16:creationId xmlns:a16="http://schemas.microsoft.com/office/drawing/2014/main" id="{34A80249-1835-46E9-87C9-48F4BEE1EC64}"/>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211" y="0"/>
            <a:ext cx="12187578" cy="6408000"/>
          </a:xfrm>
        </p:spPr>
      </p:pic>
      <p:sp>
        <p:nvSpPr>
          <p:cNvPr id="14" name="Slide Number Placeholder 13">
            <a:extLst>
              <a:ext uri="{FF2B5EF4-FFF2-40B4-BE49-F238E27FC236}">
                <a16:creationId xmlns:a16="http://schemas.microsoft.com/office/drawing/2014/main" id="{D59E194F-ECD6-4685-8562-5B7AB400EC93}"/>
              </a:ext>
            </a:extLst>
          </p:cNvPr>
          <p:cNvSpPr>
            <a:spLocks noGrp="1"/>
          </p:cNvSpPr>
          <p:nvPr>
            <p:ph type="sldNum" sz="quarter" idx="12"/>
          </p:nvPr>
        </p:nvSpPr>
        <p:spPr/>
        <p:txBody>
          <a:bodyPr/>
          <a:lstStyle/>
          <a:p>
            <a:fld id="{3A98EE3D-8CD1-4C3F-BD1C-C98C9596463C}" type="slidenum">
              <a:rPr lang="en-US" smtClean="0"/>
              <a:pPr/>
              <a:t>22</a:t>
            </a:fld>
            <a:endParaRPr lang="en-US" dirty="0"/>
          </a:p>
        </p:txBody>
      </p:sp>
      <p:sp>
        <p:nvSpPr>
          <p:cNvPr id="2" name="Title 1">
            <a:extLst>
              <a:ext uri="{FF2B5EF4-FFF2-40B4-BE49-F238E27FC236}">
                <a16:creationId xmlns:a16="http://schemas.microsoft.com/office/drawing/2014/main" id="{EC6C92D3-8AE6-4260-8F63-97ED33A064D5}"/>
              </a:ext>
            </a:extLst>
          </p:cNvPr>
          <p:cNvSpPr>
            <a:spLocks noGrp="1"/>
          </p:cNvSpPr>
          <p:nvPr>
            <p:ph type="title"/>
          </p:nvPr>
        </p:nvSpPr>
        <p:spPr/>
        <p:txBody>
          <a:bodyPr/>
          <a:lstStyle/>
          <a:p>
            <a:r>
              <a:rPr lang="en-US" dirty="0" smtClean="0"/>
              <a:t>C++ Implementation:</a:t>
            </a:r>
            <a:endParaRPr lang="en-US" dirty="0"/>
          </a:p>
        </p:txBody>
      </p:sp>
      <p:sp>
        <p:nvSpPr>
          <p:cNvPr id="8" name="Rectangle 4"/>
          <p:cNvSpPr>
            <a:spLocks noChangeArrowheads="1"/>
          </p:cNvSpPr>
          <p:nvPr/>
        </p:nvSpPr>
        <p:spPr bwMode="auto">
          <a:xfrm>
            <a:off x="0" y="-54124"/>
            <a:ext cx="65" cy="565449"/>
          </a:xfrm>
          <a:prstGeom prst="rect">
            <a:avLst/>
          </a:prstGeom>
          <a:solidFill>
            <a:srgbClr val="F0F2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9"/>
          <p:cNvSpPr>
            <a:spLocks noChangeArrowheads="1"/>
          </p:cNvSpPr>
          <p:nvPr/>
        </p:nvSpPr>
        <p:spPr bwMode="auto">
          <a:xfrm>
            <a:off x="0" y="-541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Content Placeholder 2"/>
          <p:cNvSpPr>
            <a:spLocks noGrp="1"/>
          </p:cNvSpPr>
          <p:nvPr>
            <p:ph sz="half" idx="1"/>
          </p:nvPr>
        </p:nvSpPr>
        <p:spPr/>
        <p:txBody>
          <a:bodyPr/>
          <a:lstStyle/>
          <a:p>
            <a:endParaRPr lang="en-US" dirty="0"/>
          </a:p>
        </p:txBody>
      </p:sp>
      <p:sp>
        <p:nvSpPr>
          <p:cNvPr id="4" name="TextBox 3"/>
          <p:cNvSpPr txBox="1"/>
          <p:nvPr/>
        </p:nvSpPr>
        <p:spPr>
          <a:xfrm>
            <a:off x="313509" y="1580606"/>
            <a:ext cx="5290457" cy="4893647"/>
          </a:xfrm>
          <a:prstGeom prst="rect">
            <a:avLst/>
          </a:prstGeom>
          <a:noFill/>
        </p:spPr>
        <p:txBody>
          <a:bodyPr wrap="square" rtlCol="0">
            <a:spAutoFit/>
          </a:bodyPr>
          <a:lstStyle/>
          <a:p>
            <a:r>
              <a:rPr lang="en-US" sz="1300" dirty="0"/>
              <a:t> </a:t>
            </a:r>
            <a:r>
              <a:rPr lang="en-US" sz="1300" dirty="0" err="1"/>
              <a:t>int</a:t>
            </a:r>
            <a:r>
              <a:rPr lang="en-US" sz="1300" dirty="0"/>
              <a:t> id, hours;</a:t>
            </a:r>
          </a:p>
          <a:p>
            <a:r>
              <a:rPr lang="en-US" sz="1300" dirty="0"/>
              <a:t>        </a:t>
            </a:r>
            <a:r>
              <a:rPr lang="en-US" sz="1300" dirty="0" err="1"/>
              <a:t>cout</a:t>
            </a:r>
            <a:r>
              <a:rPr lang="en-US" sz="1300" dirty="0"/>
              <a:t> &lt;&lt; "Enter Ticket ID: ";</a:t>
            </a:r>
          </a:p>
          <a:p>
            <a:r>
              <a:rPr lang="en-US" sz="1300" dirty="0"/>
              <a:t>        </a:t>
            </a:r>
            <a:r>
              <a:rPr lang="en-US" sz="1300" dirty="0" err="1"/>
              <a:t>cin</a:t>
            </a:r>
            <a:r>
              <a:rPr lang="en-US" sz="1300" dirty="0"/>
              <a:t> &gt;&gt; id;</a:t>
            </a:r>
          </a:p>
          <a:p>
            <a:endParaRPr lang="en-US" sz="1300" dirty="0"/>
          </a:p>
          <a:p>
            <a:r>
              <a:rPr lang="en-US" sz="1300" dirty="0"/>
              <a:t>        ParkingManager* manager = ParkingManager::</a:t>
            </a:r>
            <a:r>
              <a:rPr lang="en-US" sz="1300" dirty="0" err="1"/>
              <a:t>getInstance</a:t>
            </a:r>
            <a:r>
              <a:rPr lang="en-US" sz="1300" dirty="0"/>
              <a:t>();</a:t>
            </a:r>
          </a:p>
          <a:p>
            <a:r>
              <a:rPr lang="en-US" sz="1300" dirty="0"/>
              <a:t>        </a:t>
            </a:r>
            <a:r>
              <a:rPr lang="en-US" sz="1300" dirty="0" err="1"/>
              <a:t>ParkingTicket</a:t>
            </a:r>
            <a:r>
              <a:rPr lang="en-US" sz="1300" dirty="0"/>
              <a:t>* t = manager-&gt;</a:t>
            </a:r>
            <a:r>
              <a:rPr lang="en-US" sz="1300" dirty="0" err="1"/>
              <a:t>findTicket</a:t>
            </a:r>
            <a:r>
              <a:rPr lang="en-US" sz="1300" dirty="0"/>
              <a:t>(id);</a:t>
            </a:r>
          </a:p>
          <a:p>
            <a:endParaRPr lang="en-US" sz="1300" dirty="0"/>
          </a:p>
          <a:p>
            <a:r>
              <a:rPr lang="en-US" sz="1300" dirty="0"/>
              <a:t>        if (!t) {</a:t>
            </a:r>
          </a:p>
          <a:p>
            <a:r>
              <a:rPr lang="en-US" sz="1300" dirty="0"/>
              <a:t>            </a:t>
            </a:r>
            <a:r>
              <a:rPr lang="en-US" sz="1300" dirty="0" err="1"/>
              <a:t>cout</a:t>
            </a:r>
            <a:r>
              <a:rPr lang="en-US" sz="1300" dirty="0"/>
              <a:t> &lt;&lt; "Invalid ID\n";</a:t>
            </a:r>
          </a:p>
          <a:p>
            <a:r>
              <a:rPr lang="en-US" sz="1300" dirty="0"/>
              <a:t>            </a:t>
            </a:r>
            <a:r>
              <a:rPr lang="en-US" sz="1300" dirty="0" smtClean="0"/>
              <a:t>return</a:t>
            </a:r>
            <a:r>
              <a:rPr lang="en-US" sz="1300" dirty="0"/>
              <a:t>;</a:t>
            </a:r>
          </a:p>
          <a:p>
            <a:r>
              <a:rPr lang="en-US" sz="1300" dirty="0"/>
              <a:t>        </a:t>
            </a:r>
            <a:r>
              <a:rPr lang="en-US" sz="1300" dirty="0" smtClean="0"/>
              <a:t>}</a:t>
            </a:r>
          </a:p>
          <a:p>
            <a:r>
              <a:rPr lang="en-US" sz="1300" dirty="0" err="1"/>
              <a:t>cout</a:t>
            </a:r>
            <a:r>
              <a:rPr lang="en-US" sz="1300" dirty="0"/>
              <a:t> &lt;&lt; "Enter hours: ";</a:t>
            </a:r>
          </a:p>
          <a:p>
            <a:r>
              <a:rPr lang="en-US" sz="1300" dirty="0"/>
              <a:t>        </a:t>
            </a:r>
            <a:r>
              <a:rPr lang="en-US" sz="1300" dirty="0" err="1"/>
              <a:t>cin</a:t>
            </a:r>
            <a:r>
              <a:rPr lang="en-US" sz="1300" dirty="0"/>
              <a:t> &gt;&gt; hours;</a:t>
            </a:r>
          </a:p>
          <a:p>
            <a:endParaRPr lang="en-US" sz="1300" dirty="0"/>
          </a:p>
          <a:p>
            <a:r>
              <a:rPr lang="en-US" sz="1300" dirty="0"/>
              <a:t>        t-&gt;</a:t>
            </a:r>
            <a:r>
              <a:rPr lang="en-US" sz="1300" dirty="0" err="1"/>
              <a:t>calculateFee</a:t>
            </a:r>
            <a:r>
              <a:rPr lang="en-US" sz="1300" dirty="0"/>
              <a:t>(hours);</a:t>
            </a:r>
          </a:p>
          <a:p>
            <a:r>
              <a:rPr lang="en-US" sz="1300" dirty="0"/>
              <a:t>        manager-&gt;</a:t>
            </a:r>
            <a:r>
              <a:rPr lang="en-US" sz="1300" dirty="0" err="1"/>
              <a:t>releaseSlot</a:t>
            </a:r>
            <a:r>
              <a:rPr lang="en-US" sz="1300" dirty="0"/>
              <a:t>(t);</a:t>
            </a:r>
          </a:p>
          <a:p>
            <a:endParaRPr lang="en-US" sz="1300" dirty="0"/>
          </a:p>
          <a:p>
            <a:r>
              <a:rPr lang="en-US" sz="1300" dirty="0"/>
              <a:t>        </a:t>
            </a:r>
            <a:r>
              <a:rPr lang="en-US" sz="1300" dirty="0" err="1"/>
              <a:t>cout</a:t>
            </a:r>
            <a:r>
              <a:rPr lang="en-US" sz="1300" dirty="0"/>
              <a:t> &lt;&lt; "Vehicle exited.\n";</a:t>
            </a:r>
          </a:p>
          <a:p>
            <a:r>
              <a:rPr lang="en-US" sz="1300" dirty="0"/>
              <a:t>    }</a:t>
            </a:r>
          </a:p>
          <a:p>
            <a:r>
              <a:rPr lang="en-US" sz="1300" dirty="0"/>
              <a:t>};</a:t>
            </a:r>
          </a:p>
          <a:p>
            <a:endParaRPr lang="en-US" sz="1300" dirty="0"/>
          </a:p>
          <a:p>
            <a:r>
              <a:rPr lang="en-US" sz="1300" dirty="0"/>
              <a:t>class </a:t>
            </a:r>
            <a:r>
              <a:rPr lang="en-US" sz="1300" dirty="0" err="1"/>
              <a:t>ShowSlotsCommand</a:t>
            </a:r>
            <a:r>
              <a:rPr lang="en-US" sz="1300" dirty="0"/>
              <a:t> : public Command {</a:t>
            </a:r>
          </a:p>
          <a:p>
            <a:r>
              <a:rPr lang="en-US" sz="1300" dirty="0"/>
              <a:t>public:</a:t>
            </a:r>
          </a:p>
          <a:p>
            <a:r>
              <a:rPr lang="en-US" sz="1300" dirty="0"/>
              <a:t>    void execute() </a:t>
            </a:r>
            <a:r>
              <a:rPr lang="en-US" sz="1300" dirty="0" smtClean="0"/>
              <a:t>{</a:t>
            </a:r>
            <a:endParaRPr lang="en-US" sz="1300" dirty="0"/>
          </a:p>
        </p:txBody>
      </p:sp>
      <p:sp>
        <p:nvSpPr>
          <p:cNvPr id="7" name="TextBox 6"/>
          <p:cNvSpPr txBox="1"/>
          <p:nvPr/>
        </p:nvSpPr>
        <p:spPr>
          <a:xfrm>
            <a:off x="5982789" y="1580606"/>
            <a:ext cx="5930537" cy="4693593"/>
          </a:xfrm>
          <a:prstGeom prst="rect">
            <a:avLst/>
          </a:prstGeom>
          <a:noFill/>
        </p:spPr>
        <p:txBody>
          <a:bodyPr wrap="square" rtlCol="0">
            <a:spAutoFit/>
          </a:bodyPr>
          <a:lstStyle/>
          <a:p>
            <a:r>
              <a:rPr lang="en-US" sz="1300" dirty="0"/>
              <a:t> ParkingManager::</a:t>
            </a:r>
            <a:r>
              <a:rPr lang="en-US" sz="1300" dirty="0" err="1"/>
              <a:t>getInstance</a:t>
            </a:r>
            <a:r>
              <a:rPr lang="en-US" sz="1300" dirty="0"/>
              <a:t>()-&gt;</a:t>
            </a:r>
            <a:r>
              <a:rPr lang="en-US" sz="1300" dirty="0" err="1"/>
              <a:t>showAvailableSlots</a:t>
            </a:r>
            <a:r>
              <a:rPr lang="en-US" sz="1300" dirty="0"/>
              <a:t>();</a:t>
            </a:r>
          </a:p>
          <a:p>
            <a:r>
              <a:rPr lang="en-US" sz="1300" dirty="0"/>
              <a:t>    }</a:t>
            </a:r>
          </a:p>
          <a:p>
            <a:r>
              <a:rPr lang="en-US" sz="1300" dirty="0" smtClean="0"/>
              <a:t>};</a:t>
            </a:r>
          </a:p>
          <a:p>
            <a:r>
              <a:rPr lang="en-US" sz="1300" dirty="0"/>
              <a:t>// ================= MAIN =================</a:t>
            </a:r>
          </a:p>
          <a:p>
            <a:r>
              <a:rPr lang="en-US" sz="1300" dirty="0" err="1"/>
              <a:t>int</a:t>
            </a:r>
            <a:r>
              <a:rPr lang="en-US" sz="1300" dirty="0"/>
              <a:t> main() {</a:t>
            </a:r>
          </a:p>
          <a:p>
            <a:r>
              <a:rPr lang="en-US" sz="1300" dirty="0"/>
              <a:t>    Command* commands[3];</a:t>
            </a:r>
          </a:p>
          <a:p>
            <a:r>
              <a:rPr lang="en-US" sz="1300" dirty="0"/>
              <a:t>    commands[0] = new </a:t>
            </a:r>
            <a:r>
              <a:rPr lang="en-US" sz="1300" dirty="0" err="1"/>
              <a:t>ParkCommand</a:t>
            </a:r>
            <a:r>
              <a:rPr lang="en-US" sz="1300" dirty="0"/>
              <a:t>();</a:t>
            </a:r>
          </a:p>
          <a:p>
            <a:r>
              <a:rPr lang="en-US" sz="1300" dirty="0"/>
              <a:t>    commands[1] = new </a:t>
            </a:r>
            <a:r>
              <a:rPr lang="en-US" sz="1300" dirty="0" err="1"/>
              <a:t>ExitCommand</a:t>
            </a:r>
            <a:r>
              <a:rPr lang="en-US" sz="1300" dirty="0"/>
              <a:t>();</a:t>
            </a:r>
          </a:p>
          <a:p>
            <a:r>
              <a:rPr lang="en-US" sz="1300" dirty="0"/>
              <a:t>    commands[2] = new </a:t>
            </a:r>
            <a:r>
              <a:rPr lang="en-US" sz="1300" dirty="0" err="1"/>
              <a:t>ShowSlotsCommand</a:t>
            </a:r>
            <a:r>
              <a:rPr lang="en-US" sz="1300" dirty="0"/>
              <a:t>();</a:t>
            </a:r>
          </a:p>
          <a:p>
            <a:endParaRPr lang="en-US" sz="1300" dirty="0"/>
          </a:p>
          <a:p>
            <a:r>
              <a:rPr lang="en-US" sz="1300" dirty="0"/>
              <a:t>    </a:t>
            </a:r>
            <a:r>
              <a:rPr lang="en-US" sz="1300" dirty="0" err="1"/>
              <a:t>int</a:t>
            </a:r>
            <a:r>
              <a:rPr lang="en-US" sz="1300" dirty="0"/>
              <a:t> choice;</a:t>
            </a:r>
          </a:p>
          <a:p>
            <a:endParaRPr lang="en-US" sz="1300" dirty="0"/>
          </a:p>
          <a:p>
            <a:r>
              <a:rPr lang="en-US" sz="1300" dirty="0"/>
              <a:t>    do {</a:t>
            </a:r>
          </a:p>
          <a:p>
            <a:r>
              <a:rPr lang="en-US" sz="1300" dirty="0"/>
              <a:t>        </a:t>
            </a:r>
            <a:r>
              <a:rPr lang="en-US" sz="1300" dirty="0" err="1"/>
              <a:t>cout</a:t>
            </a:r>
            <a:r>
              <a:rPr lang="en-US" sz="1300" dirty="0"/>
              <a:t> &lt;&lt; "\n1. Park\n2. Exit\n3. Show Slots\n0. Quit\</a:t>
            </a:r>
            <a:r>
              <a:rPr lang="en-US" sz="1300" dirty="0" err="1"/>
              <a:t>nChoice</a:t>
            </a:r>
            <a:r>
              <a:rPr lang="en-US" sz="1300" dirty="0"/>
              <a:t>: ";</a:t>
            </a:r>
          </a:p>
          <a:p>
            <a:r>
              <a:rPr lang="en-US" sz="1300" dirty="0"/>
              <a:t>        </a:t>
            </a:r>
            <a:r>
              <a:rPr lang="en-US" sz="1300" dirty="0" err="1"/>
              <a:t>cin</a:t>
            </a:r>
            <a:r>
              <a:rPr lang="en-US" sz="1300" dirty="0"/>
              <a:t> &gt;&gt; choice;</a:t>
            </a:r>
          </a:p>
          <a:p>
            <a:endParaRPr lang="en-US" sz="1300" dirty="0"/>
          </a:p>
          <a:p>
            <a:r>
              <a:rPr lang="en-US" sz="1300" dirty="0"/>
              <a:t>        if (choice &gt;= 1 &amp;&amp; choice &lt;= 3)</a:t>
            </a:r>
          </a:p>
          <a:p>
            <a:r>
              <a:rPr lang="en-US" sz="1300" dirty="0"/>
              <a:t>            commands[choice - 1]-&gt;execute();</a:t>
            </a:r>
          </a:p>
          <a:p>
            <a:endParaRPr lang="en-US" sz="1300" dirty="0"/>
          </a:p>
          <a:p>
            <a:r>
              <a:rPr lang="en-US" sz="1300" dirty="0"/>
              <a:t>    } while (choice != 0);</a:t>
            </a:r>
          </a:p>
          <a:p>
            <a:endParaRPr lang="en-US" sz="1300" dirty="0"/>
          </a:p>
          <a:p>
            <a:r>
              <a:rPr lang="en-US" sz="1300" dirty="0"/>
              <a:t>    return 0;</a:t>
            </a:r>
          </a:p>
          <a:p>
            <a:r>
              <a:rPr lang="en-US" sz="1300" dirty="0"/>
              <a:t>}</a:t>
            </a:r>
          </a:p>
        </p:txBody>
      </p:sp>
      <p:cxnSp>
        <p:nvCxnSpPr>
          <p:cNvPr id="13" name="Straight Connector 12"/>
          <p:cNvCxnSpPr/>
          <p:nvPr/>
        </p:nvCxnSpPr>
        <p:spPr>
          <a:xfrm>
            <a:off x="5810828" y="1580606"/>
            <a:ext cx="0" cy="4596492"/>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263470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Man and woman discuss some document">
            <a:extLst>
              <a:ext uri="{FF2B5EF4-FFF2-40B4-BE49-F238E27FC236}">
                <a16:creationId xmlns:a16="http://schemas.microsoft.com/office/drawing/2014/main" id="{34A80249-1835-46E9-87C9-48F4BEE1EC64}"/>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211" y="0"/>
            <a:ext cx="12187578" cy="6408000"/>
          </a:xfrm>
        </p:spPr>
      </p:pic>
      <p:sp>
        <p:nvSpPr>
          <p:cNvPr id="14" name="Slide Number Placeholder 13">
            <a:extLst>
              <a:ext uri="{FF2B5EF4-FFF2-40B4-BE49-F238E27FC236}">
                <a16:creationId xmlns:a16="http://schemas.microsoft.com/office/drawing/2014/main" id="{D59E194F-ECD6-4685-8562-5B7AB400EC93}"/>
              </a:ext>
            </a:extLst>
          </p:cNvPr>
          <p:cNvSpPr>
            <a:spLocks noGrp="1"/>
          </p:cNvSpPr>
          <p:nvPr>
            <p:ph type="sldNum" sz="quarter" idx="12"/>
          </p:nvPr>
        </p:nvSpPr>
        <p:spPr/>
        <p:txBody>
          <a:bodyPr/>
          <a:lstStyle/>
          <a:p>
            <a:fld id="{3A98EE3D-8CD1-4C3F-BD1C-C98C9596463C}" type="slidenum">
              <a:rPr lang="en-US" smtClean="0"/>
              <a:pPr/>
              <a:t>23</a:t>
            </a:fld>
            <a:endParaRPr lang="en-US" dirty="0"/>
          </a:p>
        </p:txBody>
      </p:sp>
      <p:sp>
        <p:nvSpPr>
          <p:cNvPr id="2" name="Title 1">
            <a:extLst>
              <a:ext uri="{FF2B5EF4-FFF2-40B4-BE49-F238E27FC236}">
                <a16:creationId xmlns:a16="http://schemas.microsoft.com/office/drawing/2014/main" id="{EC6C92D3-8AE6-4260-8F63-97ED33A064D5}"/>
              </a:ext>
            </a:extLst>
          </p:cNvPr>
          <p:cNvSpPr>
            <a:spLocks noGrp="1"/>
          </p:cNvSpPr>
          <p:nvPr>
            <p:ph type="title"/>
          </p:nvPr>
        </p:nvSpPr>
        <p:spPr/>
        <p:txBody>
          <a:bodyPr/>
          <a:lstStyle/>
          <a:p>
            <a:r>
              <a:rPr lang="en-US" dirty="0" smtClean="0"/>
              <a:t>C++ Implementation:</a:t>
            </a:r>
            <a:endParaRPr lang="en-US" dirty="0"/>
          </a:p>
        </p:txBody>
      </p:sp>
      <p:sp>
        <p:nvSpPr>
          <p:cNvPr id="8" name="Rectangle 4"/>
          <p:cNvSpPr>
            <a:spLocks noChangeArrowheads="1"/>
          </p:cNvSpPr>
          <p:nvPr/>
        </p:nvSpPr>
        <p:spPr bwMode="auto">
          <a:xfrm>
            <a:off x="0" y="-54124"/>
            <a:ext cx="65" cy="565449"/>
          </a:xfrm>
          <a:prstGeom prst="rect">
            <a:avLst/>
          </a:prstGeom>
          <a:solidFill>
            <a:srgbClr val="F0F2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9"/>
          <p:cNvSpPr>
            <a:spLocks noChangeArrowheads="1"/>
          </p:cNvSpPr>
          <p:nvPr/>
        </p:nvSpPr>
        <p:spPr bwMode="auto">
          <a:xfrm>
            <a:off x="0" y="-541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TextBox 4"/>
          <p:cNvSpPr txBox="1"/>
          <p:nvPr/>
        </p:nvSpPr>
        <p:spPr>
          <a:xfrm>
            <a:off x="169817" y="1476103"/>
            <a:ext cx="4937760" cy="5078313"/>
          </a:xfrm>
          <a:prstGeom prst="rect">
            <a:avLst/>
          </a:prstGeom>
          <a:noFill/>
        </p:spPr>
        <p:txBody>
          <a:bodyPr wrap="square" rtlCol="0">
            <a:spAutoFit/>
          </a:bodyPr>
          <a:lstStyle/>
          <a:p>
            <a:r>
              <a:rPr lang="en-US" dirty="0"/>
              <a:t>/*</a:t>
            </a:r>
          </a:p>
          <a:p>
            <a:r>
              <a:rPr lang="en-US" dirty="0"/>
              <a:t>SAMPLE OUTPUT:</a:t>
            </a:r>
          </a:p>
          <a:p>
            <a:r>
              <a:rPr lang="en-US" dirty="0"/>
              <a:t>1. Park</a:t>
            </a:r>
          </a:p>
          <a:p>
            <a:r>
              <a:rPr lang="en-US" dirty="0"/>
              <a:t>2. Exit</a:t>
            </a:r>
          </a:p>
          <a:p>
            <a:r>
              <a:rPr lang="en-US" dirty="0"/>
              <a:t>3. Show Slots</a:t>
            </a:r>
          </a:p>
          <a:p>
            <a:r>
              <a:rPr lang="en-US" dirty="0"/>
              <a:t>0. Quit</a:t>
            </a:r>
          </a:p>
          <a:p>
            <a:r>
              <a:rPr lang="en-US" dirty="0"/>
              <a:t>Choice: 1</a:t>
            </a:r>
          </a:p>
          <a:p>
            <a:r>
              <a:rPr lang="en-US" dirty="0"/>
              <a:t>Enter vehicle type: car</a:t>
            </a:r>
          </a:p>
          <a:p>
            <a:r>
              <a:rPr lang="en-US" dirty="0"/>
              <a:t>Car entered the parking.</a:t>
            </a:r>
          </a:p>
          <a:p>
            <a:r>
              <a:rPr lang="en-US" dirty="0"/>
              <a:t>car parked at slot: 1</a:t>
            </a:r>
          </a:p>
          <a:p>
            <a:r>
              <a:rPr lang="en-US" dirty="0"/>
              <a:t>Ticket ID: 1, Slot: 1</a:t>
            </a:r>
          </a:p>
          <a:p>
            <a:endParaRPr lang="en-US" dirty="0"/>
          </a:p>
          <a:p>
            <a:r>
              <a:rPr lang="en-US" dirty="0"/>
              <a:t>1. Park</a:t>
            </a:r>
          </a:p>
          <a:p>
            <a:r>
              <a:rPr lang="en-US" dirty="0"/>
              <a:t>2. Exit</a:t>
            </a:r>
          </a:p>
          <a:p>
            <a:r>
              <a:rPr lang="en-US" dirty="0"/>
              <a:t>3. Show Slots</a:t>
            </a:r>
          </a:p>
          <a:p>
            <a:r>
              <a:rPr lang="en-US" dirty="0"/>
              <a:t>0. Quit</a:t>
            </a:r>
          </a:p>
          <a:p>
            <a:r>
              <a:rPr lang="en-US" dirty="0"/>
              <a:t>Choice: 1</a:t>
            </a:r>
          </a:p>
          <a:p>
            <a:endParaRPr lang="en-US" dirty="0"/>
          </a:p>
        </p:txBody>
      </p:sp>
      <p:sp>
        <p:nvSpPr>
          <p:cNvPr id="6" name="TextBox 5"/>
          <p:cNvSpPr txBox="1"/>
          <p:nvPr/>
        </p:nvSpPr>
        <p:spPr>
          <a:xfrm>
            <a:off x="3069771" y="1476103"/>
            <a:ext cx="3435532" cy="4801314"/>
          </a:xfrm>
          <a:prstGeom prst="rect">
            <a:avLst/>
          </a:prstGeom>
          <a:noFill/>
        </p:spPr>
        <p:txBody>
          <a:bodyPr wrap="square" rtlCol="0">
            <a:spAutoFit/>
          </a:bodyPr>
          <a:lstStyle/>
          <a:p>
            <a:r>
              <a:rPr lang="en-US" dirty="0"/>
              <a:t>Enter vehicle type: bike</a:t>
            </a:r>
          </a:p>
          <a:p>
            <a:r>
              <a:rPr lang="en-US" dirty="0"/>
              <a:t>Bike entered the parking.</a:t>
            </a:r>
          </a:p>
          <a:p>
            <a:r>
              <a:rPr lang="en-US" dirty="0"/>
              <a:t>bike parked at slot: 1</a:t>
            </a:r>
          </a:p>
          <a:p>
            <a:r>
              <a:rPr lang="en-US" dirty="0"/>
              <a:t>Ticket ID: 2, Slot: 1</a:t>
            </a:r>
          </a:p>
          <a:p>
            <a:endParaRPr lang="en-US" dirty="0"/>
          </a:p>
          <a:p>
            <a:r>
              <a:rPr lang="en-US" dirty="0"/>
              <a:t>1. Park</a:t>
            </a:r>
          </a:p>
          <a:p>
            <a:r>
              <a:rPr lang="en-US" dirty="0"/>
              <a:t>2. Exit</a:t>
            </a:r>
          </a:p>
          <a:p>
            <a:r>
              <a:rPr lang="en-US" dirty="0"/>
              <a:t>3. Show Slots</a:t>
            </a:r>
          </a:p>
          <a:p>
            <a:r>
              <a:rPr lang="en-US" dirty="0"/>
              <a:t>0. Quit</a:t>
            </a:r>
          </a:p>
          <a:p>
            <a:r>
              <a:rPr lang="en-US" dirty="0"/>
              <a:t>Choice: 3</a:t>
            </a:r>
          </a:p>
          <a:p>
            <a:r>
              <a:rPr lang="en-US" dirty="0"/>
              <a:t>Bike Slots: 2 3 4 5 </a:t>
            </a:r>
          </a:p>
          <a:p>
            <a:r>
              <a:rPr lang="en-US" dirty="0"/>
              <a:t>Car Slots: 2 3 4 5 </a:t>
            </a:r>
          </a:p>
          <a:p>
            <a:endParaRPr lang="en-US" dirty="0"/>
          </a:p>
          <a:p>
            <a:r>
              <a:rPr lang="en-US" dirty="0"/>
              <a:t>1. Park</a:t>
            </a:r>
          </a:p>
          <a:p>
            <a:r>
              <a:rPr lang="en-US" dirty="0"/>
              <a:t>2. Exit</a:t>
            </a:r>
          </a:p>
          <a:p>
            <a:r>
              <a:rPr lang="en-US" dirty="0"/>
              <a:t>3. Show Slots</a:t>
            </a:r>
          </a:p>
          <a:p>
            <a:r>
              <a:rPr lang="en-US" dirty="0"/>
              <a:t>0. </a:t>
            </a:r>
            <a:r>
              <a:rPr lang="en-US" dirty="0" smtClean="0"/>
              <a:t>Quit</a:t>
            </a:r>
            <a:endParaRPr lang="en-US" dirty="0"/>
          </a:p>
        </p:txBody>
      </p:sp>
      <p:sp>
        <p:nvSpPr>
          <p:cNvPr id="9" name="TextBox 8"/>
          <p:cNvSpPr txBox="1"/>
          <p:nvPr/>
        </p:nvSpPr>
        <p:spPr>
          <a:xfrm>
            <a:off x="6505303" y="1476103"/>
            <a:ext cx="3187337" cy="5016758"/>
          </a:xfrm>
          <a:prstGeom prst="rect">
            <a:avLst/>
          </a:prstGeom>
          <a:noFill/>
        </p:spPr>
        <p:txBody>
          <a:bodyPr wrap="square" rtlCol="0">
            <a:spAutoFit/>
          </a:bodyPr>
          <a:lstStyle/>
          <a:p>
            <a:r>
              <a:rPr lang="en-US" sz="1600" dirty="0"/>
              <a:t>Choice: 2</a:t>
            </a:r>
          </a:p>
          <a:p>
            <a:r>
              <a:rPr lang="en-US" sz="1600" dirty="0"/>
              <a:t>Enter Ticket ID: 1</a:t>
            </a:r>
          </a:p>
          <a:p>
            <a:r>
              <a:rPr lang="en-US" sz="1600" dirty="0"/>
              <a:t>Enter hours: 3</a:t>
            </a:r>
          </a:p>
          <a:p>
            <a:r>
              <a:rPr lang="en-US" sz="1600" dirty="0"/>
              <a:t>Parking Fee: </a:t>
            </a:r>
            <a:r>
              <a:rPr lang="en-US" sz="1600" dirty="0" err="1"/>
              <a:t>Rs</a:t>
            </a:r>
            <a:r>
              <a:rPr lang="en-US" sz="1600" dirty="0"/>
              <a:t> 60/-</a:t>
            </a:r>
          </a:p>
          <a:p>
            <a:r>
              <a:rPr lang="en-US" sz="1600" dirty="0"/>
              <a:t>Vehicle exited.</a:t>
            </a:r>
          </a:p>
          <a:p>
            <a:endParaRPr lang="en-US" sz="1600" dirty="0"/>
          </a:p>
          <a:p>
            <a:r>
              <a:rPr lang="en-US" sz="1600" dirty="0"/>
              <a:t>1. Park</a:t>
            </a:r>
          </a:p>
          <a:p>
            <a:r>
              <a:rPr lang="en-US" sz="1600" dirty="0"/>
              <a:t>2. Exit</a:t>
            </a:r>
          </a:p>
          <a:p>
            <a:r>
              <a:rPr lang="en-US" sz="1600" dirty="0"/>
              <a:t>3. Show Slots</a:t>
            </a:r>
          </a:p>
          <a:p>
            <a:r>
              <a:rPr lang="en-US" sz="1600" dirty="0"/>
              <a:t>0. Quit</a:t>
            </a:r>
          </a:p>
          <a:p>
            <a:r>
              <a:rPr lang="en-US" sz="1600" dirty="0"/>
              <a:t>Choice: 3</a:t>
            </a:r>
          </a:p>
          <a:p>
            <a:r>
              <a:rPr lang="en-US" sz="1600" dirty="0"/>
              <a:t>Bike Slots: 2 3 4 5 </a:t>
            </a:r>
          </a:p>
          <a:p>
            <a:r>
              <a:rPr lang="en-US" sz="1600" dirty="0"/>
              <a:t>Car Slots: 1 2 3 4 5 </a:t>
            </a:r>
          </a:p>
          <a:p>
            <a:endParaRPr lang="en-US" sz="1600" dirty="0"/>
          </a:p>
          <a:p>
            <a:r>
              <a:rPr lang="en-US" sz="1600" dirty="0"/>
              <a:t>1. Park</a:t>
            </a:r>
          </a:p>
          <a:p>
            <a:r>
              <a:rPr lang="en-US" sz="1600" dirty="0"/>
              <a:t>2. Exit</a:t>
            </a:r>
          </a:p>
          <a:p>
            <a:r>
              <a:rPr lang="en-US" sz="1600" dirty="0"/>
              <a:t>3. Show Slots</a:t>
            </a:r>
          </a:p>
          <a:p>
            <a:r>
              <a:rPr lang="en-US" sz="1600" dirty="0"/>
              <a:t>0. Quit</a:t>
            </a:r>
          </a:p>
          <a:p>
            <a:r>
              <a:rPr lang="en-US" sz="1600" dirty="0"/>
              <a:t>Choice: 0</a:t>
            </a:r>
          </a:p>
          <a:p>
            <a:r>
              <a:rPr lang="en-US" sz="1600" dirty="0"/>
              <a:t>*/</a:t>
            </a:r>
          </a:p>
        </p:txBody>
      </p:sp>
    </p:spTree>
    <p:extLst>
      <p:ext uri="{BB962C8B-B14F-4D97-AF65-F5344CB8AC3E}">
        <p14:creationId xmlns:p14="http://schemas.microsoft.com/office/powerpoint/2010/main" val="22440670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28FE7D-043F-42AF-B4AB-DB9AFF936B28}"/>
              </a:ext>
            </a:extLst>
          </p:cNvPr>
          <p:cNvSpPr>
            <a:spLocks noGrp="1"/>
          </p:cNvSpPr>
          <p:nvPr>
            <p:ph type="title"/>
          </p:nvPr>
        </p:nvSpPr>
        <p:spPr>
          <a:xfrm>
            <a:off x="1097279" y="4892956"/>
            <a:ext cx="10113645" cy="743682"/>
          </a:xfrm>
        </p:spPr>
        <p:txBody>
          <a:bodyPr/>
          <a:lstStyle/>
          <a:p>
            <a:r>
              <a:rPr lang="en-US" dirty="0"/>
              <a:t>Thank You!</a:t>
            </a:r>
          </a:p>
        </p:txBody>
      </p:sp>
      <p:sp>
        <p:nvSpPr>
          <p:cNvPr id="4" name="Text Placeholder 3">
            <a:extLst>
              <a:ext uri="{FF2B5EF4-FFF2-40B4-BE49-F238E27FC236}">
                <a16:creationId xmlns:a16="http://schemas.microsoft.com/office/drawing/2014/main" id="{FD26EF91-820B-4DA2-B398-3E168AFF17A9}"/>
              </a:ext>
            </a:extLst>
          </p:cNvPr>
          <p:cNvSpPr>
            <a:spLocks noGrp="1"/>
          </p:cNvSpPr>
          <p:nvPr>
            <p:ph type="body" sz="half" idx="2"/>
          </p:nvPr>
        </p:nvSpPr>
        <p:spPr>
          <a:xfrm>
            <a:off x="1097279" y="5808594"/>
            <a:ext cx="10113264" cy="609600"/>
          </a:xfrm>
        </p:spPr>
        <p:txBody>
          <a:bodyPr>
            <a:normAutofit/>
          </a:bodyPr>
          <a:lstStyle/>
          <a:p>
            <a:endParaRPr lang="en-US" dirty="0">
              <a:solidFill>
                <a:schemeClr val="accent1">
                  <a:lumMod val="40000"/>
                  <a:lumOff val="60000"/>
                </a:schemeClr>
              </a:solidFill>
            </a:endParaRPr>
          </a:p>
        </p:txBody>
      </p:sp>
      <p:pic>
        <p:nvPicPr>
          <p:cNvPr id="14" name="Picture Placeholder 13" descr="Students group&#10;">
            <a:extLst>
              <a:ext uri="{FF2B5EF4-FFF2-40B4-BE49-F238E27FC236}">
                <a16:creationId xmlns:a16="http://schemas.microsoft.com/office/drawing/2014/main" id="{E923BD5B-22B6-4E92-B95F-5F7B6467380E}"/>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a:stretch/>
        </p:blipFill>
        <p:spPr>
          <a:xfrm>
            <a:off x="4232" y="0"/>
            <a:ext cx="12183550" cy="4578350"/>
          </a:xfr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0"/>
            <a:ext cx="12190459" cy="4915075"/>
          </a:xfrm>
          <a:prstGeom prst="rect">
            <a:avLst/>
          </a:prstGeom>
        </p:spPr>
      </p:pic>
    </p:spTree>
    <p:extLst>
      <p:ext uri="{BB962C8B-B14F-4D97-AF65-F5344CB8AC3E}">
        <p14:creationId xmlns:p14="http://schemas.microsoft.com/office/powerpoint/2010/main" val="1409899035"/>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VTI">
  <a:themeElements>
    <a:clrScheme name="Custom 62">
      <a:dk1>
        <a:srgbClr val="000000"/>
      </a:dk1>
      <a:lt1>
        <a:srgbClr val="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lassic-Corporate_Teach a Course_02_Win32_MO - v3" id="{9EE2A5A3-E40E-40AC-9760-FB610F2897F3}" vid="{7FC277D3-686C-411B-BE49-3E65515A7D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18F16D9-EB65-4F11-9CD9-58377B437CF8}">
  <ds:schemaRefs>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71af3243-3dd4-4a8d-8c0d-dd76da1f02a5"/>
    <ds:schemaRef ds:uri="http://www.w3.org/XML/1998/namespace"/>
  </ds:schemaRefs>
</ds:datastoreItem>
</file>

<file path=customXml/itemProps2.xml><?xml version="1.0" encoding="utf-8"?>
<ds:datastoreItem xmlns:ds="http://schemas.openxmlformats.org/officeDocument/2006/customXml" ds:itemID="{9C65060F-1094-41F3-95E3-03DA10677CAD}">
  <ds:schemaRefs>
    <ds:schemaRef ds:uri="http://schemas.microsoft.com/sharepoint/v3/contenttype/forms"/>
  </ds:schemaRefs>
</ds:datastoreItem>
</file>

<file path=customXml/itemProps3.xml><?xml version="1.0" encoding="utf-8"?>
<ds:datastoreItem xmlns:ds="http://schemas.openxmlformats.org/officeDocument/2006/customXml" ds:itemID="{1A09386F-CDB5-4CE9-AE70-AE4E53A633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Classic corporate teach a course slides</Template>
  <TotalTime>0</TotalTime>
  <Words>3359</Words>
  <Application>Microsoft Office PowerPoint</Application>
  <PresentationFormat>Widescreen</PresentationFormat>
  <Paragraphs>586</Paragraphs>
  <Slides>24</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Wingdings</vt:lpstr>
      <vt:lpstr>RetrospectVTI</vt:lpstr>
      <vt:lpstr>PARKING MANAGEMENT SYSTEM</vt:lpstr>
      <vt:lpstr>TASK 1 :</vt:lpstr>
      <vt:lpstr>INTRODUCTION</vt:lpstr>
      <vt:lpstr>INTRODUNCTION OF DESIGN PATTERNS:</vt:lpstr>
      <vt:lpstr>TASK 2 :</vt:lpstr>
      <vt:lpstr>UML DIAGRAM:</vt:lpstr>
      <vt:lpstr>TASK 2 :</vt:lpstr>
      <vt:lpstr>FACTORY DESIGN PATTERN:</vt:lpstr>
      <vt:lpstr>C++ IMPLEMENTATION:</vt:lpstr>
      <vt:lpstr>STATE DESIGN PATTERN:</vt:lpstr>
      <vt:lpstr>C++ IMPLEMENTATION:</vt:lpstr>
      <vt:lpstr>SINGLETON DESIGN PATTERN:</vt:lpstr>
      <vt:lpstr>C++ IMPLEMENTATION:</vt:lpstr>
      <vt:lpstr>COMMAND DESIGN PATTERN:</vt:lpstr>
      <vt:lpstr>C++ IMPLEMENTATION:</vt:lpstr>
      <vt:lpstr>TASK 3 :</vt:lpstr>
      <vt:lpstr>C++ Implementation:</vt:lpstr>
      <vt:lpstr>C++ Implementation:</vt:lpstr>
      <vt:lpstr>C++ Implementation:</vt:lpstr>
      <vt:lpstr>C++ Implementation:</vt:lpstr>
      <vt:lpstr>C++ Implementation:</vt:lpstr>
      <vt:lpstr>C++ Implementation:</vt:lpstr>
      <vt:lpstr>C++ Implementation: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2026-04-23T13:01:40Z</dcterms:created>
  <dcterms:modified xsi:type="dcterms:W3CDTF">2026-04-30T06:00:42Z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